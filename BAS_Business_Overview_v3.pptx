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2" r:id="rId23"/>
    <p:sldId id="257" r:id="rId3"/>
    <p:sldId id="258" r:id="rId4"/>
    <p:sldId id="259" r:id="rId5"/>
    <p:sldId id="260" r:id="rId6"/>
    <p:sldId id="261" r:id="rId7"/>
    <p:sldId id="276" r:id="rId26"/>
    <p:sldId id="277" r:id="rId27"/>
    <p:sldId id="262" r:id="rId8"/>
    <p:sldId id="263" r:id="rId9"/>
    <p:sldId id="264" r:id="rId10"/>
    <p:sldId id="265" r:id="rId11"/>
    <p:sldId id="266" r:id="rId12"/>
    <p:sldId id="267" r:id="rId13"/>
    <p:sldId id="274" r:id="rId25"/>
    <p:sldId id="273" r:id="rId24"/>
    <p:sldId id="268" r:id="rId14"/>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_rels/slide13.xml.rels><?xml version="1.0" encoding="UTF-8"?><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6.xml.rels><?xml version="1.0" encoding="UTF-8"?><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20.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s>
</file>

<file path=ppt/slides/_rels/slide21.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43F"/>
        </a:solidFill>
      </p:bgPr>
    </p:bg>
    <p:spTree>
      <p:nvGrpSpPr>
        <p:cNvPr id="1" name=""/>
        <p:cNvGrpSpPr/>
        <p:nvPr/>
      </p:nvGrpSpPr>
      <p:grpSpPr>
        <a:xfrm>
          <a:off x="0" y="0"/>
          <a:ext cx="0" cy="0"/>
          <a:chOff x="0" y="0"/>
          <a:chExt cx="0" cy="0"/>
        </a:xfrm>
      </p:grpSpPr>
      <p:sp>
        <p:nvSpPr>
          <p:cNvPr id="2" name="Shape 0"/>
          <p:cNvSpPr/>
          <p:nvPr/>
        </p:nvSpPr>
        <p:spPr>
          <a:xfrm>
            <a:off x="8961120" y="-2011680"/>
            <a:ext cx="6400800" cy="6400800"/>
          </a:xfrm>
          <a:prstGeom prst="ellipse">
            <a:avLst/>
          </a:prstGeom>
          <a:solidFill>
            <a:srgbClr val="1B3358"/>
          </a:solidFill>
          <a:ln/>
        </p:spPr>
      </p:sp>
      <p:sp>
        <p:nvSpPr>
          <p:cNvPr id="3" name="Shape 1"/>
          <p:cNvSpPr/>
          <p:nvPr/>
        </p:nvSpPr>
        <p:spPr>
          <a:xfrm>
            <a:off x="10241280" y="-914400"/>
            <a:ext cx="3840480" cy="3840480"/>
          </a:xfrm>
          <a:prstGeom prst="ellipse">
            <a:avLst/>
          </a:prstGeom>
          <a:solidFill>
            <a:srgbClr val="E8A33D"/>
          </a:solidFill>
          <a:ln/>
        </p:spPr>
      </p:sp>
      <p:pic>
        <p:nvPicPr>
          <p:cNvPr id="4" name="Image 0" descr="preencoded.png"/>
          <p:cNvPicPr>
            <a:picLocks noChangeAspect="1"/>
          </p:cNvPicPr>
          <p:nvPr/>
        </p:nvPicPr>
        <p:blipFill>
          <a:blip r:embed="rId1"/>
          <a:stretch>
            <a:fillRect/>
          </a:stretch>
        </p:blipFill>
        <p:spPr>
          <a:xfrm>
            <a:off x="822960" y="777240"/>
            <a:ext cx="658368" cy="658368"/>
          </a:xfrm>
          <a:prstGeom prst="rect">
            <a:avLst/>
          </a:prstGeom>
        </p:spPr>
      </p:pic>
      <p:sp>
        <p:nvSpPr>
          <p:cNvPr id="5" name="Text 2"/>
          <p:cNvSpPr/>
          <p:nvPr/>
        </p:nvSpPr>
        <p:spPr>
          <a:xfrm>
            <a:off x="822960" y="2331720"/>
            <a:ext cx="8229600" cy="365760"/>
          </a:xfrm>
          <a:prstGeom prst="rect">
            <a:avLst/>
          </a:prstGeom>
          <a:noFill/>
          <a:ln/>
        </p:spPr>
        <p:txBody>
          <a:bodyPr wrap="square" rtlCol="0" anchor="ctr"/>
          <a:lstStyle/>
          <a:p>
            <a:pPr indent="0" marL="0">
              <a:buNone/>
            </a:pPr>
            <a:r>
              <a:rPr lang="en-US" sz="1500" b="1" spc="200" kern="0" dirty="0">
                <a:solidFill>
                  <a:srgbClr val="E8A33D"/>
                </a:solidFill>
                <a:latin typeface="Arial" pitchFamily="34" charset="0"/>
                <a:ea typeface="Arial" pitchFamily="34" charset="-122"/>
                <a:cs typeface="Arial" pitchFamily="34" charset="-120"/>
              </a:rPr>
              <a:t>A NEW SERVICE BUSINESS IN</a:t>
            </a:r>
            <a:endParaRPr lang="en-US" sz="1500" dirty="0"/>
          </a:p>
        </p:txBody>
      </p:sp>
      <p:sp>
        <p:nvSpPr>
          <p:cNvPr id="6" name="Text 3"/>
          <p:cNvSpPr/>
          <p:nvPr/>
        </p:nvSpPr>
        <p:spPr>
          <a:xfrm>
            <a:off x="777240" y="2697480"/>
            <a:ext cx="9601200" cy="118872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Building Energy Optimization</a:t>
            </a:r>
            <a:endParaRPr lang="en-US" sz="4400" dirty="0"/>
          </a:p>
        </p:txBody>
      </p:sp>
      <p:sp>
        <p:nvSpPr>
          <p:cNvPr id="7" name="Text 4"/>
          <p:cNvSpPr/>
          <p:nvPr/>
        </p:nvSpPr>
        <p:spPr>
          <a:xfrm>
            <a:off x="822960" y="3886200"/>
            <a:ext cx="8503920" cy="822960"/>
          </a:xfrm>
          <a:prstGeom prst="rect">
            <a:avLst/>
          </a:prstGeom>
          <a:noFill/>
          <a:ln/>
        </p:spPr>
        <p:txBody>
          <a:bodyPr wrap="square" rtlCol="0" anchor="ctr"/>
          <a:lstStyle/>
          <a:p>
            <a:pPr indent="0" marL="0">
              <a:buNone/>
            </a:pPr>
            <a:r>
              <a:rPr lang="en-US" sz="1600" i="1" dirty="0">
                <a:solidFill>
                  <a:srgbClr val="C9D2E0"/>
                </a:solidFill>
                <a:latin typeface="Arial" pitchFamily="34" charset="0"/>
                <a:ea typeface="Arial" pitchFamily="34" charset="-122"/>
                <a:cs typeface="Arial" pitchFamily="34" charset="-120"/>
              </a:rPr>
              <a:t>How a small, technical consulting business helps commercial property owners cut energy costs - and why now is the right time to start</a:t>
            </a:r>
            <a:endParaRPr lang="en-US" sz="1600" dirty="0"/>
          </a:p>
        </p:txBody>
      </p:sp>
      <p:sp>
        <p:nvSpPr>
          <p:cNvPr id="8" name="Text 5"/>
          <p:cNvSpPr/>
          <p:nvPr/>
        </p:nvSpPr>
        <p:spPr>
          <a:xfrm>
            <a:off x="822960" y="5989320"/>
            <a:ext cx="5486400" cy="365760"/>
          </a:xfrm>
          <a:prstGeom prst="rect">
            <a:avLst/>
          </a:prstGeom>
          <a:noFill/>
          <a:ln/>
        </p:spPr>
        <p:txBody>
          <a:bodyPr wrap="square" rtlCol="0" anchor="ctr"/>
          <a:lstStyle/>
          <a:p>
            <a:pPr indent="0" marL="0">
              <a:buNone/>
            </a:pPr>
            <a:r>
              <a:rPr lang="en-US" sz="1300" dirty="0">
                <a:solidFill>
                  <a:srgbClr val="8B9AB5"/>
                </a:solidFill>
                <a:latin typeface="Arial" pitchFamily="34" charset="0"/>
                <a:ea typeface="Arial" pitchFamily="34" charset="-122"/>
                <a:cs typeface="Arial" pitchFamily="34" charset="-120"/>
              </a:rPr>
              <a:t xml:space="preserve">Prepared by </a:t>
            </a:r>
            <a:pPr indent="0" marL="0">
              <a:buNone/>
            </a:pPr>
            <a:r>
              <a:rPr lang="en-US" sz="1300" b="1" dirty="0">
                <a:solidFill>
                  <a:srgbClr val="FFFFFF"/>
                </a:solidFill>
                <a:latin typeface="Arial" pitchFamily="34" charset="0"/>
                <a:ea typeface="Arial" pitchFamily="34" charset="-122"/>
                <a:cs typeface="Arial" pitchFamily="34" charset="-120"/>
              </a:rPr>
              <a:t>Matthew Allen Reed</a:t>
            </a:r>
            <a:endParaRPr lang="en-US" sz="1300" dirty="0"/>
          </a:p>
        </p:txBody>
      </p:sp>
      <p:sp>
        <p:nvSpPr>
          <p:cNvPr id="9" name="Text 6"/>
          <p:cNvSpPr/>
          <p:nvPr/>
        </p:nvSpPr>
        <p:spPr>
          <a:xfrm>
            <a:off x="822960" y="6263640"/>
            <a:ext cx="5486400" cy="320040"/>
          </a:xfrm>
          <a:prstGeom prst="rect">
            <a:avLst/>
          </a:prstGeom>
          <a:noFill/>
          <a:ln/>
        </p:spPr>
        <p:txBody>
          <a:bodyPr wrap="square" rtlCol="0" anchor="ctr"/>
          <a:lstStyle/>
          <a:p>
            <a:pPr indent="0" marL="0">
              <a:buNone/>
            </a:pPr>
            <a:r>
              <a:rPr lang="en-US" sz="1200" dirty="0">
                <a:solidFill>
                  <a:srgbClr val="8B9AB5"/>
                </a:solidFill>
                <a:latin typeface="Arial" pitchFamily="34" charset="0"/>
                <a:ea typeface="Arial" pitchFamily="34" charset="-122"/>
                <a:cs typeface="Arial" pitchFamily="34" charset="-120"/>
              </a:rPr>
              <a:t>June 2026</a:t>
            </a:r>
            <a:endParaRPr lang="en-US" sz="1200" dirty="0"/>
          </a:p>
        </p:txBody>
      </p:sp>
      <p:sp>
        <p:nvSpPr>
          <p:cNvPr id="10" name="Text 7"/>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A6B85"/>
                </a:solidFill>
                <a:latin typeface="Arial" pitchFamily="34" charset="0"/>
                <a:ea typeface="Arial" pitchFamily="34" charset="-122"/>
                <a:cs typeface="Arial"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rtlCol="0" anchor="ctr"/>
          <a:lstStyle/>
          <a:p>
            <a:pPr indent="0" marL="0">
              <a:buNone/>
            </a:pPr>
            <a:r>
              <a:rPr lang="en-US" sz="1300" b="1" spc="200" kern="0" dirty="0">
                <a:solidFill>
                  <a:srgbClr val="C77F1D"/>
                </a:solidFill>
                <a:latin typeface="Arial" pitchFamily="34" charset="0"/>
                <a:ea typeface="Arial" pitchFamily="34" charset="-122"/>
                <a:cs typeface="Arial" pitchFamily="34" charset="-120"/>
              </a:rPr>
              <a:t>THE IDEA IN ONE SENTENCE</a:t>
            </a:r>
            <a:endParaRPr lang="en-US" sz="1300" dirty="0"/>
          </a:p>
        </p:txBody>
      </p:sp>
      <p:sp>
        <p:nvSpPr>
          <p:cNvPr id="3" name="Text 1"/>
          <p:cNvSpPr/>
          <p:nvPr/>
        </p:nvSpPr>
        <p:spPr>
          <a:xfrm>
            <a:off x="640080" y="841248"/>
            <a:ext cx="10881360" cy="1371600"/>
          </a:xfrm>
          <a:prstGeom prst="rect">
            <a:avLst/>
          </a:prstGeom>
          <a:noFill/>
          <a:ln/>
        </p:spPr>
        <p:txBody>
          <a:bodyPr wrap="square" rtlCol="0" anchor="ctr"/>
          <a:lstStyle/>
          <a:p>
            <a:pPr indent="0" marL="0">
              <a:buNone/>
            </a:pPr>
            <a:r>
              <a:rPr lang="en-US" sz="2800" b="1" dirty="0">
                <a:solidFill>
                  <a:srgbClr val="12243F"/>
                </a:solidFill>
                <a:latin typeface="Cambria" pitchFamily="34" charset="0"/>
                <a:ea typeface="Cambria" pitchFamily="34" charset="-122"/>
                <a:cs typeface="Cambria" pitchFamily="34" charset="-120"/>
              </a:rPr>
              <a:t>Most small commercial buildings waste 30% of the energy</a:t>
            </a:r>
            <a:endParaRPr lang="en-US" sz="2800" dirty="0"/>
          </a:p>
          <a:p>
            <a:pPr indent="0" marL="0">
              <a:buNone/>
            </a:pPr>
            <a:r>
              <a:rPr lang="en-US" sz="2800" b="1" dirty="0">
                <a:solidFill>
                  <a:srgbClr val="12243F"/>
                </a:solidFill>
                <a:latin typeface="Cambria" pitchFamily="34" charset="0"/>
                <a:ea typeface="Cambria" pitchFamily="34" charset="-122"/>
                <a:cs typeface="Cambria" pitchFamily="34" charset="-120"/>
              </a:rPr>
              <a:t>they pay for - I fix that, and split the savings.</a:t>
            </a:r>
            <a:endParaRPr lang="en-US" sz="2800" dirty="0"/>
          </a:p>
        </p:txBody>
      </p:sp>
      <p:sp>
        <p:nvSpPr>
          <p:cNvPr id="4" name="Shape 2"/>
          <p:cNvSpPr/>
          <p:nvPr/>
        </p:nvSpPr>
        <p:spPr>
          <a:xfrm>
            <a:off x="640080" y="2514600"/>
            <a:ext cx="3383280" cy="2743200"/>
          </a:xfrm>
          <a:prstGeom prst="roundRect">
            <a:avLst>
              <a:gd name="adj" fmla="val 4000"/>
            </a:avLst>
          </a:prstGeom>
          <a:solidFill>
            <a:srgbClr val="FFFFFF"/>
          </a:solidFill>
          <a:ln/>
          <a:effectLst>
            <a:outerShdw sx="100000" sy="100000" kx="0" ky="0" algn="bl" rotWithShape="0" blurRad="101600" dist="38100" dir="5400000">
              <a:srgbClr val="000000">
                <a:alpha val="10000"/>
              </a:srgbClr>
            </a:outerShdw>
          </a:effectLst>
        </p:spPr>
      </p:sp>
      <p:pic>
        <p:nvPicPr>
          <p:cNvPr id="5" name="Image 0" descr="preencoded.png"/>
          <p:cNvPicPr>
            <a:picLocks noChangeAspect="1"/>
          </p:cNvPicPr>
          <p:nvPr/>
        </p:nvPicPr>
        <p:blipFill>
          <a:blip r:embed="rId1"/>
          <a:stretch>
            <a:fillRect/>
          </a:stretch>
        </p:blipFill>
        <p:spPr>
          <a:xfrm>
            <a:off x="1965960" y="2880360"/>
            <a:ext cx="731520" cy="731520"/>
          </a:xfrm>
          <a:prstGeom prst="rect">
            <a:avLst/>
          </a:prstGeom>
        </p:spPr>
      </p:pic>
      <p:sp>
        <p:nvSpPr>
          <p:cNvPr id="6" name="Text 3"/>
          <p:cNvSpPr/>
          <p:nvPr/>
        </p:nvSpPr>
        <p:spPr>
          <a:xfrm>
            <a:off x="868680" y="3840480"/>
            <a:ext cx="2926080" cy="365760"/>
          </a:xfrm>
          <a:prstGeom prst="rect">
            <a:avLst/>
          </a:prstGeom>
          <a:noFill/>
          <a:ln/>
        </p:spPr>
        <p:txBody>
          <a:bodyPr wrap="square" rtlCol="0" anchor="ctr"/>
          <a:lstStyle/>
          <a:p>
            <a:pPr algn="ctr" indent="0" marL="0">
              <a:buNone/>
            </a:pPr>
            <a:r>
              <a:rPr lang="en-US" sz="1600" b="1" spc="100" kern="0" dirty="0">
                <a:solidFill>
                  <a:srgbClr val="C77F1D"/>
                </a:solidFill>
                <a:latin typeface="Arial" pitchFamily="34" charset="0"/>
                <a:ea typeface="Arial" pitchFamily="34" charset="-122"/>
                <a:cs typeface="Arial" pitchFamily="34" charset="-120"/>
              </a:rPr>
              <a:t>1. FIND</a:t>
            </a:r>
            <a:endParaRPr lang="en-US" sz="1600" dirty="0"/>
          </a:p>
        </p:txBody>
      </p:sp>
      <p:sp>
        <p:nvSpPr>
          <p:cNvPr id="7" name="Text 4"/>
          <p:cNvSpPr/>
          <p:nvPr/>
        </p:nvSpPr>
        <p:spPr>
          <a:xfrm>
            <a:off x="914400" y="4251960"/>
            <a:ext cx="2834640" cy="914400"/>
          </a:xfrm>
          <a:prstGeom prst="rect">
            <a:avLst/>
          </a:prstGeom>
          <a:noFill/>
          <a:ln/>
        </p:spPr>
        <p:txBody>
          <a:bodyPr wrap="square" rtlCol="0" anchor="t"/>
          <a:lstStyle/>
          <a:p>
            <a:pPr algn="ctr" indent="0" marL="0">
              <a:buNone/>
            </a:pPr>
            <a:r>
              <a:rPr lang="en-US" sz="1350" dirty="0">
                <a:solidFill>
                  <a:srgbClr val="5A6B85"/>
                </a:solidFill>
                <a:latin typeface="Arial" pitchFamily="34" charset="0"/>
                <a:ea typeface="Arial" pitchFamily="34" charset="-122"/>
                <a:cs typeface="Arial" pitchFamily="34" charset="-120"/>
              </a:rPr>
              <a:t>Strip malls &amp; small offices with old or missing energy controls</a:t>
            </a:r>
            <a:endParaRPr lang="en-US" sz="1350" dirty="0"/>
          </a:p>
        </p:txBody>
      </p:sp>
      <p:sp>
        <p:nvSpPr>
          <p:cNvPr id="8" name="Text 5"/>
          <p:cNvSpPr/>
          <p:nvPr/>
        </p:nvSpPr>
        <p:spPr>
          <a:xfrm>
            <a:off x="4041648" y="3566160"/>
            <a:ext cx="274320" cy="457200"/>
          </a:xfrm>
          <a:prstGeom prst="rect">
            <a:avLst/>
          </a:prstGeom>
          <a:noFill/>
          <a:ln/>
        </p:spPr>
        <p:txBody>
          <a:bodyPr wrap="square" rtlCol="0" anchor="ctr"/>
          <a:lstStyle/>
          <a:p>
            <a:pPr algn="ctr" indent="0" marL="0">
              <a:buNone/>
            </a:pPr>
            <a:r>
              <a:rPr lang="en-US" sz="2400" dirty="0">
                <a:solidFill>
                  <a:srgbClr val="E8A33D"/>
                </a:solidFill>
                <a:latin typeface="Arial" pitchFamily="34" charset="0"/>
                <a:ea typeface="Arial" pitchFamily="34" charset="-122"/>
                <a:cs typeface="Arial" pitchFamily="34" charset="-120"/>
              </a:rPr>
              <a:t>→</a:t>
            </a:r>
            <a:endParaRPr lang="en-US" sz="2400" dirty="0"/>
          </a:p>
        </p:txBody>
      </p:sp>
      <p:sp>
        <p:nvSpPr>
          <p:cNvPr id="9" name="Shape 6"/>
          <p:cNvSpPr/>
          <p:nvPr/>
        </p:nvSpPr>
        <p:spPr>
          <a:xfrm>
            <a:off x="4343400" y="2514600"/>
            <a:ext cx="3383280" cy="2743200"/>
          </a:xfrm>
          <a:prstGeom prst="roundRect">
            <a:avLst>
              <a:gd name="adj" fmla="val 4000"/>
            </a:avLst>
          </a:prstGeom>
          <a:solidFill>
            <a:srgbClr val="FFFFFF"/>
          </a:solidFill>
          <a:ln/>
          <a:effectLst>
            <a:outerShdw sx="100000" sy="100000" kx="0" ky="0" algn="bl" rotWithShape="0" blurRad="101600" dist="38100" dir="5400000">
              <a:srgbClr val="000000">
                <a:alpha val="10000"/>
              </a:srgbClr>
            </a:outerShdw>
          </a:effectLst>
        </p:spPr>
      </p:sp>
      <p:pic>
        <p:nvPicPr>
          <p:cNvPr id="10" name="Image 1" descr="preencoded.png"/>
          <p:cNvPicPr>
            <a:picLocks noChangeAspect="1"/>
          </p:cNvPicPr>
          <p:nvPr/>
        </p:nvPicPr>
        <p:blipFill>
          <a:blip r:embed="rId2"/>
          <a:stretch>
            <a:fillRect/>
          </a:stretch>
        </p:blipFill>
        <p:spPr>
          <a:xfrm>
            <a:off x="5669280" y="2880360"/>
            <a:ext cx="731520" cy="731520"/>
          </a:xfrm>
          <a:prstGeom prst="rect">
            <a:avLst/>
          </a:prstGeom>
        </p:spPr>
      </p:pic>
      <p:sp>
        <p:nvSpPr>
          <p:cNvPr id="11" name="Text 7"/>
          <p:cNvSpPr/>
          <p:nvPr/>
        </p:nvSpPr>
        <p:spPr>
          <a:xfrm>
            <a:off x="4572000" y="3840480"/>
            <a:ext cx="2926080" cy="365760"/>
          </a:xfrm>
          <a:prstGeom prst="rect">
            <a:avLst/>
          </a:prstGeom>
          <a:noFill/>
          <a:ln/>
        </p:spPr>
        <p:txBody>
          <a:bodyPr wrap="square" rtlCol="0" anchor="ctr"/>
          <a:lstStyle/>
          <a:p>
            <a:pPr algn="ctr" indent="0" marL="0">
              <a:buNone/>
            </a:pPr>
            <a:r>
              <a:rPr lang="en-US" sz="1600" b="1" spc="100" kern="0" dirty="0">
                <a:solidFill>
                  <a:srgbClr val="C77F1D"/>
                </a:solidFill>
                <a:latin typeface="Arial" pitchFamily="34" charset="0"/>
                <a:ea typeface="Arial" pitchFamily="34" charset="-122"/>
                <a:cs typeface="Arial" pitchFamily="34" charset="-120"/>
              </a:rPr>
              <a:t>2. FIX</a:t>
            </a:r>
            <a:endParaRPr lang="en-US" sz="1600" dirty="0"/>
          </a:p>
        </p:txBody>
      </p:sp>
      <p:sp>
        <p:nvSpPr>
          <p:cNvPr id="12" name="Text 8"/>
          <p:cNvSpPr/>
          <p:nvPr/>
        </p:nvSpPr>
        <p:spPr>
          <a:xfrm>
            <a:off x="4617720" y="4251960"/>
            <a:ext cx="2834640" cy="914400"/>
          </a:xfrm>
          <a:prstGeom prst="rect">
            <a:avLst/>
          </a:prstGeom>
          <a:noFill/>
          <a:ln/>
        </p:spPr>
        <p:txBody>
          <a:bodyPr wrap="square" rtlCol="0" anchor="t"/>
          <a:lstStyle/>
          <a:p>
            <a:pPr algn="ctr" indent="0" marL="0">
              <a:buNone/>
            </a:pPr>
            <a:r>
              <a:rPr lang="en-US" sz="1350" dirty="0">
                <a:solidFill>
                  <a:srgbClr val="5A6B85"/>
                </a:solidFill>
                <a:latin typeface="Arial" pitchFamily="34" charset="0"/>
                <a:ea typeface="Arial" pitchFamily="34" charset="-122"/>
                <a:cs typeface="Arial" pitchFamily="34" charset="-120"/>
              </a:rPr>
              <a:t>Install a small computer that automatically manages heating &amp; cooling</a:t>
            </a:r>
            <a:endParaRPr lang="en-US" sz="1350" dirty="0"/>
          </a:p>
        </p:txBody>
      </p:sp>
      <p:sp>
        <p:nvSpPr>
          <p:cNvPr id="13" name="Text 9"/>
          <p:cNvSpPr/>
          <p:nvPr/>
        </p:nvSpPr>
        <p:spPr>
          <a:xfrm>
            <a:off x="7744968" y="3566160"/>
            <a:ext cx="274320" cy="457200"/>
          </a:xfrm>
          <a:prstGeom prst="rect">
            <a:avLst/>
          </a:prstGeom>
          <a:noFill/>
          <a:ln/>
        </p:spPr>
        <p:txBody>
          <a:bodyPr wrap="square" rtlCol="0" anchor="ctr"/>
          <a:lstStyle/>
          <a:p>
            <a:pPr algn="ctr" indent="0" marL="0">
              <a:buNone/>
            </a:pPr>
            <a:r>
              <a:rPr lang="en-US" sz="2400" dirty="0">
                <a:solidFill>
                  <a:srgbClr val="E8A33D"/>
                </a:solidFill>
                <a:latin typeface="Arial" pitchFamily="34" charset="0"/>
                <a:ea typeface="Arial" pitchFamily="34" charset="-122"/>
                <a:cs typeface="Arial" pitchFamily="34" charset="-120"/>
              </a:rPr>
              <a:t>→</a:t>
            </a:r>
            <a:endParaRPr lang="en-US" sz="2400" dirty="0"/>
          </a:p>
        </p:txBody>
      </p:sp>
      <p:sp>
        <p:nvSpPr>
          <p:cNvPr id="14" name="Shape 10"/>
          <p:cNvSpPr/>
          <p:nvPr/>
        </p:nvSpPr>
        <p:spPr>
          <a:xfrm>
            <a:off x="8046720" y="2514600"/>
            <a:ext cx="3383280" cy="2743200"/>
          </a:xfrm>
          <a:prstGeom prst="roundRect">
            <a:avLst>
              <a:gd name="adj" fmla="val 4000"/>
            </a:avLst>
          </a:prstGeom>
          <a:solidFill>
            <a:srgbClr val="FFFFFF"/>
          </a:solidFill>
          <a:ln/>
          <a:effectLst>
            <a:outerShdw sx="100000" sy="100000" kx="0" ky="0" algn="bl" rotWithShape="0" blurRad="101600" dist="38100" dir="5400000">
              <a:srgbClr val="000000">
                <a:alpha val="10000"/>
              </a:srgbClr>
            </a:outerShdw>
          </a:effectLst>
        </p:spPr>
      </p:sp>
      <p:pic>
        <p:nvPicPr>
          <p:cNvPr id="15" name="Image 2" descr="preencoded.png"/>
          <p:cNvPicPr>
            <a:picLocks noChangeAspect="1"/>
          </p:cNvPicPr>
          <p:nvPr/>
        </p:nvPicPr>
        <p:blipFill>
          <a:blip r:embed="rId3"/>
          <a:stretch>
            <a:fillRect/>
          </a:stretch>
        </p:blipFill>
        <p:spPr>
          <a:xfrm>
            <a:off x="9372600" y="2880360"/>
            <a:ext cx="731520" cy="731520"/>
          </a:xfrm>
          <a:prstGeom prst="rect">
            <a:avLst/>
          </a:prstGeom>
        </p:spPr>
      </p:pic>
      <p:sp>
        <p:nvSpPr>
          <p:cNvPr id="16" name="Text 11"/>
          <p:cNvSpPr/>
          <p:nvPr/>
        </p:nvSpPr>
        <p:spPr>
          <a:xfrm>
            <a:off x="8275320" y="3840480"/>
            <a:ext cx="2926080" cy="365760"/>
          </a:xfrm>
          <a:prstGeom prst="rect">
            <a:avLst/>
          </a:prstGeom>
          <a:noFill/>
          <a:ln/>
        </p:spPr>
        <p:txBody>
          <a:bodyPr wrap="square" rtlCol="0" anchor="ctr"/>
          <a:lstStyle/>
          <a:p>
            <a:pPr algn="ctr" indent="0" marL="0">
              <a:buNone/>
            </a:pPr>
            <a:r>
              <a:rPr lang="en-US" sz="1600" b="1" spc="100" kern="0" dirty="0">
                <a:solidFill>
                  <a:srgbClr val="C77F1D"/>
                </a:solidFill>
                <a:latin typeface="Arial" pitchFamily="34" charset="0"/>
                <a:ea typeface="Arial" pitchFamily="34" charset="-122"/>
                <a:cs typeface="Arial" pitchFamily="34" charset="-120"/>
              </a:rPr>
              <a:t>3. EARN</a:t>
            </a:r>
            <a:endParaRPr lang="en-US" sz="1600" dirty="0"/>
          </a:p>
        </p:txBody>
      </p:sp>
      <p:sp>
        <p:nvSpPr>
          <p:cNvPr id="17" name="Text 12"/>
          <p:cNvSpPr/>
          <p:nvPr/>
        </p:nvSpPr>
        <p:spPr>
          <a:xfrm>
            <a:off x="8321040" y="4251960"/>
            <a:ext cx="2834640" cy="914400"/>
          </a:xfrm>
          <a:prstGeom prst="rect">
            <a:avLst/>
          </a:prstGeom>
          <a:noFill/>
          <a:ln/>
        </p:spPr>
        <p:txBody>
          <a:bodyPr wrap="square" rtlCol="0" anchor="t"/>
          <a:lstStyle/>
          <a:p>
            <a:pPr algn="ctr" indent="0" marL="0">
              <a:buNone/>
            </a:pPr>
            <a:r>
              <a:rPr lang="en-US" sz="1350" dirty="0">
                <a:solidFill>
                  <a:srgbClr val="5A6B85"/>
                </a:solidFill>
                <a:latin typeface="Arial" pitchFamily="34" charset="0"/>
                <a:ea typeface="Arial" pitchFamily="34" charset="-122"/>
                <a:cs typeface="Arial" pitchFamily="34" charset="-120"/>
              </a:rPr>
              <a:t>Charge a project fee, then a small monthly fee to keep monitoring it</a:t>
            </a:r>
            <a:endParaRPr lang="en-US" sz="1350" dirty="0"/>
          </a:p>
        </p:txBody>
      </p:sp>
      <p:sp>
        <p:nvSpPr>
          <p:cNvPr id="18" name="Text 13"/>
          <p:cNvSpPr/>
          <p:nvPr/>
        </p:nvSpPr>
        <p:spPr>
          <a:xfrm>
            <a:off x="640080" y="5623560"/>
            <a:ext cx="10881360" cy="457200"/>
          </a:xfrm>
          <a:prstGeom prst="rect">
            <a:avLst/>
          </a:prstGeom>
          <a:noFill/>
          <a:ln/>
        </p:spPr>
        <p:txBody>
          <a:bodyPr wrap="square" rtlCol="0" anchor="ctr"/>
          <a:lstStyle/>
          <a:p>
            <a:pPr indent="0" marL="0">
              <a:buNone/>
            </a:pPr>
            <a:r>
              <a:rPr lang="en-US" sz="1400" i="1" dirty="0">
                <a:solidFill>
                  <a:srgbClr val="12243F"/>
                </a:solidFill>
                <a:latin typeface="Arial" pitchFamily="34" charset="0"/>
                <a:ea typeface="Arial" pitchFamily="34" charset="-122"/>
                <a:cs typeface="Arial" pitchFamily="34" charset="-120"/>
              </a:rPr>
              <a:t>That's the whole business. Everything else in this deck is the evidence behind why it works.</a:t>
            </a:r>
            <a:endParaRPr lang="en-US" sz="1400" dirty="0"/>
          </a:p>
        </p:txBody>
      </p:sp>
      <p:sp>
        <p:nvSpPr>
          <p:cNvPr id="19" name="Text 14"/>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A6B85"/>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43F"/>
        </a:solidFill>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rtlCol="0" anchor="ctr"/>
          <a:lstStyle/>
          <a:p>
            <a:pPr indent="0" marL="0">
              <a:buNone/>
            </a:pPr>
            <a:r>
              <a:rPr lang="en-US" sz="1300" b="1" spc="200" kern="0" dirty="0">
                <a:solidFill>
                  <a:srgbClr val="E8A33D"/>
                </a:solidFill>
                <a:latin typeface="Arial" pitchFamily="34" charset="0"/>
                <a:ea typeface="Arial" pitchFamily="34" charset="-122"/>
                <a:cs typeface="Arial" pitchFamily="34" charset="-120"/>
              </a:rPr>
              <a:t>THE PROBLEM</a:t>
            </a:r>
            <a:endParaRPr lang="en-US" sz="1300" dirty="0"/>
          </a:p>
        </p:txBody>
      </p:sp>
      <p:sp>
        <p:nvSpPr>
          <p:cNvPr id="3" name="Text 1"/>
          <p:cNvSpPr/>
          <p:nvPr/>
        </p:nvSpPr>
        <p:spPr>
          <a:xfrm>
            <a:off x="640080" y="841248"/>
            <a:ext cx="105156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Small buildings are flying blind on energy</a:t>
            </a:r>
            <a:endParaRPr lang="en-US" sz="3000" dirty="0"/>
          </a:p>
        </p:txBody>
      </p:sp>
      <p:sp>
        <p:nvSpPr>
          <p:cNvPr id="4" name="Shape 2"/>
          <p:cNvSpPr/>
          <p:nvPr/>
        </p:nvSpPr>
        <p:spPr>
          <a:xfrm>
            <a:off x="640080" y="1828800"/>
            <a:ext cx="4206240" cy="4297680"/>
          </a:xfrm>
          <a:prstGeom prst="roundRect">
            <a:avLst>
              <a:gd name="adj" fmla="val 2609"/>
            </a:avLst>
          </a:prstGeom>
          <a:solidFill>
            <a:srgbClr val="1B3358"/>
          </a:solidFill>
          <a:ln/>
        </p:spPr>
      </p:sp>
      <p:sp>
        <p:nvSpPr>
          <p:cNvPr id="5" name="Text 3"/>
          <p:cNvSpPr/>
          <p:nvPr/>
        </p:nvSpPr>
        <p:spPr>
          <a:xfrm>
            <a:off x="640080" y="2148840"/>
            <a:ext cx="4206240" cy="1371600"/>
          </a:xfrm>
          <a:prstGeom prst="rect">
            <a:avLst/>
          </a:prstGeom>
          <a:noFill/>
          <a:ln/>
        </p:spPr>
        <p:txBody>
          <a:bodyPr wrap="square" rtlCol="0" anchor="ctr"/>
          <a:lstStyle/>
          <a:p>
            <a:pPr algn="ctr" indent="0" marL="0">
              <a:buNone/>
            </a:pPr>
            <a:r>
              <a:rPr lang="en-US" sz="7200" b="1" dirty="0">
                <a:solidFill>
                  <a:srgbClr val="E8A33D"/>
                </a:solidFill>
                <a:latin typeface="Cambria" pitchFamily="34" charset="0"/>
                <a:ea typeface="Cambria" pitchFamily="34" charset="-122"/>
                <a:cs typeface="Cambria" pitchFamily="34" charset="-120"/>
              </a:rPr>
              <a:t>30%</a:t>
            </a:r>
            <a:endParaRPr lang="en-US" sz="7200" dirty="0"/>
          </a:p>
        </p:txBody>
      </p:sp>
      <p:sp>
        <p:nvSpPr>
          <p:cNvPr id="6" name="Text 4"/>
          <p:cNvSpPr/>
          <p:nvPr/>
        </p:nvSpPr>
        <p:spPr>
          <a:xfrm>
            <a:off x="914400" y="3429000"/>
            <a:ext cx="3657600" cy="822960"/>
          </a:xfrm>
          <a:prstGeom prst="rect">
            <a:avLst/>
          </a:prstGeom>
          <a:noFill/>
          <a:ln/>
        </p:spPr>
        <p:txBody>
          <a:bodyPr wrap="square" rtlCol="0" anchor="ctr"/>
          <a:lstStyle/>
          <a:p>
            <a:pPr algn="ctr" indent="0" marL="0">
              <a:buNone/>
            </a:pPr>
            <a:r>
              <a:rPr lang="en-US" sz="1500" dirty="0">
                <a:solidFill>
                  <a:srgbClr val="C9D2E0"/>
                </a:solidFill>
                <a:latin typeface="Arial" pitchFamily="34" charset="0"/>
                <a:ea typeface="Arial" pitchFamily="34" charset="-122"/>
                <a:cs typeface="Arial" pitchFamily="34" charset="-120"/>
              </a:rPr>
              <a:t>of energy used in a typical</a:t>
            </a:r>
            <a:endParaRPr lang="en-US" sz="1500" dirty="0"/>
          </a:p>
          <a:p>
            <a:pPr algn="ctr" indent="0" marL="0">
              <a:buNone/>
            </a:pPr>
            <a:r>
              <a:rPr lang="en-US" sz="1500" dirty="0">
                <a:solidFill>
                  <a:srgbClr val="C9D2E0"/>
                </a:solidFill>
                <a:latin typeface="Arial" pitchFamily="34" charset="0"/>
                <a:ea typeface="Arial" pitchFamily="34" charset="-122"/>
                <a:cs typeface="Arial" pitchFamily="34" charset="-120"/>
              </a:rPr>
              <a:t>commercial building is wasted</a:t>
            </a:r>
            <a:endParaRPr lang="en-US" sz="1500" dirty="0"/>
          </a:p>
        </p:txBody>
      </p:sp>
      <p:sp>
        <p:nvSpPr>
          <p:cNvPr id="7" name="Text 5"/>
          <p:cNvSpPr/>
          <p:nvPr/>
        </p:nvSpPr>
        <p:spPr>
          <a:xfrm>
            <a:off x="914400" y="4206240"/>
            <a:ext cx="3657600" cy="365760"/>
          </a:xfrm>
          <a:prstGeom prst="rect">
            <a:avLst/>
          </a:prstGeom>
          <a:noFill/>
          <a:ln/>
        </p:spPr>
        <p:txBody>
          <a:bodyPr wrap="square" rtlCol="0" anchor="ctr"/>
          <a:lstStyle/>
          <a:p>
            <a:pPr algn="ctr" indent="0" marL="0">
              <a:buNone/>
            </a:pPr>
            <a:r>
              <a:rPr lang="en-US" sz="1100" i="1" dirty="0">
                <a:solidFill>
                  <a:srgbClr val="8B9AB5"/>
                </a:solidFill>
                <a:latin typeface="Arial" pitchFamily="34" charset="0"/>
                <a:ea typeface="Arial" pitchFamily="34" charset="-122"/>
                <a:cs typeface="Arial" pitchFamily="34" charset="-120"/>
              </a:rPr>
              <a:t>- U.S. Department of Energy</a:t>
            </a:r>
            <a:endParaRPr lang="en-US" sz="1100" dirty="0"/>
          </a:p>
        </p:txBody>
      </p:sp>
      <p:sp>
        <p:nvSpPr>
          <p:cNvPr id="8" name="Shape 6"/>
          <p:cNvSpPr/>
          <p:nvPr/>
        </p:nvSpPr>
        <p:spPr>
          <a:xfrm>
            <a:off x="1005840" y="4800600"/>
            <a:ext cx="3474720" cy="0"/>
          </a:xfrm>
          <a:prstGeom prst="line">
            <a:avLst/>
          </a:prstGeom>
          <a:noFill/>
          <a:ln w="12700">
            <a:solidFill>
              <a:srgbClr val="3A4F70"/>
            </a:solidFill>
            <a:prstDash val="solid"/>
          </a:ln>
        </p:spPr>
      </p:sp>
      <p:sp>
        <p:nvSpPr>
          <p:cNvPr id="9" name="Text 7"/>
          <p:cNvSpPr/>
          <p:nvPr/>
        </p:nvSpPr>
        <p:spPr>
          <a:xfrm>
            <a:off x="640080" y="4983480"/>
            <a:ext cx="4206240" cy="54864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40–50%</a:t>
            </a:r>
            <a:endParaRPr lang="en-US" sz="2600" dirty="0"/>
          </a:p>
        </p:txBody>
      </p:sp>
      <p:sp>
        <p:nvSpPr>
          <p:cNvPr id="10" name="Text 8"/>
          <p:cNvSpPr/>
          <p:nvPr/>
        </p:nvSpPr>
        <p:spPr>
          <a:xfrm>
            <a:off x="914400" y="5532120"/>
            <a:ext cx="3657600" cy="502920"/>
          </a:xfrm>
          <a:prstGeom prst="rect">
            <a:avLst/>
          </a:prstGeom>
          <a:noFill/>
          <a:ln/>
        </p:spPr>
        <p:txBody>
          <a:bodyPr wrap="square" rtlCol="0" anchor="ctr"/>
          <a:lstStyle/>
          <a:p>
            <a:pPr algn="ctr" indent="0" marL="0">
              <a:buNone/>
            </a:pPr>
            <a:r>
              <a:rPr lang="en-US" sz="1250" dirty="0">
                <a:solidFill>
                  <a:srgbClr val="C9D2E0"/>
                </a:solidFill>
                <a:latin typeface="Arial" pitchFamily="34" charset="0"/>
                <a:ea typeface="Arial" pitchFamily="34" charset="-122"/>
                <a:cs typeface="Arial" pitchFamily="34" charset="-120"/>
              </a:rPr>
              <a:t>of a commercial building's energy bill is heating &amp; cooling alone</a:t>
            </a:r>
            <a:endParaRPr lang="en-US" sz="1250" dirty="0"/>
          </a:p>
        </p:txBody>
      </p:sp>
      <p:pic>
        <p:nvPicPr>
          <p:cNvPr id="11" name="Image 0" descr="preencoded.png"/>
          <p:cNvPicPr>
            <a:picLocks noChangeAspect="1"/>
          </p:cNvPicPr>
          <p:nvPr/>
        </p:nvPicPr>
        <p:blipFill>
          <a:blip r:embed="rId1"/>
          <a:stretch>
            <a:fillRect/>
          </a:stretch>
        </p:blipFill>
        <p:spPr>
          <a:xfrm>
            <a:off x="5349240" y="1874520"/>
            <a:ext cx="548640" cy="548640"/>
          </a:xfrm>
          <a:prstGeom prst="rect">
            <a:avLst/>
          </a:prstGeom>
        </p:spPr>
      </p:pic>
      <p:sp>
        <p:nvSpPr>
          <p:cNvPr id="12" name="Text 9"/>
          <p:cNvSpPr/>
          <p:nvPr/>
        </p:nvSpPr>
        <p:spPr>
          <a:xfrm>
            <a:off x="6080760" y="1828800"/>
            <a:ext cx="5486400" cy="777240"/>
          </a:xfrm>
          <a:prstGeom prst="rect">
            <a:avLst/>
          </a:prstGeom>
          <a:noFill/>
          <a:ln/>
        </p:spPr>
        <p:txBody>
          <a:bodyPr wrap="square" rtlCol="0" anchor="ctr"/>
          <a:lstStyle/>
          <a:p>
            <a:pPr indent="0" marL="0">
              <a:buNone/>
            </a:pPr>
            <a:r>
              <a:rPr lang="en-US" sz="1450" dirty="0">
                <a:solidFill>
                  <a:srgbClr val="E3E8F1"/>
                </a:solidFill>
                <a:latin typeface="Arial" pitchFamily="34" charset="0"/>
                <a:ea typeface="Arial" pitchFamily="34" charset="-122"/>
                <a:cs typeface="Arial" pitchFamily="34" charset="-120"/>
              </a:rPr>
              <a:t>Buildings under ~50,000 sq ft are too small for big energy companies to bother with</a:t>
            </a:r>
            <a:endParaRPr lang="en-US" sz="1450" dirty="0"/>
          </a:p>
        </p:txBody>
      </p:sp>
      <p:pic>
        <p:nvPicPr>
          <p:cNvPr id="13" name="Image 1" descr="preencoded.png"/>
          <p:cNvPicPr>
            <a:picLocks noChangeAspect="1"/>
          </p:cNvPicPr>
          <p:nvPr/>
        </p:nvPicPr>
        <p:blipFill>
          <a:blip r:embed="rId2"/>
          <a:stretch>
            <a:fillRect/>
          </a:stretch>
        </p:blipFill>
        <p:spPr>
          <a:xfrm>
            <a:off x="5349240" y="2926080"/>
            <a:ext cx="548640" cy="548640"/>
          </a:xfrm>
          <a:prstGeom prst="rect">
            <a:avLst/>
          </a:prstGeom>
        </p:spPr>
      </p:pic>
      <p:sp>
        <p:nvSpPr>
          <p:cNvPr id="14" name="Text 10"/>
          <p:cNvSpPr/>
          <p:nvPr/>
        </p:nvSpPr>
        <p:spPr>
          <a:xfrm>
            <a:off x="6080760" y="2880360"/>
            <a:ext cx="5486400" cy="777240"/>
          </a:xfrm>
          <a:prstGeom prst="rect">
            <a:avLst/>
          </a:prstGeom>
          <a:noFill/>
          <a:ln/>
        </p:spPr>
        <p:txBody>
          <a:bodyPr wrap="square" rtlCol="0" anchor="ctr"/>
          <a:lstStyle/>
          <a:p>
            <a:pPr indent="0" marL="0">
              <a:buNone/>
            </a:pPr>
            <a:r>
              <a:rPr lang="en-US" sz="1450" dirty="0">
                <a:solidFill>
                  <a:srgbClr val="E3E8F1"/>
                </a:solidFill>
                <a:latin typeface="Arial" pitchFamily="34" charset="0"/>
                <a:ea typeface="Arial" pitchFamily="34" charset="-122"/>
                <a:cs typeface="Arial" pitchFamily="34" charset="-120"/>
              </a:rPr>
              <a:t>Many run on the exact same schedule someone set 10+ years ago - empty store, full blast AC</a:t>
            </a:r>
            <a:endParaRPr lang="en-US" sz="1450" dirty="0"/>
          </a:p>
        </p:txBody>
      </p:sp>
      <p:pic>
        <p:nvPicPr>
          <p:cNvPr id="15" name="Image 2" descr="preencoded.png"/>
          <p:cNvPicPr>
            <a:picLocks noChangeAspect="1"/>
          </p:cNvPicPr>
          <p:nvPr/>
        </p:nvPicPr>
        <p:blipFill>
          <a:blip r:embed="rId3"/>
          <a:stretch>
            <a:fillRect/>
          </a:stretch>
        </p:blipFill>
        <p:spPr>
          <a:xfrm>
            <a:off x="5349240" y="3977640"/>
            <a:ext cx="548640" cy="548640"/>
          </a:xfrm>
          <a:prstGeom prst="rect">
            <a:avLst/>
          </a:prstGeom>
        </p:spPr>
      </p:pic>
      <p:sp>
        <p:nvSpPr>
          <p:cNvPr id="16" name="Text 11"/>
          <p:cNvSpPr/>
          <p:nvPr/>
        </p:nvSpPr>
        <p:spPr>
          <a:xfrm>
            <a:off x="6080760" y="3931920"/>
            <a:ext cx="5486400" cy="777240"/>
          </a:xfrm>
          <a:prstGeom prst="rect">
            <a:avLst/>
          </a:prstGeom>
          <a:noFill/>
          <a:ln/>
        </p:spPr>
        <p:txBody>
          <a:bodyPr wrap="square" rtlCol="0" anchor="ctr"/>
          <a:lstStyle/>
          <a:p>
            <a:pPr indent="0" marL="0">
              <a:buNone/>
            </a:pPr>
            <a:r>
              <a:rPr lang="en-US" sz="1450" dirty="0">
                <a:solidFill>
                  <a:srgbClr val="E3E8F1"/>
                </a:solidFill>
                <a:latin typeface="Arial" pitchFamily="34" charset="0"/>
                <a:ea typeface="Arial" pitchFamily="34" charset="-122"/>
                <a:cs typeface="Arial" pitchFamily="34" charset="-120"/>
              </a:rPr>
              <a:t>Most owners have never heard the term "building automation system" - they don't know what's missing</a:t>
            </a:r>
            <a:endParaRPr lang="en-US" sz="1450" dirty="0"/>
          </a:p>
        </p:txBody>
      </p:sp>
      <p:sp>
        <p:nvSpPr>
          <p:cNvPr id="17" name="Shape 12"/>
          <p:cNvSpPr/>
          <p:nvPr/>
        </p:nvSpPr>
        <p:spPr>
          <a:xfrm>
            <a:off x="5349240" y="5120640"/>
            <a:ext cx="6217920" cy="1051560"/>
          </a:xfrm>
          <a:prstGeom prst="roundRect">
            <a:avLst>
              <a:gd name="adj" fmla="val 8696"/>
            </a:avLst>
          </a:prstGeom>
          <a:solidFill>
            <a:srgbClr val="E8A33D"/>
          </a:solidFill>
          <a:ln/>
        </p:spPr>
      </p:sp>
      <p:sp>
        <p:nvSpPr>
          <p:cNvPr id="18" name="Text 13"/>
          <p:cNvSpPr/>
          <p:nvPr/>
        </p:nvSpPr>
        <p:spPr>
          <a:xfrm>
            <a:off x="5577840" y="5230368"/>
            <a:ext cx="5760720" cy="868680"/>
          </a:xfrm>
          <a:prstGeom prst="rect">
            <a:avLst/>
          </a:prstGeom>
          <a:noFill/>
          <a:ln/>
        </p:spPr>
        <p:txBody>
          <a:bodyPr wrap="square" rtlCol="0" anchor="ctr"/>
          <a:lstStyle/>
          <a:p>
            <a:pPr indent="0" marL="0">
              <a:buNone/>
            </a:pPr>
            <a:r>
              <a:rPr lang="en-US" sz="1350" b="1" dirty="0">
                <a:solidFill>
                  <a:srgbClr val="12243F"/>
                </a:solidFill>
                <a:latin typeface="Arial" pitchFamily="34" charset="0"/>
                <a:ea typeface="Arial" pitchFamily="34" charset="-122"/>
                <a:cs typeface="Arial" pitchFamily="34" charset="-120"/>
              </a:rPr>
              <a:t>That gap - too small for big players, too invisible for owners to fix</a:t>
            </a:r>
            <a:endParaRPr lang="en-US" sz="1350" dirty="0"/>
          </a:p>
          <a:p>
            <a:pPr indent="0" marL="0">
              <a:buNone/>
            </a:pPr>
            <a:r>
              <a:rPr lang="en-US" sz="1350" b="1" dirty="0">
                <a:solidFill>
                  <a:srgbClr val="12243F"/>
                </a:solidFill>
                <a:latin typeface="Arial" pitchFamily="34" charset="0"/>
                <a:ea typeface="Arial" pitchFamily="34" charset="-122"/>
                <a:cs typeface="Arial" pitchFamily="34" charset="-120"/>
              </a:rPr>
              <a:t>themselves - is exactly where this business lives.</a:t>
            </a:r>
            <a:endParaRPr lang="en-US" sz="1350" dirty="0"/>
          </a:p>
        </p:txBody>
      </p:sp>
      <p:sp>
        <p:nvSpPr>
          <p:cNvPr id="19" name="Text 14"/>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A6B85"/>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rtlCol="0" anchor="ctr"/>
          <a:lstStyle/>
          <a:p>
            <a:pPr indent="0" marL="0">
              <a:buNone/>
            </a:pPr>
            <a:r>
              <a:rPr lang="en-US" sz="1300" b="1" spc="200" kern="0" dirty="0">
                <a:solidFill>
                  <a:srgbClr val="C77F1D"/>
                </a:solidFill>
                <a:latin typeface="Arial" pitchFamily="34" charset="0"/>
                <a:ea typeface="Arial" pitchFamily="34" charset="-122"/>
                <a:cs typeface="Arial" pitchFamily="34" charset="-120"/>
              </a:rPr>
              <a:t>THE FIX</a:t>
            </a:r>
            <a:endParaRPr lang="en-US" sz="1300" dirty="0"/>
          </a:p>
        </p:txBody>
      </p:sp>
      <p:sp>
        <p:nvSpPr>
          <p:cNvPr id="3" name="Text 1"/>
          <p:cNvSpPr/>
          <p:nvPr/>
        </p:nvSpPr>
        <p:spPr>
          <a:xfrm>
            <a:off x="640080" y="841248"/>
            <a:ext cx="10515600" cy="640080"/>
          </a:xfrm>
          <a:prstGeom prst="rect">
            <a:avLst/>
          </a:prstGeom>
          <a:noFill/>
          <a:ln/>
        </p:spPr>
        <p:txBody>
          <a:bodyPr wrap="square" rtlCol="0" anchor="ctr"/>
          <a:lstStyle/>
          <a:p>
            <a:pPr indent="0" marL="0">
              <a:buNone/>
            </a:pPr>
            <a:r>
              <a:rPr lang="en-US" sz="2800" b="1" dirty="0">
                <a:solidFill>
                  <a:srgbClr val="12243F"/>
                </a:solidFill>
                <a:latin typeface="Cambria" pitchFamily="34" charset="0"/>
                <a:ea typeface="Cambria" pitchFamily="34" charset="-122"/>
                <a:cs typeface="Cambria" pitchFamily="34" charset="-120"/>
              </a:rPr>
              <a:t>The right controls solution for the building</a:t>
            </a:r>
            <a:endParaRPr lang="en-US" sz="2800" dirty="0"/>
          </a:p>
        </p:txBody>
      </p:sp>
      <p:sp>
        <p:nvSpPr>
          <p:cNvPr id="4" name="Text 2"/>
          <p:cNvSpPr/>
          <p:nvPr/>
        </p:nvSpPr>
        <p:spPr>
          <a:xfrm>
            <a:off x="640080" y="1590000"/>
            <a:ext cx="10515600" cy="520000"/>
          </a:xfrm>
          <a:prstGeom prst="rect">
            <a:avLst/>
          </a:prstGeom>
          <a:noFill/>
          <a:ln/>
        </p:spPr>
        <p:txBody>
          <a:bodyPr wrap="square" rtlCol="0" anchor="ctr"/>
          <a:lstStyle/>
          <a:p>
            <a:pPr indent="0" marL="0">
              <a:buNone/>
            </a:pPr>
            <a:r>
              <a:rPr lang="en-US" sz="1400" dirty="0">
                <a:solidFill>
                  <a:srgbClr val="5A6B85"/>
                </a:solidFill>
                <a:latin typeface="Arial" pitchFamily="34" charset="0"/>
                <a:ea typeface="Arial" pitchFamily="34" charset="-122"/>
                <a:cs typeface="Arial" pitchFamily="34" charset="-120"/>
              </a:rPr>
              <a:t>Individual package RTUs per suite: commercial smart thermostats. Shared zones with central equipment: full BAS. The audit determines which path - the result is the same either way.</a:t>
            </a:r>
            <a:endParaRPr lang="en-US" sz="1400" dirty="0"/>
          </a:p>
        </p:txBody>
      </p:sp>
      <p:sp>
        <p:nvSpPr>
          <p:cNvPr id="5" name="Shape 3"/>
          <p:cNvSpPr/>
          <p:nvPr/>
        </p:nvSpPr>
        <p:spPr>
          <a:xfrm>
            <a:off x="640080" y="2194560"/>
            <a:ext cx="5212080" cy="4023360"/>
          </a:xfrm>
          <a:prstGeom prst="roundRect">
            <a:avLst>
              <a:gd name="adj" fmla="val 2273"/>
            </a:avLst>
          </a:prstGeom>
          <a:solidFill>
            <a:srgbClr val="FFFFFF"/>
          </a:solidFill>
          <a:ln w="12700">
            <a:solidFill>
              <a:srgbClr val="E3DCC8"/>
            </a:solidFill>
            <a:prstDash val="solid"/>
          </a:ln>
        </p:spPr>
      </p:sp>
      <p:sp>
        <p:nvSpPr>
          <p:cNvPr id="6" name="Text 4"/>
          <p:cNvSpPr/>
          <p:nvPr/>
        </p:nvSpPr>
        <p:spPr>
          <a:xfrm>
            <a:off x="868680" y="2423160"/>
            <a:ext cx="2743200" cy="365760"/>
          </a:xfrm>
          <a:prstGeom prst="rect">
            <a:avLst/>
          </a:prstGeom>
          <a:noFill/>
          <a:ln/>
        </p:spPr>
        <p:txBody>
          <a:bodyPr wrap="square" rtlCol="0" anchor="ctr"/>
          <a:lstStyle/>
          <a:p>
            <a:pPr indent="0" marL="0">
              <a:buNone/>
            </a:pPr>
            <a:r>
              <a:rPr lang="en-US" sz="1400" b="1" spc="150" kern="0" dirty="0">
                <a:solidFill>
                  <a:srgbClr val="B5483D"/>
                </a:solidFill>
                <a:latin typeface="Arial" pitchFamily="34" charset="0"/>
                <a:ea typeface="Arial" pitchFamily="34" charset="-122"/>
                <a:cs typeface="Arial" pitchFamily="34" charset="-120"/>
              </a:rPr>
              <a:t>BEFORE</a:t>
            </a:r>
            <a:endParaRPr lang="en-US" sz="1400" dirty="0"/>
          </a:p>
        </p:txBody>
      </p:sp>
      <p:sp>
        <p:nvSpPr>
          <p:cNvPr id="7" name="Text 5"/>
          <p:cNvSpPr/>
          <p:nvPr/>
        </p:nvSpPr>
        <p:spPr>
          <a:xfrm>
            <a:off x="868680" y="2971800"/>
            <a:ext cx="320040" cy="502920"/>
          </a:xfrm>
          <a:prstGeom prst="rect">
            <a:avLst/>
          </a:prstGeom>
          <a:noFill/>
          <a:ln/>
        </p:spPr>
        <p:txBody>
          <a:bodyPr wrap="square" rtlCol="0" anchor="ctr"/>
          <a:lstStyle/>
          <a:p>
            <a:pPr indent="0" marL="0">
              <a:buNone/>
            </a:pPr>
            <a:r>
              <a:rPr lang="en-US" sz="1600" b="1" dirty="0">
                <a:solidFill>
                  <a:srgbClr val="B5483D"/>
                </a:solidFill>
                <a:latin typeface="Arial" pitchFamily="34" charset="0"/>
                <a:ea typeface="Arial" pitchFamily="34" charset="-122"/>
                <a:cs typeface="Arial" pitchFamily="34" charset="-120"/>
              </a:rPr>
              <a:t>✕</a:t>
            </a:r>
            <a:endParaRPr lang="en-US" sz="1600" dirty="0"/>
          </a:p>
        </p:txBody>
      </p:sp>
      <p:sp>
        <p:nvSpPr>
          <p:cNvPr id="8" name="Text 6"/>
          <p:cNvSpPr/>
          <p:nvPr/>
        </p:nvSpPr>
        <p:spPr>
          <a:xfrm>
            <a:off x="1234440" y="2971800"/>
            <a:ext cx="4572000" cy="685800"/>
          </a:xfrm>
          <a:prstGeom prst="rect">
            <a:avLst/>
          </a:prstGeom>
          <a:noFill/>
          <a:ln/>
        </p:spPr>
        <p:txBody>
          <a:bodyPr wrap="square" rtlCol="0" anchor="t"/>
          <a:lstStyle/>
          <a:p>
            <a:pPr indent="0" marL="0">
              <a:buNone/>
            </a:pPr>
            <a:r>
              <a:rPr lang="en-US" sz="1300" dirty="0">
                <a:solidFill>
                  <a:srgbClr val="5A6B85"/>
                </a:solidFill>
                <a:latin typeface="Arial" pitchFamily="34" charset="0"/>
                <a:ea typeface="Arial" pitchFamily="34" charset="-122"/>
                <a:cs typeface="Arial" pitchFamily="34" charset="-120"/>
              </a:rPr>
              <a:t>Runs full blast 24/7, even when the store is closed</a:t>
            </a:r>
            <a:endParaRPr lang="en-US" sz="1300" dirty="0"/>
          </a:p>
        </p:txBody>
      </p:sp>
      <p:sp>
        <p:nvSpPr>
          <p:cNvPr id="9" name="Text 7"/>
          <p:cNvSpPr/>
          <p:nvPr/>
        </p:nvSpPr>
        <p:spPr>
          <a:xfrm>
            <a:off x="868680" y="3721608"/>
            <a:ext cx="320040" cy="502920"/>
          </a:xfrm>
          <a:prstGeom prst="rect">
            <a:avLst/>
          </a:prstGeom>
          <a:noFill/>
          <a:ln/>
        </p:spPr>
        <p:txBody>
          <a:bodyPr wrap="square" rtlCol="0" anchor="ctr"/>
          <a:lstStyle/>
          <a:p>
            <a:pPr indent="0" marL="0">
              <a:buNone/>
            </a:pPr>
            <a:r>
              <a:rPr lang="en-US" sz="1600" b="1" dirty="0">
                <a:solidFill>
                  <a:srgbClr val="B5483D"/>
                </a:solidFill>
                <a:latin typeface="Arial" pitchFamily="34" charset="0"/>
                <a:ea typeface="Arial" pitchFamily="34" charset="-122"/>
                <a:cs typeface="Arial" pitchFamily="34" charset="-120"/>
              </a:rPr>
              <a:t>✕</a:t>
            </a:r>
            <a:endParaRPr lang="en-US" sz="1600" dirty="0"/>
          </a:p>
        </p:txBody>
      </p:sp>
      <p:sp>
        <p:nvSpPr>
          <p:cNvPr id="10" name="Text 8"/>
          <p:cNvSpPr/>
          <p:nvPr/>
        </p:nvSpPr>
        <p:spPr>
          <a:xfrm>
            <a:off x="1234440" y="3721608"/>
            <a:ext cx="4572000" cy="685800"/>
          </a:xfrm>
          <a:prstGeom prst="rect">
            <a:avLst/>
          </a:prstGeom>
          <a:noFill/>
          <a:ln/>
        </p:spPr>
        <p:txBody>
          <a:bodyPr wrap="square" rtlCol="0" anchor="t"/>
          <a:lstStyle/>
          <a:p>
            <a:pPr indent="0" marL="0">
              <a:buNone/>
            </a:pPr>
            <a:r>
              <a:rPr lang="en-US" sz="1300" dirty="0">
                <a:solidFill>
                  <a:srgbClr val="5A6B85"/>
                </a:solidFill>
                <a:latin typeface="Arial" pitchFamily="34" charset="0"/>
                <a:ea typeface="Arial" pitchFamily="34" charset="-122"/>
                <a:cs typeface="Arial" pitchFamily="34" charset="-120"/>
              </a:rPr>
              <a:t>No way to know how many people are actually inside</a:t>
            </a:r>
            <a:endParaRPr lang="en-US" sz="1300" dirty="0"/>
          </a:p>
        </p:txBody>
      </p:sp>
      <p:sp>
        <p:nvSpPr>
          <p:cNvPr id="11" name="Text 9"/>
          <p:cNvSpPr/>
          <p:nvPr/>
        </p:nvSpPr>
        <p:spPr>
          <a:xfrm>
            <a:off x="868680" y="4471416"/>
            <a:ext cx="320040" cy="502920"/>
          </a:xfrm>
          <a:prstGeom prst="rect">
            <a:avLst/>
          </a:prstGeom>
          <a:noFill/>
          <a:ln/>
        </p:spPr>
        <p:txBody>
          <a:bodyPr wrap="square" rtlCol="0" anchor="ctr"/>
          <a:lstStyle/>
          <a:p>
            <a:pPr indent="0" marL="0">
              <a:buNone/>
            </a:pPr>
            <a:r>
              <a:rPr lang="en-US" sz="1600" b="1" dirty="0">
                <a:solidFill>
                  <a:srgbClr val="B5483D"/>
                </a:solidFill>
                <a:latin typeface="Arial" pitchFamily="34" charset="0"/>
                <a:ea typeface="Arial" pitchFamily="34" charset="-122"/>
                <a:cs typeface="Arial" pitchFamily="34" charset="-120"/>
              </a:rPr>
              <a:t>✕</a:t>
            </a:r>
            <a:endParaRPr lang="en-US" sz="1600" dirty="0"/>
          </a:p>
        </p:txBody>
      </p:sp>
      <p:sp>
        <p:nvSpPr>
          <p:cNvPr id="12" name="Text 10"/>
          <p:cNvSpPr/>
          <p:nvPr/>
        </p:nvSpPr>
        <p:spPr>
          <a:xfrm>
            <a:off x="1234440" y="4471416"/>
            <a:ext cx="4572000" cy="685800"/>
          </a:xfrm>
          <a:prstGeom prst="rect">
            <a:avLst/>
          </a:prstGeom>
          <a:noFill/>
          <a:ln/>
        </p:spPr>
        <p:txBody>
          <a:bodyPr wrap="square" rtlCol="0" anchor="t"/>
          <a:lstStyle/>
          <a:p>
            <a:pPr indent="0" marL="0">
              <a:buNone/>
            </a:pPr>
            <a:r>
              <a:rPr lang="en-US" sz="1300" dirty="0">
                <a:solidFill>
                  <a:srgbClr val="5A6B85"/>
                </a:solidFill>
                <a:latin typeface="Arial" pitchFamily="34" charset="0"/>
                <a:ea typeface="Arial" pitchFamily="34" charset="-122"/>
                <a:cs typeface="Arial" pitchFamily="34" charset="-120"/>
              </a:rPr>
              <a:t>Heating and cooling sometimes fight each other</a:t>
            </a:r>
            <a:endParaRPr lang="en-US" sz="1300" dirty="0"/>
          </a:p>
        </p:txBody>
      </p:sp>
      <p:sp>
        <p:nvSpPr>
          <p:cNvPr id="13" name="Text 11"/>
          <p:cNvSpPr/>
          <p:nvPr/>
        </p:nvSpPr>
        <p:spPr>
          <a:xfrm>
            <a:off x="868680" y="5221224"/>
            <a:ext cx="320040" cy="502920"/>
          </a:xfrm>
          <a:prstGeom prst="rect">
            <a:avLst/>
          </a:prstGeom>
          <a:noFill/>
          <a:ln/>
        </p:spPr>
        <p:txBody>
          <a:bodyPr wrap="square" rtlCol="0" anchor="ctr"/>
          <a:lstStyle/>
          <a:p>
            <a:pPr indent="0" marL="0">
              <a:buNone/>
            </a:pPr>
            <a:r>
              <a:rPr lang="en-US" sz="1600" b="1" dirty="0">
                <a:solidFill>
                  <a:srgbClr val="B5483D"/>
                </a:solidFill>
                <a:latin typeface="Arial" pitchFamily="34" charset="0"/>
                <a:ea typeface="Arial" pitchFamily="34" charset="-122"/>
                <a:cs typeface="Arial" pitchFamily="34" charset="-120"/>
              </a:rPr>
              <a:t>✕</a:t>
            </a:r>
            <a:endParaRPr lang="en-US" sz="1600" dirty="0"/>
          </a:p>
        </p:txBody>
      </p:sp>
      <p:sp>
        <p:nvSpPr>
          <p:cNvPr id="14" name="Text 12"/>
          <p:cNvSpPr/>
          <p:nvPr/>
        </p:nvSpPr>
        <p:spPr>
          <a:xfrm>
            <a:off x="1234440" y="5221224"/>
            <a:ext cx="4572000" cy="685800"/>
          </a:xfrm>
          <a:prstGeom prst="rect">
            <a:avLst/>
          </a:prstGeom>
          <a:noFill/>
          <a:ln/>
        </p:spPr>
        <p:txBody>
          <a:bodyPr wrap="square" rtlCol="0" anchor="t"/>
          <a:lstStyle/>
          <a:p>
            <a:pPr indent="0" marL="0">
              <a:buNone/>
            </a:pPr>
            <a:r>
              <a:rPr lang="en-US" sz="1300" dirty="0">
                <a:solidFill>
                  <a:srgbClr val="5A6B85"/>
                </a:solidFill>
                <a:latin typeface="Arial" pitchFamily="34" charset="0"/>
                <a:ea typeface="Arial" pitchFamily="34" charset="-122"/>
                <a:cs typeface="Arial" pitchFamily="34" charset="-120"/>
              </a:rPr>
              <a:t>Nobody finds out something's wrong until the bill arrives</a:t>
            </a:r>
            <a:endParaRPr lang="en-US" sz="1300" dirty="0"/>
          </a:p>
        </p:txBody>
      </p:sp>
      <p:sp>
        <p:nvSpPr>
          <p:cNvPr id="15" name="Shape 13"/>
          <p:cNvSpPr/>
          <p:nvPr/>
        </p:nvSpPr>
        <p:spPr>
          <a:xfrm>
            <a:off x="6172200" y="2194560"/>
            <a:ext cx="5212080" cy="4023360"/>
          </a:xfrm>
          <a:prstGeom prst="roundRect">
            <a:avLst>
              <a:gd name="adj" fmla="val 2273"/>
            </a:avLst>
          </a:prstGeom>
          <a:solidFill>
            <a:srgbClr val="12243F"/>
          </a:solidFill>
          <a:ln/>
        </p:spPr>
      </p:sp>
      <p:sp>
        <p:nvSpPr>
          <p:cNvPr id="16" name="Text 14"/>
          <p:cNvSpPr/>
          <p:nvPr/>
        </p:nvSpPr>
        <p:spPr>
          <a:xfrm>
            <a:off x="6400800" y="2423160"/>
            <a:ext cx="2743200" cy="365760"/>
          </a:xfrm>
          <a:prstGeom prst="rect">
            <a:avLst/>
          </a:prstGeom>
          <a:noFill/>
          <a:ln/>
        </p:spPr>
        <p:txBody>
          <a:bodyPr wrap="square" rtlCol="0" anchor="ctr"/>
          <a:lstStyle/>
          <a:p>
            <a:pPr indent="0" marL="0">
              <a:buNone/>
            </a:pPr>
            <a:r>
              <a:rPr lang="en-US" sz="1400" b="1" spc="150" kern="0" dirty="0">
                <a:solidFill>
                  <a:srgbClr val="E8A33D"/>
                </a:solidFill>
                <a:latin typeface="Arial" pitchFamily="34" charset="0"/>
                <a:ea typeface="Arial" pitchFamily="34" charset="-122"/>
                <a:cs typeface="Arial" pitchFamily="34" charset="-120"/>
              </a:rPr>
              <a:t>AFTER</a:t>
            </a:r>
            <a:endParaRPr lang="en-US" sz="1400" dirty="0"/>
          </a:p>
        </p:txBody>
      </p:sp>
      <p:pic>
        <p:nvPicPr>
          <p:cNvPr id="17" name="Image 0" descr="preencoded.png"/>
          <p:cNvPicPr>
            <a:picLocks noChangeAspect="1"/>
          </p:cNvPicPr>
          <p:nvPr/>
        </p:nvPicPr>
        <p:blipFill>
          <a:blip r:embed="rId1"/>
          <a:stretch>
            <a:fillRect/>
          </a:stretch>
        </p:blipFill>
        <p:spPr>
          <a:xfrm>
            <a:off x="6373368" y="2999232"/>
            <a:ext cx="292608" cy="292608"/>
          </a:xfrm>
          <a:prstGeom prst="rect">
            <a:avLst/>
          </a:prstGeom>
        </p:spPr>
      </p:pic>
      <p:sp>
        <p:nvSpPr>
          <p:cNvPr id="18" name="Text 15"/>
          <p:cNvSpPr/>
          <p:nvPr/>
        </p:nvSpPr>
        <p:spPr>
          <a:xfrm>
            <a:off x="6793992" y="2971800"/>
            <a:ext cx="4297680" cy="685800"/>
          </a:xfrm>
          <a:prstGeom prst="rect">
            <a:avLst/>
          </a:prstGeom>
          <a:noFill/>
          <a:ln/>
        </p:spPr>
        <p:txBody>
          <a:bodyPr wrap="square" rtlCol="0" anchor="t"/>
          <a:lstStyle/>
          <a:p>
            <a:pPr indent="0" marL="0">
              <a:buNone/>
            </a:pPr>
            <a:r>
              <a:rPr lang="en-US" sz="1300" dirty="0">
                <a:solidFill>
                  <a:srgbClr val="E3E8F1"/>
                </a:solidFill>
                <a:latin typeface="Arial" pitchFamily="34" charset="0"/>
                <a:ea typeface="Arial" pitchFamily="34" charset="-122"/>
                <a:cs typeface="Arial" pitchFamily="34" charset="-120"/>
              </a:rPr>
              <a:t>Senses real occupancy and adjusts airflow automatically</a:t>
            </a:r>
            <a:endParaRPr lang="en-US" sz="1300" dirty="0"/>
          </a:p>
        </p:txBody>
      </p:sp>
      <p:pic>
        <p:nvPicPr>
          <p:cNvPr id="19" name="Image 1" descr="preencoded.png"/>
          <p:cNvPicPr>
            <a:picLocks noChangeAspect="1"/>
          </p:cNvPicPr>
          <p:nvPr/>
        </p:nvPicPr>
        <p:blipFill>
          <a:blip r:embed="rId2"/>
          <a:stretch>
            <a:fillRect/>
          </a:stretch>
        </p:blipFill>
        <p:spPr>
          <a:xfrm>
            <a:off x="6373368" y="3749040"/>
            <a:ext cx="292608" cy="292608"/>
          </a:xfrm>
          <a:prstGeom prst="rect">
            <a:avLst/>
          </a:prstGeom>
        </p:spPr>
      </p:pic>
      <p:sp>
        <p:nvSpPr>
          <p:cNvPr id="20" name="Text 16"/>
          <p:cNvSpPr/>
          <p:nvPr/>
        </p:nvSpPr>
        <p:spPr>
          <a:xfrm>
            <a:off x="6793992" y="3721608"/>
            <a:ext cx="4297680" cy="685800"/>
          </a:xfrm>
          <a:prstGeom prst="rect">
            <a:avLst/>
          </a:prstGeom>
          <a:noFill/>
          <a:ln/>
        </p:spPr>
        <p:txBody>
          <a:bodyPr wrap="square" rtlCol="0" anchor="t"/>
          <a:lstStyle/>
          <a:p>
            <a:pPr indent="0" marL="0">
              <a:buNone/>
            </a:pPr>
            <a:r>
              <a:rPr lang="en-US" sz="1300" dirty="0">
                <a:solidFill>
                  <a:srgbClr val="E3E8F1"/>
                </a:solidFill>
                <a:latin typeface="Arial" pitchFamily="34" charset="0"/>
                <a:ea typeface="Arial" pitchFamily="34" charset="-122"/>
                <a:cs typeface="Arial" pitchFamily="34" charset="-120"/>
              </a:rPr>
              <a:t>Reduces power overnight, on weekends, in empty rooms</a:t>
            </a:r>
            <a:endParaRPr lang="en-US" sz="1300" dirty="0"/>
          </a:p>
        </p:txBody>
      </p:sp>
      <p:pic>
        <p:nvPicPr>
          <p:cNvPr id="21" name="Image 2" descr="preencoded.png"/>
          <p:cNvPicPr>
            <a:picLocks noChangeAspect="1"/>
          </p:cNvPicPr>
          <p:nvPr/>
        </p:nvPicPr>
        <p:blipFill>
          <a:blip r:embed="rId3"/>
          <a:stretch>
            <a:fillRect/>
          </a:stretch>
        </p:blipFill>
        <p:spPr>
          <a:xfrm>
            <a:off x="6373368" y="4498848"/>
            <a:ext cx="292608" cy="292608"/>
          </a:xfrm>
          <a:prstGeom prst="rect">
            <a:avLst/>
          </a:prstGeom>
        </p:spPr>
      </p:pic>
      <p:sp>
        <p:nvSpPr>
          <p:cNvPr id="22" name="Text 17"/>
          <p:cNvSpPr/>
          <p:nvPr/>
        </p:nvSpPr>
        <p:spPr>
          <a:xfrm>
            <a:off x="6793992" y="4471416"/>
            <a:ext cx="4297680" cy="685800"/>
          </a:xfrm>
          <a:prstGeom prst="rect">
            <a:avLst/>
          </a:prstGeom>
          <a:noFill/>
          <a:ln/>
        </p:spPr>
        <p:txBody>
          <a:bodyPr wrap="square" rtlCol="0" anchor="t"/>
          <a:lstStyle/>
          <a:p>
            <a:pPr indent="0" marL="0">
              <a:buNone/>
            </a:pPr>
            <a:r>
              <a:rPr lang="en-US" sz="1300" dirty="0">
                <a:solidFill>
                  <a:srgbClr val="E3E8F1"/>
                </a:solidFill>
                <a:latin typeface="Arial" pitchFamily="34" charset="0"/>
                <a:ea typeface="Arial" pitchFamily="34" charset="-122"/>
                <a:cs typeface="Arial" pitchFamily="34" charset="-120"/>
              </a:rPr>
              <a:t>Shifts heavy cooling to cheaper electricity hours</a:t>
            </a:r>
            <a:endParaRPr lang="en-US" sz="1300" dirty="0"/>
          </a:p>
        </p:txBody>
      </p:sp>
      <p:pic>
        <p:nvPicPr>
          <p:cNvPr id="23" name="Image 3" descr="preencoded.png"/>
          <p:cNvPicPr>
            <a:picLocks noChangeAspect="1"/>
          </p:cNvPicPr>
          <p:nvPr/>
        </p:nvPicPr>
        <p:blipFill>
          <a:blip r:embed="rId4"/>
          <a:stretch>
            <a:fillRect/>
          </a:stretch>
        </p:blipFill>
        <p:spPr>
          <a:xfrm>
            <a:off x="6373368" y="5248656"/>
            <a:ext cx="292608" cy="292608"/>
          </a:xfrm>
          <a:prstGeom prst="rect">
            <a:avLst/>
          </a:prstGeom>
        </p:spPr>
      </p:pic>
      <p:sp>
        <p:nvSpPr>
          <p:cNvPr id="24" name="Text 18"/>
          <p:cNvSpPr/>
          <p:nvPr/>
        </p:nvSpPr>
        <p:spPr>
          <a:xfrm>
            <a:off x="6793992" y="5221224"/>
            <a:ext cx="4297680" cy="685800"/>
          </a:xfrm>
          <a:prstGeom prst="rect">
            <a:avLst/>
          </a:prstGeom>
          <a:noFill/>
          <a:ln/>
        </p:spPr>
        <p:txBody>
          <a:bodyPr wrap="square" rtlCol="0" anchor="t"/>
          <a:lstStyle/>
          <a:p>
            <a:pPr indent="0" marL="0">
              <a:buNone/>
            </a:pPr>
            <a:r>
              <a:rPr lang="en-US" sz="1300" dirty="0">
                <a:solidFill>
                  <a:srgbClr val="E3E8F1"/>
                </a:solidFill>
                <a:latin typeface="Arial" pitchFamily="34" charset="0"/>
                <a:ea typeface="Arial" pitchFamily="34" charset="-122"/>
                <a:cs typeface="Arial" pitchFamily="34" charset="-120"/>
              </a:rPr>
              <a:t>Sends an alert the moment something looks wrong</a:t>
            </a:r>
            <a:endParaRPr lang="en-US" sz="1300" dirty="0"/>
          </a:p>
        </p:txBody>
      </p:sp>
      <p:sp>
        <p:nvSpPr>
          <p:cNvPr id="25" name="Text 19"/>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A6B85"/>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8229600" cy="365760"/>
          </a:xfrm>
          <a:prstGeom prst="rect">
            <a:avLst/>
          </a:prstGeom>
          <a:noFill/>
          <a:ln/>
        </p:spPr>
        <p:txBody>
          <a:bodyPr wrap="square" rtlCol="0" anchor="ctr"/>
          <a:lstStyle/>
          <a:p>
            <a:pPr indent="0" marL="0">
              <a:buNone/>
            </a:pPr>
            <a:r>
              <a:rPr lang="en-US" sz="1300" b="1" spc="200" kern="0" dirty="0">
                <a:solidFill>
                  <a:srgbClr val="C77F1D"/>
                </a:solidFill>
                <a:latin typeface="Arial" pitchFamily="34" charset="0"/>
                <a:ea typeface="Arial" pitchFamily="34" charset="-122"/>
                <a:cs typeface="Arial" pitchFamily="34" charset="-120"/>
              </a:rPr>
              <a:t>REAL EXAMPLE - NOT A HYPOTHETICAL</a:t>
            </a:r>
            <a:endParaRPr lang="en-US" sz="1300" dirty="0"/>
          </a:p>
        </p:txBody>
      </p:sp>
      <p:sp>
        <p:nvSpPr>
          <p:cNvPr id="3" name="Text 1"/>
          <p:cNvSpPr/>
          <p:nvPr/>
        </p:nvSpPr>
        <p:spPr>
          <a:xfrm>
            <a:off x="640080" y="841248"/>
            <a:ext cx="10515600" cy="640080"/>
          </a:xfrm>
          <a:prstGeom prst="rect">
            <a:avLst/>
          </a:prstGeom>
          <a:noFill/>
          <a:ln/>
        </p:spPr>
        <p:txBody>
          <a:bodyPr wrap="square" rtlCol="0" anchor="ctr"/>
          <a:lstStyle/>
          <a:p>
            <a:pPr indent="0" marL="0">
              <a:buNone/>
            </a:pPr>
            <a:r>
              <a:rPr lang="en-US" sz="2700" b="1" dirty="0">
                <a:solidFill>
                  <a:srgbClr val="12243F"/>
                </a:solidFill>
                <a:latin typeface="Cambria" pitchFamily="34" charset="0"/>
                <a:ea typeface="Cambria" pitchFamily="34" charset="-122"/>
                <a:cs typeface="Cambria" pitchFamily="34" charset="-120"/>
              </a:rPr>
              <a:t>Rosemont Plaza: why the audit determines the solution</a:t>
            </a:r>
            <a:endParaRPr lang="en-US" sz="2700" dirty="0"/>
          </a:p>
        </p:txBody>
      </p:sp>
      <p:sp>
        <p:nvSpPr>
          <p:cNvPr id="4" name="Shape 2"/>
          <p:cNvSpPr/>
          <p:nvPr/>
        </p:nvSpPr>
        <p:spPr>
          <a:xfrm>
            <a:off x="640080" y="1691640"/>
            <a:ext cx="3657600" cy="4526280"/>
          </a:xfrm>
          <a:prstGeom prst="roundRect">
            <a:avLst>
              <a:gd name="adj" fmla="val 3000"/>
            </a:avLst>
          </a:prstGeom>
          <a:solidFill>
            <a:srgbClr val="12243F"/>
          </a:solidFill>
          <a:ln/>
        </p:spPr>
      </p:sp>
      <p:pic>
        <p:nvPicPr>
          <p:cNvPr id="5" name="Image 0" descr="preencoded.png"/>
          <p:cNvPicPr>
            <a:picLocks noChangeAspect="1"/>
          </p:cNvPicPr>
          <p:nvPr/>
        </p:nvPicPr>
        <p:blipFill>
          <a:blip r:embed="rId1"/>
          <a:stretch>
            <a:fillRect/>
          </a:stretch>
        </p:blipFill>
        <p:spPr>
          <a:xfrm>
            <a:off x="2103120" y="1965960"/>
            <a:ext cx="731520" cy="731520"/>
          </a:xfrm>
          <a:prstGeom prst="rect">
            <a:avLst/>
          </a:prstGeom>
        </p:spPr>
      </p:pic>
      <p:sp>
        <p:nvSpPr>
          <p:cNvPr id="6" name="Text 3"/>
          <p:cNvSpPr/>
          <p:nvPr/>
        </p:nvSpPr>
        <p:spPr>
          <a:xfrm>
            <a:off x="822960" y="2834640"/>
            <a:ext cx="3291840" cy="411480"/>
          </a:xfrm>
          <a:prstGeom prst="rect">
            <a:avLst/>
          </a:prstGeom>
          <a:noFill/>
          <a:ln/>
        </p:spPr>
        <p:txBody>
          <a:bodyPr wrap="square"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Rosemont Plaza</a:t>
            </a:r>
            <a:endParaRPr lang="en-US" sz="1900" dirty="0"/>
          </a:p>
        </p:txBody>
      </p:sp>
      <p:sp>
        <p:nvSpPr>
          <p:cNvPr id="7" name="Text 4"/>
          <p:cNvSpPr/>
          <p:nvPr/>
        </p:nvSpPr>
        <p:spPr>
          <a:xfrm>
            <a:off x="822960" y="3246120"/>
            <a:ext cx="3291840" cy="548640"/>
          </a:xfrm>
          <a:prstGeom prst="rect">
            <a:avLst/>
          </a:prstGeom>
          <a:noFill/>
          <a:ln/>
        </p:spPr>
        <p:txBody>
          <a:bodyPr wrap="square" rtlCol="0" anchor="ctr"/>
          <a:lstStyle/>
          <a:p>
            <a:pPr algn="ctr" indent="0" marL="0">
              <a:buNone/>
            </a:pPr>
            <a:r>
              <a:rPr lang="en-US" sz="1250" dirty="0">
                <a:solidFill>
                  <a:srgbClr val="C9D2E0"/>
                </a:solidFill>
                <a:latin typeface="Arial" pitchFamily="34" charset="0"/>
                <a:ea typeface="Arial" pitchFamily="34" charset="-122"/>
                <a:cs typeface="Arial" pitchFamily="34" charset="-120"/>
              </a:rPr>
              <a:t>9113 Kiefer Blvd</a:t>
            </a:r>
            <a:endParaRPr lang="en-US" sz="1250" dirty="0"/>
          </a:p>
          <a:p>
            <a:pPr algn="ctr" indent="0" marL="0">
              <a:buNone/>
            </a:pPr>
            <a:r>
              <a:rPr lang="en-US" sz="1250" dirty="0">
                <a:solidFill>
                  <a:srgbClr val="C9D2E0"/>
                </a:solidFill>
                <a:latin typeface="Arial" pitchFamily="34" charset="0"/>
                <a:ea typeface="Arial" pitchFamily="34" charset="-122"/>
                <a:cs typeface="Arial" pitchFamily="34" charset="-120"/>
              </a:rPr>
              <a:t>Sacramento, CA</a:t>
            </a:r>
            <a:endParaRPr lang="en-US" sz="1250" dirty="0"/>
          </a:p>
        </p:txBody>
      </p:sp>
      <p:sp>
        <p:nvSpPr>
          <p:cNvPr id="8" name="Text 5"/>
          <p:cNvSpPr/>
          <p:nvPr/>
        </p:nvSpPr>
        <p:spPr>
          <a:xfrm>
            <a:off x="822960" y="3886200"/>
            <a:ext cx="3291840" cy="256032"/>
          </a:xfrm>
          <a:prstGeom prst="rect">
            <a:avLst/>
          </a:prstGeom>
          <a:noFill/>
          <a:ln/>
        </p:spPr>
        <p:txBody>
          <a:bodyPr wrap="square" rtlCol="0" anchor="ctr"/>
          <a:lstStyle/>
          <a:p>
            <a:pPr algn="ctr" indent="0" marL="0">
              <a:buNone/>
            </a:pPr>
            <a:r>
              <a:rPr lang="en-US" sz="1050" b="1" spc="100" kern="0" dirty="0">
                <a:solidFill>
                  <a:srgbClr val="E8A33D"/>
                </a:solidFill>
                <a:latin typeface="Arial" pitchFamily="34" charset="0"/>
                <a:ea typeface="Arial" pitchFamily="34" charset="-122"/>
                <a:cs typeface="Arial" pitchFamily="34" charset="-120"/>
              </a:rPr>
              <a:t>BUILDING PROFILE</a:t>
            </a:r>
            <a:endParaRPr lang="en-US" sz="1050" dirty="0"/>
          </a:p>
        </p:txBody>
      </p:sp>
      <p:sp>
        <p:nvSpPr>
          <p:cNvPr id="9" name="Text 6"/>
          <p:cNvSpPr/>
          <p:nvPr/>
        </p:nvSpPr>
        <p:spPr>
          <a:xfrm>
            <a:off x="822960" y="4142232"/>
            <a:ext cx="3291840" cy="457200"/>
          </a:xfrm>
          <a:prstGeom prst="rect">
            <a:avLst/>
          </a:prstGeom>
          <a:noFill/>
          <a:ln/>
        </p:spPr>
        <p:txBody>
          <a:bodyPr wrap="square" rtlCol="0" anchor="ctr"/>
          <a:lstStyle/>
          <a:p>
            <a:pPr algn="ctr" indent="0" marL="0">
              <a:buNone/>
            </a:pPr>
            <a:r>
              <a:rPr lang="en-US" sz="1250" dirty="0">
                <a:solidFill>
                  <a:srgbClr val="FFFFFF"/>
                </a:solidFill>
                <a:latin typeface="Arial" pitchFamily="34" charset="0"/>
                <a:ea typeface="Arial" pitchFamily="34" charset="-122"/>
                <a:cs typeface="Arial" pitchFamily="34" charset="-120"/>
              </a:rPr>
              <a:t>12,876 sq ft - multi-tenant inline retail, 1978</a:t>
            </a:r>
            <a:endParaRPr lang="en-US" sz="1250" dirty="0"/>
          </a:p>
        </p:txBody>
      </p:sp>
      <p:sp>
        <p:nvSpPr>
          <p:cNvPr id="10" name="Text 7"/>
          <p:cNvSpPr/>
          <p:nvPr/>
        </p:nvSpPr>
        <p:spPr>
          <a:xfrm>
            <a:off x="822960" y="4599432"/>
            <a:ext cx="3291840" cy="256032"/>
          </a:xfrm>
          <a:prstGeom prst="rect">
            <a:avLst/>
          </a:prstGeom>
          <a:noFill/>
          <a:ln/>
        </p:spPr>
        <p:txBody>
          <a:bodyPr wrap="square" rtlCol="0" anchor="ctr"/>
          <a:lstStyle/>
          <a:p>
            <a:pPr algn="ctr" indent="0" marL="0">
              <a:buNone/>
            </a:pPr>
            <a:r>
              <a:rPr lang="en-US" sz="1050" b="1" spc="100" kern="0" dirty="0">
                <a:solidFill>
                  <a:srgbClr val="E8A33D"/>
                </a:solidFill>
                <a:latin typeface="Arial" pitchFamily="34" charset="0"/>
                <a:ea typeface="Arial" pitchFamily="34" charset="-122"/>
                <a:cs typeface="Arial" pitchFamily="34" charset="-120"/>
              </a:rPr>
              <a:t>HISTORY</a:t>
            </a:r>
            <a:endParaRPr lang="en-US" sz="1050" dirty="0"/>
          </a:p>
        </p:txBody>
      </p:sp>
      <p:sp>
        <p:nvSpPr>
          <p:cNvPr id="11" name="Text 8"/>
          <p:cNvSpPr/>
          <p:nvPr/>
        </p:nvSpPr>
        <p:spPr>
          <a:xfrm>
            <a:off x="822960" y="4855464"/>
            <a:ext cx="3291840" cy="457200"/>
          </a:xfrm>
          <a:prstGeom prst="rect">
            <a:avLst/>
          </a:prstGeom>
          <a:noFill/>
          <a:ln/>
        </p:spPr>
        <p:txBody>
          <a:bodyPr wrap="square" rtlCol="0" anchor="ctr"/>
          <a:lstStyle/>
          <a:p>
            <a:pPr algn="ctr" indent="0" marL="0">
              <a:buNone/>
            </a:pPr>
            <a:r>
              <a:rPr lang="en-US" sz="1250" dirty="0">
                <a:solidFill>
                  <a:srgbClr val="FFFFFF"/>
                </a:solidFill>
                <a:latin typeface="Arial" pitchFamily="34" charset="0"/>
                <a:ea typeface="Arial" pitchFamily="34" charset="-122"/>
                <a:cs typeface="Arial" pitchFamily="34" charset="-120"/>
              </a:rPr>
              <a:t>Owned since 1986</a:t>
            </a:r>
            <a:endParaRPr lang="en-US" sz="1250" dirty="0"/>
          </a:p>
        </p:txBody>
      </p:sp>
      <p:sp>
        <p:nvSpPr>
          <p:cNvPr id="12" name="Text 9"/>
          <p:cNvSpPr/>
          <p:nvPr/>
        </p:nvSpPr>
        <p:spPr>
          <a:xfrm>
            <a:off x="822960" y="5312664"/>
            <a:ext cx="3291840" cy="256032"/>
          </a:xfrm>
          <a:prstGeom prst="rect">
            <a:avLst/>
          </a:prstGeom>
          <a:noFill/>
          <a:ln/>
        </p:spPr>
        <p:txBody>
          <a:bodyPr wrap="square" rtlCol="0" anchor="ctr"/>
          <a:lstStyle/>
          <a:p>
            <a:pPr algn="ctr" indent="0" marL="0">
              <a:buNone/>
            </a:pPr>
            <a:r>
              <a:rPr lang="en-US" sz="1050" b="1" spc="100" kern="0" dirty="0">
                <a:solidFill>
                  <a:srgbClr val="E8A33D"/>
                </a:solidFill>
                <a:latin typeface="Arial" pitchFamily="34" charset="0"/>
                <a:ea typeface="Arial" pitchFamily="34" charset="-122"/>
                <a:cs typeface="Arial" pitchFamily="34" charset="-120"/>
              </a:rPr>
              <a:t>LEASE TYPE</a:t>
            </a:r>
            <a:endParaRPr lang="en-US" sz="1050" dirty="0"/>
          </a:p>
        </p:txBody>
      </p:sp>
      <p:sp>
        <p:nvSpPr>
          <p:cNvPr id="13" name="Text 10"/>
          <p:cNvSpPr/>
          <p:nvPr/>
        </p:nvSpPr>
        <p:spPr>
          <a:xfrm>
            <a:off x="822960" y="5568696"/>
            <a:ext cx="3291840" cy="457200"/>
          </a:xfrm>
          <a:prstGeom prst="rect">
            <a:avLst/>
          </a:prstGeom>
          <a:noFill/>
          <a:ln/>
        </p:spPr>
        <p:txBody>
          <a:bodyPr wrap="square" rtlCol="0" anchor="ctr"/>
          <a:lstStyle/>
          <a:p>
            <a:pPr algn="ctr" indent="0" marL="0">
              <a:buNone/>
            </a:pPr>
            <a:r>
              <a:rPr lang="en-US" sz="1250" dirty="0">
                <a:solidFill>
                  <a:srgbClr val="FFFFFF"/>
                </a:solidFill>
                <a:latin typeface="Arial" pitchFamily="34" charset="0"/>
                <a:ea typeface="Arial" pitchFamily="34" charset="-122"/>
                <a:cs typeface="Arial" pitchFamily="34" charset="-120"/>
              </a:rPr>
              <a:t>Confirmed Full Service -</a:t>
            </a:r>
            <a:endParaRPr lang="en-US" sz="1250" dirty="0"/>
          </a:p>
          <a:p>
            <a:pPr algn="ctr" indent="0" marL="0">
              <a:buNone/>
            </a:pPr>
            <a:r>
              <a:rPr lang="en-US" sz="1250" dirty="0">
                <a:solidFill>
                  <a:srgbClr val="FFFFFF"/>
                </a:solidFill>
                <a:latin typeface="Arial" pitchFamily="34" charset="0"/>
                <a:ea typeface="Arial" pitchFamily="34" charset="-122"/>
                <a:cs typeface="Arial" pitchFamily="34" charset="-120"/>
              </a:rPr>
              <a:t>landlord pays 100% of utilities</a:t>
            </a:r>
            <a:endParaRPr lang="en-US" sz="1250" dirty="0"/>
          </a:p>
        </p:txBody>
      </p:sp>
      <p:sp>
        <p:nvSpPr>
          <p:cNvPr id="14" name="Text 11"/>
          <p:cNvSpPr/>
          <p:nvPr/>
        </p:nvSpPr>
        <p:spPr>
          <a:xfrm>
            <a:off x="4663440" y="1691640"/>
            <a:ext cx="6858000" cy="320040"/>
          </a:xfrm>
          <a:prstGeom prst="rect">
            <a:avLst/>
          </a:prstGeom>
          <a:noFill/>
          <a:ln/>
        </p:spPr>
        <p:txBody>
          <a:bodyPr wrap="square" rtlCol="0" anchor="ctr"/>
          <a:lstStyle/>
          <a:p>
            <a:pPr indent="0" marL="0">
              <a:buNone/>
            </a:pPr>
            <a:r>
              <a:rPr lang="en-US" sz="1250" b="1" spc="50" kern="0" dirty="0">
                <a:solidFill>
                  <a:srgbClr val="5A6B85"/>
                </a:solidFill>
                <a:latin typeface="Arial" pitchFamily="34" charset="0"/>
                <a:ea typeface="Arial" pitchFamily="34" charset="-122"/>
                <a:cs typeface="Arial" pitchFamily="34" charset="-120"/>
              </a:rPr>
              <a:t>HOW I VERIFIED THIS BEFORE EVER CONTACTING THE OWNER</a:t>
            </a:r>
            <a:endParaRPr lang="en-US" sz="1250" dirty="0"/>
          </a:p>
        </p:txBody>
      </p:sp>
      <p:sp>
        <p:nvSpPr>
          <p:cNvPr id="15" name="Shape 12"/>
          <p:cNvSpPr/>
          <p:nvPr/>
        </p:nvSpPr>
        <p:spPr>
          <a:xfrm>
            <a:off x="4663440" y="2103120"/>
            <a:ext cx="457200" cy="457200"/>
          </a:xfrm>
          <a:prstGeom prst="oval">
            <a:avLst/>
          </a:prstGeom>
          <a:solidFill>
            <a:srgbClr val="E8A33D"/>
          </a:solidFill>
          <a:ln/>
        </p:spPr>
      </p:sp>
      <p:sp>
        <p:nvSpPr>
          <p:cNvPr id="16" name="Text 13"/>
          <p:cNvSpPr/>
          <p:nvPr/>
        </p:nvSpPr>
        <p:spPr>
          <a:xfrm>
            <a:off x="4663440" y="2103120"/>
            <a:ext cx="457200" cy="457200"/>
          </a:xfrm>
          <a:prstGeom prst="rect">
            <a:avLst/>
          </a:prstGeom>
          <a:noFill/>
          <a:ln/>
        </p:spPr>
        <p:txBody>
          <a:bodyPr wrap="square" rtlCol="0" anchor="ctr"/>
          <a:lstStyle/>
          <a:p>
            <a:pPr algn="ctr" indent="0" marL="0">
              <a:buNone/>
            </a:pPr>
            <a:r>
              <a:rPr lang="en-US" sz="1600" b="1" dirty="0">
                <a:solidFill>
                  <a:srgbClr val="12243F"/>
                </a:solidFill>
                <a:latin typeface="Arial" pitchFamily="34" charset="0"/>
                <a:ea typeface="Arial" pitchFamily="34" charset="-122"/>
                <a:cs typeface="Arial" pitchFamily="34" charset="-120"/>
              </a:rPr>
              <a:t>1</a:t>
            </a:r>
            <a:endParaRPr lang="en-US" sz="1600" dirty="0"/>
          </a:p>
        </p:txBody>
      </p:sp>
      <p:sp>
        <p:nvSpPr>
          <p:cNvPr id="17" name="Text 14"/>
          <p:cNvSpPr/>
          <p:nvPr/>
        </p:nvSpPr>
        <p:spPr>
          <a:xfrm>
            <a:off x="5303520" y="2057400"/>
            <a:ext cx="6217920" cy="594360"/>
          </a:xfrm>
          <a:prstGeom prst="rect">
            <a:avLst/>
          </a:prstGeom>
          <a:noFill/>
          <a:ln/>
        </p:spPr>
        <p:txBody>
          <a:bodyPr wrap="square" rtlCol="0" anchor="ctr"/>
          <a:lstStyle/>
          <a:p>
            <a:pPr indent="0" marL="0">
              <a:buNone/>
            </a:pPr>
            <a:r>
              <a:rPr lang="en-US" sz="1350" dirty="0">
                <a:solidFill>
                  <a:srgbClr val="12243F"/>
                </a:solidFill>
                <a:latin typeface="Arial" pitchFamily="34" charset="0"/>
                <a:ea typeface="Arial" pitchFamily="34" charset="-122"/>
                <a:cs typeface="Arial" pitchFamily="34" charset="-120"/>
              </a:rPr>
              <a:t>Pulled county assessor records to confirm size, year built (1978), and zoning (SC - Shopping Center)</a:t>
            </a:r>
            <a:endParaRPr lang="en-US" sz="1350" dirty="0"/>
          </a:p>
        </p:txBody>
      </p:sp>
      <p:sp>
        <p:nvSpPr>
          <p:cNvPr id="18" name="Shape 15"/>
          <p:cNvSpPr/>
          <p:nvPr/>
        </p:nvSpPr>
        <p:spPr>
          <a:xfrm>
            <a:off x="4663440" y="2880360"/>
            <a:ext cx="457200" cy="457200"/>
          </a:xfrm>
          <a:prstGeom prst="oval">
            <a:avLst/>
          </a:prstGeom>
          <a:solidFill>
            <a:srgbClr val="E8A33D"/>
          </a:solidFill>
          <a:ln/>
        </p:spPr>
      </p:sp>
      <p:sp>
        <p:nvSpPr>
          <p:cNvPr id="19" name="Text 16"/>
          <p:cNvSpPr/>
          <p:nvPr/>
        </p:nvSpPr>
        <p:spPr>
          <a:xfrm>
            <a:off x="4663440" y="2880360"/>
            <a:ext cx="457200" cy="457200"/>
          </a:xfrm>
          <a:prstGeom prst="rect">
            <a:avLst/>
          </a:prstGeom>
          <a:noFill/>
          <a:ln/>
        </p:spPr>
        <p:txBody>
          <a:bodyPr wrap="square" rtlCol="0" anchor="ctr"/>
          <a:lstStyle/>
          <a:p>
            <a:pPr algn="ctr" indent="0" marL="0">
              <a:buNone/>
            </a:pPr>
            <a:r>
              <a:rPr lang="en-US" sz="1600" b="1" dirty="0">
                <a:solidFill>
                  <a:srgbClr val="12243F"/>
                </a:solidFill>
                <a:latin typeface="Arial" pitchFamily="34" charset="0"/>
                <a:ea typeface="Arial" pitchFamily="34" charset="-122"/>
                <a:cs typeface="Arial" pitchFamily="34" charset="-120"/>
              </a:rPr>
              <a:t>2</a:t>
            </a:r>
            <a:endParaRPr lang="en-US" sz="1600" dirty="0"/>
          </a:p>
        </p:txBody>
      </p:sp>
      <p:sp>
        <p:nvSpPr>
          <p:cNvPr id="20" name="Text 17"/>
          <p:cNvSpPr/>
          <p:nvPr/>
        </p:nvSpPr>
        <p:spPr>
          <a:xfrm>
            <a:off x="5303520" y="2834640"/>
            <a:ext cx="6217920" cy="594360"/>
          </a:xfrm>
          <a:prstGeom prst="rect">
            <a:avLst/>
          </a:prstGeom>
          <a:noFill/>
          <a:ln/>
        </p:spPr>
        <p:txBody>
          <a:bodyPr wrap="square" rtlCol="0" anchor="ctr"/>
          <a:lstStyle/>
          <a:p>
            <a:pPr indent="0" marL="0">
              <a:buNone/>
            </a:pPr>
            <a:r>
              <a:rPr lang="en-US" sz="1350" dirty="0">
                <a:solidFill>
                  <a:srgbClr val="12243F"/>
                </a:solidFill>
                <a:latin typeface="Arial" pitchFamily="34" charset="0"/>
                <a:ea typeface="Arial" pitchFamily="34" charset="-122"/>
                <a:cs typeface="Arial" pitchFamily="34" charset="-120"/>
              </a:rPr>
              <a:t>Confirmed Full Service lease via public LoopNet listing and broker call - landlord pays all utilities directly, no pass-through to tenants</a:t>
            </a:r>
            <a:endParaRPr lang="en-US" sz="1350" dirty="0"/>
          </a:p>
        </p:txBody>
      </p:sp>
      <p:sp>
        <p:nvSpPr>
          <p:cNvPr id="21" name="Shape 18"/>
          <p:cNvSpPr/>
          <p:nvPr/>
        </p:nvSpPr>
        <p:spPr>
          <a:xfrm>
            <a:off x="4663440" y="3657600"/>
            <a:ext cx="457200" cy="457200"/>
          </a:xfrm>
          <a:prstGeom prst="oval">
            <a:avLst/>
          </a:prstGeom>
          <a:solidFill>
            <a:srgbClr val="E8A33D"/>
          </a:solidFill>
          <a:ln/>
        </p:spPr>
      </p:sp>
      <p:sp>
        <p:nvSpPr>
          <p:cNvPr id="22" name="Text 19"/>
          <p:cNvSpPr/>
          <p:nvPr/>
        </p:nvSpPr>
        <p:spPr>
          <a:xfrm>
            <a:off x="4663440" y="3657600"/>
            <a:ext cx="457200" cy="457200"/>
          </a:xfrm>
          <a:prstGeom prst="rect">
            <a:avLst/>
          </a:prstGeom>
          <a:noFill/>
          <a:ln/>
        </p:spPr>
        <p:txBody>
          <a:bodyPr wrap="square" rtlCol="0" anchor="ctr"/>
          <a:lstStyle/>
          <a:p>
            <a:pPr algn="ctr" indent="0" marL="0">
              <a:buNone/>
            </a:pPr>
            <a:r>
              <a:rPr lang="en-US" sz="1600" b="1" dirty="0">
                <a:solidFill>
                  <a:srgbClr val="12243F"/>
                </a:solidFill>
                <a:latin typeface="Arial" pitchFamily="34" charset="0"/>
                <a:ea typeface="Arial" pitchFamily="34" charset="-122"/>
                <a:cs typeface="Arial" pitchFamily="34" charset="-120"/>
              </a:rPr>
              <a:t>3</a:t>
            </a:r>
            <a:endParaRPr lang="en-US" sz="1600" dirty="0"/>
          </a:p>
        </p:txBody>
      </p:sp>
      <p:sp>
        <p:nvSpPr>
          <p:cNvPr id="23" name="Text 20"/>
          <p:cNvSpPr/>
          <p:nvPr/>
        </p:nvSpPr>
        <p:spPr>
          <a:xfrm>
            <a:off x="5303520" y="3611880"/>
            <a:ext cx="6217920" cy="594360"/>
          </a:xfrm>
          <a:prstGeom prst="rect">
            <a:avLst/>
          </a:prstGeom>
          <a:noFill/>
          <a:ln/>
        </p:spPr>
        <p:txBody>
          <a:bodyPr wrap="square" rtlCol="0" anchor="ctr"/>
          <a:lstStyle/>
          <a:p>
            <a:pPr indent="0" marL="0">
              <a:buNone/>
            </a:pPr>
            <a:r>
              <a:rPr lang="en-US" sz="1350" dirty="0">
                <a:solidFill>
                  <a:srgbClr val="12243F"/>
                </a:solidFill>
                <a:latin typeface="Arial" pitchFamily="34" charset="0"/>
                <a:ea typeface="Arial" pitchFamily="34" charset="-122"/>
                <a:cs typeface="Arial" pitchFamily="34" charset="-120"/>
              </a:rPr>
              <a:t>Determined HVAC type on-site: 1978 inline retail strip with independent tenant bays = individual package RTUs per suite. No shared air handlers. Smart thermostat path confirmed over BAS.</a:t>
            </a:r>
            <a:endParaRPr lang="en-US" sz="1350" dirty="0"/>
          </a:p>
        </p:txBody>
      </p:sp>
      <p:sp>
        <p:nvSpPr>
          <p:cNvPr id="24" name="Shape 21"/>
          <p:cNvSpPr/>
          <p:nvPr/>
        </p:nvSpPr>
        <p:spPr>
          <a:xfrm>
            <a:off x="4663440" y="4480560"/>
            <a:ext cx="6858000" cy="0"/>
          </a:xfrm>
          <a:prstGeom prst="line">
            <a:avLst/>
          </a:prstGeom>
          <a:noFill/>
          <a:ln w="12700">
            <a:solidFill>
              <a:srgbClr val="E0E0E0"/>
            </a:solidFill>
            <a:prstDash val="solid"/>
          </a:ln>
        </p:spPr>
      </p:sp>
      <p:sp>
        <p:nvSpPr>
          <p:cNvPr id="25" name="Text 22"/>
          <p:cNvSpPr/>
          <p:nvPr/>
        </p:nvSpPr>
        <p:spPr>
          <a:xfrm>
            <a:off x="4663440" y="4709160"/>
            <a:ext cx="6858000" cy="274320"/>
          </a:xfrm>
          <a:prstGeom prst="rect">
            <a:avLst/>
          </a:prstGeom>
          <a:noFill/>
          <a:ln/>
        </p:spPr>
        <p:txBody>
          <a:bodyPr wrap="square" rtlCol="0" anchor="ctr"/>
          <a:lstStyle/>
          <a:p>
            <a:pPr indent="0" marL="0">
              <a:buNone/>
            </a:pPr>
            <a:r>
              <a:rPr lang="en-US" sz="1250" b="1" spc="50" kern="0" dirty="0">
                <a:solidFill>
                  <a:srgbClr val="5A6B85"/>
                </a:solidFill>
                <a:latin typeface="Arial" pitchFamily="34" charset="0"/>
                <a:ea typeface="Arial" pitchFamily="34" charset="-122"/>
                <a:cs typeface="Arial" pitchFamily="34" charset="-120"/>
              </a:rPr>
              <a:t>WHY THIS MATTERS</a:t>
            </a:r>
            <a:endParaRPr lang="en-US" sz="1250" dirty="0"/>
          </a:p>
        </p:txBody>
      </p:sp>
      <p:sp>
        <p:nvSpPr>
          <p:cNvPr id="26" name="Text 23"/>
          <p:cNvSpPr/>
          <p:nvPr/>
        </p:nvSpPr>
        <p:spPr>
          <a:xfrm>
            <a:off x="4663440" y="5074920"/>
            <a:ext cx="6858000" cy="1188720"/>
          </a:xfrm>
          <a:prstGeom prst="rect">
            <a:avLst/>
          </a:prstGeom>
          <a:noFill/>
          <a:ln/>
        </p:spPr>
        <p:txBody>
          <a:bodyPr wrap="square" rtlCol="0" anchor="ctr"/>
          <a:lstStyle/>
          <a:p>
            <a:pPr indent="0" marL="0">
              <a:buNone/>
            </a:pPr>
            <a:r>
              <a:rPr lang="en-US" sz="1350" dirty="0">
                <a:solidFill>
                  <a:srgbClr val="12243F"/>
                </a:solidFill>
                <a:latin typeface="Arial" pitchFamily="34" charset="0"/>
                <a:ea typeface="Arial" pitchFamily="34" charset="-122"/>
                <a:cs typeface="Arial" pitchFamily="34" charset="-120"/>
              </a:rPr>
              <a:t>The audit does two jobs at once: (1) confirm the landlord pays utilities - which means they feel every dollar of waste - and (2) determine the equipment type. A 1978 retail strip with individual tenant bays runs independent package RTUs, not shared air handlers. That means smart thermostats outperform BAS on both cost and payback for this specific building.</a:t>
            </a:r>
            <a:endParaRPr lang="en-US" sz="1350" dirty="0"/>
          </a:p>
        </p:txBody>
      </p:sp>
      <p:sp>
        <p:nvSpPr>
          <p:cNvPr id="27" name="Text 24"/>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A6B85"/>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243F"/>
        </a:solidFill>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rtlCol="0" anchor="ctr"/>
          <a:lstStyle/>
          <a:p>
            <a:pPr indent="0" marL="0">
              <a:buNone/>
            </a:pPr>
            <a:r>
              <a:rPr lang="en-US" sz="1300" b="1" spc="200" kern="0" dirty="0">
                <a:solidFill>
                  <a:srgbClr val="E8A33D"/>
                </a:solidFill>
                <a:latin typeface="Arial" pitchFamily="34" charset="0"/>
                <a:ea typeface="Arial" pitchFamily="34" charset="-122"/>
                <a:cs typeface="Arial" pitchFamily="34" charset="-120"/>
              </a:rPr>
              <a:t>THE NUMBERS</a:t>
            </a:r>
            <a:endParaRPr lang="en-US" sz="1300" dirty="0"/>
          </a:p>
        </p:txBody>
      </p:sp>
      <p:sp>
        <p:nvSpPr>
          <p:cNvPr id="3" name="Text 1"/>
          <p:cNvSpPr/>
          <p:nvPr/>
        </p:nvSpPr>
        <p:spPr>
          <a:xfrm>
            <a:off x="640080" y="841248"/>
            <a:ext cx="10698480" cy="6400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Rosemont Plaza: smart thermostat ROI - verified numbers</a:t>
            </a:r>
            <a:endParaRPr lang="en-US" sz="2600" dirty="0"/>
          </a:p>
        </p:txBody>
      </p:sp>
      <p:sp>
        <p:nvSpPr>
          <p:cNvPr id="4" name="Shape 2"/>
          <p:cNvSpPr/>
          <p:nvPr/>
        </p:nvSpPr>
        <p:spPr>
          <a:xfrm>
            <a:off x="640080" y="1691640"/>
            <a:ext cx="3246120" cy="2286000"/>
          </a:xfrm>
          <a:prstGeom prst="roundRect">
            <a:avLst>
              <a:gd name="adj" fmla="val 4000"/>
            </a:avLst>
          </a:prstGeom>
          <a:solidFill>
            <a:srgbClr val="1B3358"/>
          </a:solidFill>
          <a:ln/>
        </p:spPr>
      </p:sp>
      <p:sp>
        <p:nvSpPr>
          <p:cNvPr id="5" name="Text 3"/>
          <p:cNvSpPr/>
          <p:nvPr/>
        </p:nvSpPr>
        <p:spPr>
          <a:xfrm>
            <a:off x="640080" y="1874520"/>
            <a:ext cx="3246120" cy="274320"/>
          </a:xfrm>
          <a:prstGeom prst="rect">
            <a:avLst/>
          </a:prstGeom>
          <a:noFill/>
          <a:ln/>
        </p:spPr>
        <p:txBody>
          <a:bodyPr wrap="square" rtlCol="0" anchor="ctr"/>
          <a:lstStyle/>
          <a:p>
            <a:pPr algn="ctr" indent="0" marL="0">
              <a:buNone/>
            </a:pPr>
            <a:r>
              <a:rPr lang="en-US" sz="1150" b="1" spc="100" kern="0" dirty="0">
                <a:solidFill>
                  <a:srgbClr val="8B9AB5"/>
                </a:solidFill>
                <a:latin typeface="Arial" pitchFamily="34" charset="0"/>
                <a:ea typeface="Arial" pitchFamily="34" charset="-122"/>
                <a:cs typeface="Arial" pitchFamily="34" charset="-120"/>
              </a:rPr>
              <a:t>CONSERVATIVE</a:t>
            </a:r>
            <a:endParaRPr lang="en-US" sz="1150" dirty="0"/>
          </a:p>
        </p:txBody>
      </p:sp>
      <p:sp>
        <p:nvSpPr>
          <p:cNvPr id="6" name="Text 4"/>
          <p:cNvSpPr/>
          <p:nvPr/>
        </p:nvSpPr>
        <p:spPr>
          <a:xfrm>
            <a:off x="640080" y="2167128"/>
            <a:ext cx="3246120" cy="320040"/>
          </a:xfrm>
          <a:prstGeom prst="rect">
            <a:avLst/>
          </a:prstGeom>
          <a:noFill/>
          <a:ln/>
        </p:spPr>
        <p:txBody>
          <a:bodyPr wrap="square" rtlCol="0" anchor="ctr"/>
          <a:lstStyle/>
          <a:p>
            <a:pPr algn="ctr" indent="0" marL="0">
              <a:buNone/>
            </a:pPr>
            <a:r>
              <a:rPr lang="en-US" sz="1300" dirty="0">
                <a:solidFill>
                  <a:srgbClr val="C9D2E0"/>
                </a:solidFill>
                <a:latin typeface="Arial" pitchFamily="34" charset="0"/>
                <a:ea typeface="Arial" pitchFamily="34" charset="-122"/>
                <a:cs typeface="Arial" pitchFamily="34" charset="-120"/>
              </a:rPr>
              <a:t>15% savings — conservative floor</a:t>
            </a:r>
            <a:endParaRPr lang="en-US" sz="1300" dirty="0"/>
          </a:p>
        </p:txBody>
      </p:sp>
      <p:sp>
        <p:nvSpPr>
          <p:cNvPr id="7" name="Text 5"/>
          <p:cNvSpPr/>
          <p:nvPr/>
        </p:nvSpPr>
        <p:spPr>
          <a:xfrm>
            <a:off x="640080" y="2496312"/>
            <a:ext cx="3246120" cy="685800"/>
          </a:xfrm>
          <a:prstGeom prst="rect">
            <a:avLst/>
          </a:prstGeom>
          <a:noFill/>
          <a:ln/>
        </p:spPr>
        <p:txBody>
          <a:bodyPr wrap="square"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$1,192</a:t>
            </a:r>
            <a:endParaRPr lang="en-US" sz="3200" dirty="0"/>
          </a:p>
        </p:txBody>
      </p:sp>
      <p:sp>
        <p:nvSpPr>
          <p:cNvPr id="8" name="Text 6"/>
          <p:cNvSpPr/>
          <p:nvPr/>
        </p:nvSpPr>
        <p:spPr>
          <a:xfrm>
            <a:off x="640080" y="3154680"/>
            <a:ext cx="3246120" cy="274320"/>
          </a:xfrm>
          <a:prstGeom prst="rect">
            <a:avLst/>
          </a:prstGeom>
          <a:noFill/>
          <a:ln/>
        </p:spPr>
        <p:txBody>
          <a:bodyPr wrap="square" rtlCol="0" anchor="ctr"/>
          <a:lstStyle/>
          <a:p>
            <a:pPr algn="ctr" indent="0" marL="0">
              <a:buNone/>
            </a:pPr>
            <a:r>
              <a:rPr lang="en-US" sz="1100" dirty="0">
                <a:solidFill>
                  <a:srgbClr val="8B9AB5"/>
                </a:solidFill>
                <a:latin typeface="Arial" pitchFamily="34" charset="0"/>
                <a:ea typeface="Arial" pitchFamily="34" charset="-122"/>
                <a:cs typeface="Arial" pitchFamily="34" charset="-120"/>
              </a:rPr>
              <a:t>per year</a:t>
            </a:r>
            <a:endParaRPr lang="en-US" sz="1100" dirty="0"/>
          </a:p>
        </p:txBody>
      </p:sp>
      <p:sp>
        <p:nvSpPr>
          <p:cNvPr id="9" name="Text 7"/>
          <p:cNvSpPr/>
          <p:nvPr/>
        </p:nvSpPr>
        <p:spPr>
          <a:xfrm>
            <a:off x="640080" y="3520440"/>
            <a:ext cx="3246120" cy="320040"/>
          </a:xfrm>
          <a:prstGeom prst="rect">
            <a:avLst/>
          </a:prstGeom>
          <a:noFill/>
          <a:ln/>
        </p:spPr>
        <p:txBody>
          <a:bodyPr wrap="square" rtlCol="0" anchor="ctr"/>
          <a:lstStyle/>
          <a:p>
            <a:pPr algn="ctr" indent="0" marL="0">
              <a:buNone/>
            </a:pPr>
            <a:r>
              <a:rPr lang="en-US" sz="1200" dirty="0">
                <a:solidFill>
                  <a:srgbClr val="C9D2E0"/>
                </a:solidFill>
                <a:latin typeface="Arial" pitchFamily="34" charset="0"/>
                <a:ea typeface="Arial" pitchFamily="34" charset="-122"/>
                <a:cs typeface="Arial" pitchFamily="34" charset="-120"/>
              </a:rPr>
              <a:t>Gross payback: 1.5 yrs
Net payback (after SMUD rebate): 1.3 yrs</a:t>
            </a:r>
            <a:endParaRPr lang="en-US" sz="1200" dirty="0"/>
          </a:p>
        </p:txBody>
      </p:sp>
      <p:sp>
        <p:nvSpPr>
          <p:cNvPr id="10" name="Shape 8"/>
          <p:cNvSpPr/>
          <p:nvPr/>
        </p:nvSpPr>
        <p:spPr>
          <a:xfrm>
            <a:off x="4160520" y="1691640"/>
            <a:ext cx="3246120" cy="2286000"/>
          </a:xfrm>
          <a:prstGeom prst="roundRect">
            <a:avLst>
              <a:gd name="adj" fmla="val 4000"/>
            </a:avLst>
          </a:prstGeom>
          <a:solidFill>
            <a:srgbClr val="E8A33D"/>
          </a:solidFill>
          <a:ln/>
        </p:spPr>
      </p:sp>
      <p:sp>
        <p:nvSpPr>
          <p:cNvPr id="11" name="Text 9"/>
          <p:cNvSpPr/>
          <p:nvPr/>
        </p:nvSpPr>
        <p:spPr>
          <a:xfrm>
            <a:off x="4160520" y="1874520"/>
            <a:ext cx="3246120" cy="274320"/>
          </a:xfrm>
          <a:prstGeom prst="rect">
            <a:avLst/>
          </a:prstGeom>
          <a:noFill/>
          <a:ln/>
        </p:spPr>
        <p:txBody>
          <a:bodyPr wrap="square" rtlCol="0" anchor="ctr"/>
          <a:lstStyle/>
          <a:p>
            <a:pPr algn="ctr" indent="0" marL="0">
              <a:buNone/>
            </a:pPr>
            <a:r>
              <a:rPr lang="en-US" sz="1150" b="1" spc="100" kern="0" dirty="0">
                <a:solidFill>
                  <a:srgbClr val="12243F"/>
                </a:solidFill>
                <a:latin typeface="Arial" pitchFamily="34" charset="0"/>
                <a:ea typeface="Arial" pitchFamily="34" charset="-122"/>
                <a:cs typeface="Arial" pitchFamily="34" charset="-120"/>
              </a:rPr>
              <a:t>REALISTIC</a:t>
            </a:r>
            <a:endParaRPr lang="en-US" sz="1150" dirty="0"/>
          </a:p>
        </p:txBody>
      </p:sp>
      <p:sp>
        <p:nvSpPr>
          <p:cNvPr id="12" name="Text 10"/>
          <p:cNvSpPr/>
          <p:nvPr/>
        </p:nvSpPr>
        <p:spPr>
          <a:xfrm>
            <a:off x="4160520" y="2167128"/>
            <a:ext cx="3246120" cy="320040"/>
          </a:xfrm>
          <a:prstGeom prst="rect">
            <a:avLst/>
          </a:prstGeom>
          <a:noFill/>
          <a:ln/>
        </p:spPr>
        <p:txBody>
          <a:bodyPr wrap="square" rtlCol="0" anchor="ctr"/>
          <a:lstStyle/>
          <a:p>
            <a:pPr algn="ctr" indent="0" marL="0">
              <a:buNone/>
            </a:pPr>
            <a:r>
              <a:rPr lang="en-US" sz="1300" dirty="0">
                <a:solidFill>
                  <a:srgbClr val="12243F"/>
                </a:solidFill>
                <a:latin typeface="Arial" pitchFamily="34" charset="0"/>
                <a:ea typeface="Arial" pitchFamily="34" charset="-122"/>
                <a:cs typeface="Arial" pitchFamily="34" charset="-120"/>
              </a:rPr>
              <a:t>23% savings — scheduling + TOU + occupancy</a:t>
            </a:r>
            <a:endParaRPr lang="en-US" sz="1300" dirty="0"/>
          </a:p>
        </p:txBody>
      </p:sp>
      <p:sp>
        <p:nvSpPr>
          <p:cNvPr id="13" name="Text 11"/>
          <p:cNvSpPr/>
          <p:nvPr/>
        </p:nvSpPr>
        <p:spPr>
          <a:xfrm>
            <a:off x="4160520" y="2496312"/>
            <a:ext cx="3246120" cy="685800"/>
          </a:xfrm>
          <a:prstGeom prst="rect">
            <a:avLst/>
          </a:prstGeom>
          <a:noFill/>
          <a:ln/>
        </p:spPr>
        <p:txBody>
          <a:bodyPr wrap="square" rtlCol="0" anchor="ctr"/>
          <a:lstStyle/>
          <a:p>
            <a:pPr algn="ctr" indent="0" marL="0">
              <a:buNone/>
            </a:pPr>
            <a:r>
              <a:rPr lang="en-US" sz="3200" b="1" dirty="0">
                <a:solidFill>
                  <a:srgbClr val="12243F"/>
                </a:solidFill>
                <a:latin typeface="Cambria" pitchFamily="34" charset="0"/>
                <a:ea typeface="Cambria" pitchFamily="34" charset="-122"/>
                <a:cs typeface="Cambria" pitchFamily="34" charset="-120"/>
              </a:rPr>
              <a:t>$1,829</a:t>
            </a:r>
            <a:endParaRPr lang="en-US" sz="3200" dirty="0"/>
          </a:p>
        </p:txBody>
      </p:sp>
      <p:sp>
        <p:nvSpPr>
          <p:cNvPr id="14" name="Text 12"/>
          <p:cNvSpPr/>
          <p:nvPr/>
        </p:nvSpPr>
        <p:spPr>
          <a:xfrm>
            <a:off x="4160520" y="3154680"/>
            <a:ext cx="3246120" cy="274320"/>
          </a:xfrm>
          <a:prstGeom prst="rect">
            <a:avLst/>
          </a:prstGeom>
          <a:noFill/>
          <a:ln/>
        </p:spPr>
        <p:txBody>
          <a:bodyPr wrap="square" rtlCol="0" anchor="ctr"/>
          <a:lstStyle/>
          <a:p>
            <a:pPr algn="ctr" indent="0" marL="0">
              <a:buNone/>
            </a:pPr>
            <a:r>
              <a:rPr lang="en-US" sz="1100" dirty="0">
                <a:solidFill>
                  <a:srgbClr val="5A4A1F"/>
                </a:solidFill>
                <a:latin typeface="Arial" pitchFamily="34" charset="0"/>
                <a:ea typeface="Arial" pitchFamily="34" charset="-122"/>
                <a:cs typeface="Arial" pitchFamily="34" charset="-120"/>
              </a:rPr>
              <a:t>per year</a:t>
            </a:r>
            <a:endParaRPr lang="en-US" sz="1100" dirty="0"/>
          </a:p>
        </p:txBody>
      </p:sp>
      <p:sp>
        <p:nvSpPr>
          <p:cNvPr id="15" name="Text 13"/>
          <p:cNvSpPr/>
          <p:nvPr/>
        </p:nvSpPr>
        <p:spPr>
          <a:xfrm>
            <a:off x="4160520" y="3520440"/>
            <a:ext cx="3246120" cy="320040"/>
          </a:xfrm>
          <a:prstGeom prst="rect">
            <a:avLst/>
          </a:prstGeom>
          <a:noFill/>
          <a:ln/>
        </p:spPr>
        <p:txBody>
          <a:bodyPr wrap="square" rtlCol="0" anchor="ctr"/>
          <a:lstStyle/>
          <a:p>
            <a:pPr algn="ctr" indent="0" marL="0">
              <a:buNone/>
            </a:pPr>
            <a:r>
              <a:rPr lang="en-US" sz="1200" b="1" dirty="0">
                <a:solidFill>
                  <a:srgbClr val="12243F"/>
                </a:solidFill>
                <a:latin typeface="Arial" pitchFamily="34" charset="0"/>
                <a:ea typeface="Arial" pitchFamily="34" charset="-122"/>
                <a:cs typeface="Arial" pitchFamily="34" charset="-120"/>
              </a:rPr>
              <a:t>Gross payback: under 1 yr
Net payback (after SMUD rebate): 10 months</a:t>
            </a:r>
            <a:endParaRPr lang="en-US" sz="1200" dirty="0"/>
          </a:p>
        </p:txBody>
      </p:sp>
      <p:sp>
        <p:nvSpPr>
          <p:cNvPr id="16" name="Shape 14"/>
          <p:cNvSpPr/>
          <p:nvPr/>
        </p:nvSpPr>
        <p:spPr>
          <a:xfrm>
            <a:off x="7680960" y="1691640"/>
            <a:ext cx="3246120" cy="2286000"/>
          </a:xfrm>
          <a:prstGeom prst="roundRect">
            <a:avLst>
              <a:gd name="adj" fmla="val 4000"/>
            </a:avLst>
          </a:prstGeom>
          <a:solidFill>
            <a:srgbClr val="1B3358"/>
          </a:solidFill>
          <a:ln/>
        </p:spPr>
      </p:sp>
      <p:sp>
        <p:nvSpPr>
          <p:cNvPr id="17" name="Text 15"/>
          <p:cNvSpPr/>
          <p:nvPr/>
        </p:nvSpPr>
        <p:spPr>
          <a:xfrm>
            <a:off x="7680960" y="1874520"/>
            <a:ext cx="3246120" cy="274320"/>
          </a:xfrm>
          <a:prstGeom prst="rect">
            <a:avLst/>
          </a:prstGeom>
          <a:noFill/>
          <a:ln/>
        </p:spPr>
        <p:txBody>
          <a:bodyPr wrap="square" rtlCol="0" anchor="ctr"/>
          <a:lstStyle/>
          <a:p>
            <a:pPr algn="ctr" indent="0" marL="0">
              <a:buNone/>
            </a:pPr>
            <a:r>
              <a:rPr lang="en-US" sz="1150" b="1" spc="100" kern="0" dirty="0">
                <a:solidFill>
                  <a:srgbClr val="8B9AB5"/>
                </a:solidFill>
                <a:latin typeface="Arial" pitchFamily="34" charset="0"/>
                <a:ea typeface="Arial" pitchFamily="34" charset="-122"/>
                <a:cs typeface="Arial" pitchFamily="34" charset="-120"/>
              </a:rPr>
              <a:t>OPTIMISTIC</a:t>
            </a:r>
            <a:endParaRPr lang="en-US" sz="1150" dirty="0"/>
          </a:p>
        </p:txBody>
      </p:sp>
      <p:sp>
        <p:nvSpPr>
          <p:cNvPr id="18" name="Text 16"/>
          <p:cNvSpPr/>
          <p:nvPr/>
        </p:nvSpPr>
        <p:spPr>
          <a:xfrm>
            <a:off x="7680960" y="2167128"/>
            <a:ext cx="3246120" cy="320040"/>
          </a:xfrm>
          <a:prstGeom prst="rect">
            <a:avLst/>
          </a:prstGeom>
          <a:noFill/>
          <a:ln/>
        </p:spPr>
        <p:txBody>
          <a:bodyPr wrap="square" rtlCol="0" anchor="ctr"/>
          <a:lstStyle/>
          <a:p>
            <a:pPr algn="ctr" indent="0" marL="0">
              <a:buNone/>
            </a:pPr>
            <a:r>
              <a:rPr lang="en-US" sz="1300" dirty="0">
                <a:solidFill>
                  <a:srgbClr val="C9D2E0"/>
                </a:solidFill>
                <a:latin typeface="Arial" pitchFamily="34" charset="0"/>
                <a:ea typeface="Arial" pitchFamily="34" charset="-122"/>
                <a:cs typeface="Arial" pitchFamily="34" charset="-120"/>
              </a:rPr>
              <a:t>BAS on same building — NOT recommended</a:t>
            </a:r>
            <a:endParaRPr lang="en-US" sz="1300" dirty="0"/>
          </a:p>
        </p:txBody>
      </p:sp>
      <p:sp>
        <p:nvSpPr>
          <p:cNvPr id="19" name="Text 17"/>
          <p:cNvSpPr/>
          <p:nvPr/>
        </p:nvSpPr>
        <p:spPr>
          <a:xfrm>
            <a:off x="7680960" y="2496312"/>
            <a:ext cx="3246120" cy="685800"/>
          </a:xfrm>
          <a:prstGeom prst="rect">
            <a:avLst/>
          </a:prstGeom>
          <a:noFill/>
          <a:ln/>
        </p:spPr>
        <p:txBody>
          <a:bodyPr wrap="square"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$1,590</a:t>
            </a:r>
            <a:endParaRPr lang="en-US" sz="3200" dirty="0"/>
          </a:p>
        </p:txBody>
      </p:sp>
      <p:sp>
        <p:nvSpPr>
          <p:cNvPr id="20" name="Text 18"/>
          <p:cNvSpPr/>
          <p:nvPr/>
        </p:nvSpPr>
        <p:spPr>
          <a:xfrm>
            <a:off x="7680960" y="3154680"/>
            <a:ext cx="3246120" cy="274320"/>
          </a:xfrm>
          <a:prstGeom prst="rect">
            <a:avLst/>
          </a:prstGeom>
          <a:noFill/>
          <a:ln/>
        </p:spPr>
        <p:txBody>
          <a:bodyPr wrap="square" rtlCol="0" anchor="ctr"/>
          <a:lstStyle/>
          <a:p>
            <a:pPr algn="ctr" indent="0" marL="0">
              <a:buNone/>
            </a:pPr>
            <a:r>
              <a:rPr lang="en-US" sz="1100" dirty="0">
                <a:solidFill>
                  <a:srgbClr val="8B9AB5"/>
                </a:solidFill>
                <a:latin typeface="Arial" pitchFamily="34" charset="0"/>
                <a:ea typeface="Arial" pitchFamily="34" charset="-122"/>
                <a:cs typeface="Arial" pitchFamily="34" charset="-120"/>
              </a:rPr>
              <a:t>per year</a:t>
            </a:r>
            <a:endParaRPr lang="en-US" sz="1100" dirty="0"/>
          </a:p>
        </p:txBody>
      </p:sp>
      <p:sp>
        <p:nvSpPr>
          <p:cNvPr id="21" name="Text 19"/>
          <p:cNvSpPr/>
          <p:nvPr/>
        </p:nvSpPr>
        <p:spPr>
          <a:xfrm>
            <a:off x="7680960" y="3520440"/>
            <a:ext cx="3246120" cy="320040"/>
          </a:xfrm>
          <a:prstGeom prst="rect">
            <a:avLst/>
          </a:prstGeom>
          <a:noFill/>
          <a:ln/>
        </p:spPr>
        <p:txBody>
          <a:bodyPr wrap="square" rtlCol="0" anchor="ctr"/>
          <a:lstStyle/>
          <a:p>
            <a:pPr algn="ctr" indent="0" marL="0">
              <a:buNone/>
            </a:pPr>
            <a:r>
              <a:rPr lang="en-US" sz="1200" dirty="0">
                <a:solidFill>
                  <a:srgbClr val="C9D2E0"/>
                </a:solidFill>
                <a:latin typeface="Arial" pitchFamily="34" charset="0"/>
                <a:ea typeface="Arial" pitchFamily="34" charset="-122"/>
                <a:cs typeface="Arial" pitchFamily="34" charset="-120"/>
              </a:rPr>
              <a:t>Payback: 4.9-6.8 years
Extra cost for $398/yr more savings</a:t>
            </a:r>
            <a:endParaRPr lang="en-US" sz="1200" dirty="0"/>
          </a:p>
        </p:txBody>
      </p:sp>
      <p:sp>
        <p:nvSpPr>
          <p:cNvPr id="22" name="Shape 20"/>
          <p:cNvSpPr/>
          <p:nvPr/>
        </p:nvSpPr>
        <p:spPr>
          <a:xfrm>
            <a:off x="640080" y="4251960"/>
            <a:ext cx="10881360" cy="1783080"/>
          </a:xfrm>
          <a:prstGeom prst="roundRect">
            <a:avLst>
              <a:gd name="adj" fmla="val 6154"/>
            </a:avLst>
          </a:prstGeom>
          <a:solidFill>
            <a:srgbClr val="1B3358"/>
          </a:solidFill>
          <a:ln/>
        </p:spPr>
      </p:sp>
      <p:pic>
        <p:nvPicPr>
          <p:cNvPr id="23" name="Image 0" descr="preencoded.png"/>
          <p:cNvPicPr>
            <a:picLocks noChangeAspect="1"/>
          </p:cNvPicPr>
          <p:nvPr/>
        </p:nvPicPr>
        <p:blipFill>
          <a:blip r:embed="rId1"/>
          <a:stretch>
            <a:fillRect/>
          </a:stretch>
        </p:blipFill>
        <p:spPr>
          <a:xfrm>
            <a:off x="914400" y="4572000"/>
            <a:ext cx="1005840" cy="1005840"/>
          </a:xfrm>
          <a:prstGeom prst="rect">
            <a:avLst/>
          </a:prstGeom>
        </p:spPr>
      </p:pic>
      <p:sp>
        <p:nvSpPr>
          <p:cNvPr id="24" name="Text 21"/>
          <p:cNvSpPr/>
          <p:nvPr/>
        </p:nvSpPr>
        <p:spPr>
          <a:xfrm>
            <a:off x="2148840" y="4572000"/>
            <a:ext cx="9052560" cy="41148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Beyond the yearly savings: this also raises what the building is worth</a:t>
            </a:r>
            <a:endParaRPr lang="en-US" sz="1700" dirty="0"/>
          </a:p>
        </p:txBody>
      </p:sp>
      <p:sp>
        <p:nvSpPr>
          <p:cNvPr id="25" name="Text 22"/>
          <p:cNvSpPr/>
          <p:nvPr/>
        </p:nvSpPr>
        <p:spPr>
          <a:xfrm>
            <a:off x="2148840" y="4956048"/>
            <a:ext cx="6400800" cy="914400"/>
          </a:xfrm>
          <a:prstGeom prst="rect">
            <a:avLst/>
          </a:prstGeom>
          <a:noFill/>
          <a:ln/>
        </p:spPr>
        <p:txBody>
          <a:bodyPr wrap="square" rtlCol="0" anchor="t"/>
          <a:lstStyle/>
          <a:p>
            <a:pPr indent="0" marL="0">
              <a:buNone/>
            </a:pPr>
            <a:r>
              <a:rPr lang="en-US" sz="1250" dirty="0">
                <a:solidFill>
                  <a:srgbClr val="C9D2E0"/>
                </a:solidFill>
                <a:latin typeface="Arial" pitchFamily="34" charset="0"/>
                <a:ea typeface="Arial" pitchFamily="34" charset="-122"/>
                <a:cs typeface="Arial" pitchFamily="34" charset="-120"/>
              </a:rPr>
              <a:t>SMUD rebate ($75/unit) reduces net cost to $1,555. At 15% savings, payback in 1.3 years. At 23% savings, payback in 10 months. BAS on this same building costs $11,827 - payback 4.9-6.8 years - to generate only $398/yr more in savings. The extra BAS spend takes 23 years to recover. Smart tstat is the right call for independent package RTU buildings.</a:t>
            </a:r>
            <a:endParaRPr lang="en-US" sz="1250" dirty="0"/>
          </a:p>
        </p:txBody>
      </p:sp>
      <p:sp>
        <p:nvSpPr>
          <p:cNvPr id="26" name="Text 23"/>
          <p:cNvSpPr/>
          <p:nvPr/>
        </p:nvSpPr>
        <p:spPr>
          <a:xfrm>
            <a:off x="8778240" y="4892040"/>
            <a:ext cx="2560320" cy="685800"/>
          </a:xfrm>
          <a:prstGeom prst="rect">
            <a:avLst/>
          </a:prstGeom>
          <a:noFill/>
          <a:ln/>
        </p:spPr>
        <p:txBody>
          <a:bodyPr wrap="square" rtlCol="0" anchor="ctr"/>
          <a:lstStyle/>
          <a:p>
            <a:pPr algn="ctr" indent="0" marL="0">
              <a:buNone/>
            </a:pPr>
            <a:r>
              <a:rPr lang="en-US" sz="3000" b="1" dirty="0">
                <a:solidFill>
                  <a:srgbClr val="E8A33D"/>
                </a:solidFill>
                <a:latin typeface="Cambria" pitchFamily="34" charset="0"/>
                <a:ea typeface="Cambria" pitchFamily="34" charset="-122"/>
                <a:cs typeface="Cambria" pitchFamily="34" charset="-120"/>
              </a:rPr>
              <a:t>$21,600-$33,200</a:t>
            </a:r>
            <a:endParaRPr lang="en-US" sz="3000" dirty="0"/>
          </a:p>
        </p:txBody>
      </p:sp>
      <p:sp>
        <p:nvSpPr>
          <p:cNvPr id="27" name="Text 24"/>
          <p:cNvSpPr/>
          <p:nvPr/>
        </p:nvSpPr>
        <p:spPr>
          <a:xfrm>
            <a:off x="8778240" y="5532120"/>
            <a:ext cx="2560320" cy="320040"/>
          </a:xfrm>
          <a:prstGeom prst="rect">
            <a:avLst/>
          </a:prstGeom>
          <a:noFill/>
          <a:ln/>
        </p:spPr>
        <p:txBody>
          <a:bodyPr wrap="square" rtlCol="0" anchor="ctr"/>
          <a:lstStyle/>
          <a:p>
            <a:pPr algn="ctr" indent="0" marL="0">
              <a:buNone/>
            </a:pPr>
            <a:r>
              <a:rPr lang="en-US" sz="1100" i="1" dirty="0">
                <a:solidFill>
                  <a:srgbClr val="8B9AB5"/>
                </a:solidFill>
                <a:latin typeface="Arial" pitchFamily="34" charset="0"/>
                <a:ea typeface="Arial" pitchFamily="34" charset="-122"/>
                <a:cs typeface="Arial" pitchFamily="34" charset="-120"/>
              </a:rPr>
              <a:t>property value increase (5.5% cap rate) vs. $1,555 net project cost</a:t>
            </a:r>
            <a:endParaRPr lang="en-US" sz="1100" dirty="0"/>
          </a:p>
        </p:txBody>
      </p:sp>
      <p:sp>
        <p:nvSpPr>
          <p:cNvPr id="28" name="Text 25"/>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A6B85"/>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rtlCol="0" anchor="ctr"/>
          <a:lstStyle/>
          <a:p>
            <a:pPr indent="0" marL="0">
              <a:buNone/>
            </a:pPr>
            <a:r>
              <a:rPr lang="en-US" sz="1300" b="1" spc="200" kern="0" dirty="0">
                <a:solidFill>
                  <a:srgbClr val="C77F1D"/>
                </a:solidFill>
                <a:latin typeface="Arial" pitchFamily="34" charset="0"/>
                <a:ea typeface="Arial" pitchFamily="34" charset="-122"/>
                <a:cs typeface="Arial" pitchFamily="34" charset="-120"/>
              </a:rPr>
              <a:t>THE DEAL STRUCTURE</a:t>
            </a:r>
            <a:endParaRPr lang="en-US" sz="1300" dirty="0"/>
          </a:p>
        </p:txBody>
      </p:sp>
      <p:sp>
        <p:nvSpPr>
          <p:cNvPr id="3" name="Text 1"/>
          <p:cNvSpPr/>
          <p:nvPr/>
        </p:nvSpPr>
        <p:spPr>
          <a:xfrm>
            <a:off x="640080" y="841248"/>
            <a:ext cx="10515600" cy="640080"/>
          </a:xfrm>
          <a:prstGeom prst="rect">
            <a:avLst/>
          </a:prstGeom>
          <a:noFill/>
          <a:ln/>
        </p:spPr>
        <p:txBody>
          <a:bodyPr wrap="square" rtlCol="0" anchor="ctr"/>
          <a:lstStyle/>
          <a:p>
            <a:pPr indent="0" marL="0">
              <a:buNone/>
            </a:pPr>
            <a:r>
              <a:rPr lang="en-US" sz="2800" b="1" dirty="0">
                <a:solidFill>
                  <a:srgbClr val="12243F"/>
                </a:solidFill>
                <a:latin typeface="Cambria" pitchFamily="34" charset="0"/>
                <a:ea typeface="Cambria" pitchFamily="34" charset="-122"/>
                <a:cs typeface="Cambria" pitchFamily="34" charset="-120"/>
              </a:rPr>
              <a:t>What the owner pays, and what I make</a:t>
            </a:r>
            <a:endParaRPr lang="en-US" sz="2800" dirty="0"/>
          </a:p>
        </p:txBody>
      </p:sp>
      <p:sp>
        <p:nvSpPr>
          <p:cNvPr id="4" name="Shape 2"/>
          <p:cNvSpPr/>
          <p:nvPr/>
        </p:nvSpPr>
        <p:spPr>
          <a:xfrm>
            <a:off x="640080" y="1691640"/>
            <a:ext cx="5120640" cy="4526280"/>
          </a:xfrm>
          <a:prstGeom prst="roundRect">
            <a:avLst>
              <a:gd name="adj" fmla="val 2424"/>
            </a:avLst>
          </a:prstGeom>
          <a:solidFill>
            <a:srgbClr val="FFFFFF"/>
          </a:solidFill>
          <a:ln w="12700">
            <a:solidFill>
              <a:srgbClr val="E3DCC8"/>
            </a:solidFill>
            <a:prstDash val="solid"/>
          </a:ln>
        </p:spPr>
      </p:sp>
      <p:pic>
        <p:nvPicPr>
          <p:cNvPr id="5" name="Image 0" descr="preencoded.png"/>
          <p:cNvPicPr>
            <a:picLocks noChangeAspect="1"/>
          </p:cNvPicPr>
          <p:nvPr/>
        </p:nvPicPr>
        <p:blipFill>
          <a:blip r:embed="rId1"/>
          <a:stretch>
            <a:fillRect/>
          </a:stretch>
        </p:blipFill>
        <p:spPr>
          <a:xfrm>
            <a:off x="868680" y="1920240"/>
            <a:ext cx="548640" cy="548640"/>
          </a:xfrm>
          <a:prstGeom prst="rect">
            <a:avLst/>
          </a:prstGeom>
        </p:spPr>
      </p:pic>
      <p:sp>
        <p:nvSpPr>
          <p:cNvPr id="6" name="Text 3"/>
          <p:cNvSpPr/>
          <p:nvPr/>
        </p:nvSpPr>
        <p:spPr>
          <a:xfrm>
            <a:off x="1554480" y="1993392"/>
            <a:ext cx="4023360" cy="411480"/>
          </a:xfrm>
          <a:prstGeom prst="rect">
            <a:avLst/>
          </a:prstGeom>
          <a:noFill/>
          <a:ln/>
        </p:spPr>
        <p:txBody>
          <a:bodyPr wrap="square" rtlCol="0" anchor="ctr"/>
          <a:lstStyle/>
          <a:p>
            <a:pPr indent="0" marL="0">
              <a:buNone/>
            </a:pPr>
            <a:r>
              <a:rPr lang="en-US" sz="1400" b="1" dirty="0">
                <a:solidFill>
                  <a:srgbClr val="12243F"/>
                </a:solidFill>
                <a:latin typeface="Arial" pitchFamily="34" charset="0"/>
                <a:ea typeface="Arial" pitchFamily="34" charset="-122"/>
                <a:cs typeface="Arial" pitchFamily="34" charset="-120"/>
              </a:rPr>
              <a:t>THE PROPERTY OWNER PAYS</a:t>
            </a:r>
            <a:endParaRPr lang="en-US" sz="1400" dirty="0"/>
          </a:p>
        </p:txBody>
      </p:sp>
      <p:sp>
        <p:nvSpPr>
          <p:cNvPr id="7" name="Text 4"/>
          <p:cNvSpPr/>
          <p:nvPr/>
        </p:nvSpPr>
        <p:spPr>
          <a:xfrm>
            <a:off x="914400" y="2697480"/>
            <a:ext cx="2377440" cy="320040"/>
          </a:xfrm>
          <a:prstGeom prst="rect">
            <a:avLst/>
          </a:prstGeom>
          <a:noFill/>
          <a:ln/>
        </p:spPr>
        <p:txBody>
          <a:bodyPr wrap="square" rtlCol="0" anchor="ctr"/>
          <a:lstStyle/>
          <a:p>
            <a:pPr indent="0" marL="0">
              <a:buNone/>
            </a:pPr>
            <a:r>
              <a:rPr lang="en-US" sz="1250" dirty="0">
                <a:solidFill>
                  <a:srgbClr val="5A6B85"/>
                </a:solidFill>
                <a:latin typeface="Arial" pitchFamily="34" charset="0"/>
                <a:ea typeface="Arial" pitchFamily="34" charset="-122"/>
                <a:cs typeface="Arial" pitchFamily="34" charset="-120"/>
              </a:rPr>
              <a:t>One-time project</a:t>
            </a:r>
            <a:endParaRPr lang="en-US" sz="1250" dirty="0"/>
          </a:p>
        </p:txBody>
      </p:sp>
      <p:sp>
        <p:nvSpPr>
          <p:cNvPr id="8" name="Text 5"/>
          <p:cNvSpPr/>
          <p:nvPr/>
        </p:nvSpPr>
        <p:spPr>
          <a:xfrm>
            <a:off x="3291840" y="2651760"/>
            <a:ext cx="2194560" cy="411480"/>
          </a:xfrm>
          <a:prstGeom prst="rect">
            <a:avLst/>
          </a:prstGeom>
          <a:noFill/>
          <a:ln/>
        </p:spPr>
        <p:txBody>
          <a:bodyPr wrap="square" rtlCol="0" anchor="ctr"/>
          <a:lstStyle/>
          <a:p>
            <a:pPr algn="r" indent="0" marL="0">
              <a:buNone/>
            </a:pPr>
            <a:r>
              <a:rPr lang="en-US" sz="2000" b="1" dirty="0">
                <a:solidFill>
                  <a:srgbClr val="C77F1D"/>
                </a:solidFill>
                <a:latin typeface="Cambria" pitchFamily="34" charset="0"/>
                <a:ea typeface="Cambria" pitchFamily="34" charset="-122"/>
                <a:cs typeface="Cambria" pitchFamily="34" charset="-120"/>
              </a:rPr>
              <a:t>~$1,780</a:t>
            </a:r>
            <a:endParaRPr lang="en-US" sz="2000" dirty="0"/>
          </a:p>
        </p:txBody>
      </p:sp>
      <p:sp>
        <p:nvSpPr>
          <p:cNvPr id="9" name="Text 6"/>
          <p:cNvSpPr/>
          <p:nvPr/>
        </p:nvSpPr>
        <p:spPr>
          <a:xfrm>
            <a:off x="914400" y="3063240"/>
            <a:ext cx="4572000" cy="365760"/>
          </a:xfrm>
          <a:prstGeom prst="rect">
            <a:avLst/>
          </a:prstGeom>
          <a:noFill/>
          <a:ln/>
        </p:spPr>
        <p:txBody>
          <a:bodyPr wrap="square" rtlCol="0" anchor="ctr"/>
          <a:lstStyle/>
          <a:p>
            <a:pPr indent="0" marL="0">
              <a:buNone/>
            </a:pPr>
            <a:r>
              <a:rPr lang="en-US" sz="1150" i="1" dirty="0">
                <a:solidFill>
                  <a:srgbClr val="5A6B85"/>
                </a:solidFill>
                <a:latin typeface="Arial" pitchFamily="34" charset="0"/>
                <a:ea typeface="Arial" pitchFamily="34" charset="-122"/>
                <a:cs typeface="Arial" pitchFamily="34" charset="-120"/>
              </a:rPr>
              <a:t>3x Ecobee Premium ($249 ea) + sensors + install + programming</a:t>
            </a:r>
            <a:endParaRPr lang="en-US" sz="1150" dirty="0"/>
          </a:p>
        </p:txBody>
      </p:sp>
      <p:sp>
        <p:nvSpPr>
          <p:cNvPr id="10" name="Text 7"/>
          <p:cNvSpPr/>
          <p:nvPr/>
        </p:nvSpPr>
        <p:spPr>
          <a:xfrm>
            <a:off x="914400" y="3611880"/>
            <a:ext cx="2377440" cy="320040"/>
          </a:xfrm>
          <a:prstGeom prst="rect">
            <a:avLst/>
          </a:prstGeom>
          <a:noFill/>
          <a:ln/>
        </p:spPr>
        <p:txBody>
          <a:bodyPr wrap="square" rtlCol="0" anchor="ctr"/>
          <a:lstStyle/>
          <a:p>
            <a:pPr indent="0" marL="0">
              <a:buNone/>
            </a:pPr>
            <a:r>
              <a:rPr lang="en-US" sz="1250" dirty="0">
                <a:solidFill>
                  <a:srgbClr val="5A6B85"/>
                </a:solidFill>
                <a:latin typeface="Arial" pitchFamily="34" charset="0"/>
                <a:ea typeface="Arial" pitchFamily="34" charset="-122"/>
                <a:cs typeface="Arial" pitchFamily="34" charset="-120"/>
              </a:rPr>
              <a:t>Monthly after that</a:t>
            </a:r>
            <a:endParaRPr lang="en-US" sz="1250" dirty="0"/>
          </a:p>
        </p:txBody>
      </p:sp>
      <p:sp>
        <p:nvSpPr>
          <p:cNvPr id="11" name="Text 8"/>
          <p:cNvSpPr/>
          <p:nvPr/>
        </p:nvSpPr>
        <p:spPr>
          <a:xfrm>
            <a:off x="3291840" y="3566160"/>
            <a:ext cx="2194560" cy="411480"/>
          </a:xfrm>
          <a:prstGeom prst="rect">
            <a:avLst/>
          </a:prstGeom>
          <a:noFill/>
          <a:ln/>
        </p:spPr>
        <p:txBody>
          <a:bodyPr wrap="square" rtlCol="0" anchor="ctr"/>
          <a:lstStyle/>
          <a:p>
            <a:pPr algn="r" indent="0" marL="0">
              <a:buNone/>
            </a:pPr>
            <a:r>
              <a:rPr lang="en-US" sz="2000" b="1" dirty="0">
                <a:solidFill>
                  <a:srgbClr val="C77F1D"/>
                </a:solidFill>
                <a:latin typeface="Cambria" pitchFamily="34" charset="0"/>
                <a:ea typeface="Cambria" pitchFamily="34" charset="-122"/>
                <a:cs typeface="Cambria" pitchFamily="34" charset="-120"/>
              </a:rPr>
              <a:t>$95/mo</a:t>
            </a:r>
            <a:endParaRPr lang="en-US" sz="2000" dirty="0"/>
          </a:p>
        </p:txBody>
      </p:sp>
      <p:sp>
        <p:nvSpPr>
          <p:cNvPr id="12" name="Text 9"/>
          <p:cNvSpPr/>
          <p:nvPr/>
        </p:nvSpPr>
        <p:spPr>
          <a:xfrm>
            <a:off x="914400" y="3977640"/>
            <a:ext cx="4572000" cy="365760"/>
          </a:xfrm>
          <a:prstGeom prst="rect">
            <a:avLst/>
          </a:prstGeom>
          <a:noFill/>
          <a:ln/>
        </p:spPr>
        <p:txBody>
          <a:bodyPr wrap="square" rtlCol="0" anchor="ctr"/>
          <a:lstStyle/>
          <a:p>
            <a:pPr indent="0" marL="0">
              <a:buNone/>
            </a:pPr>
            <a:r>
              <a:rPr lang="en-US" sz="1150" i="1" dirty="0">
                <a:solidFill>
                  <a:srgbClr val="5A6B85"/>
                </a:solidFill>
                <a:latin typeface="Arial" pitchFamily="34" charset="0"/>
                <a:ea typeface="Arial" pitchFamily="34" charset="-122"/>
                <a:cs typeface="Arial" pitchFamily="34" charset="-120"/>
              </a:rPr>
              <a:t>Replaces your HVAC maintenance contract ($600-1,200/yr for 3 units). Includes 24/7 remote monitoring and fault detection - catches problems before they become emergency calls.</a:t>
            </a:r>
            <a:endParaRPr lang="en-US" sz="1150" dirty="0"/>
          </a:p>
        </p:txBody>
      </p:sp>
      <p:sp>
        <p:nvSpPr>
          <p:cNvPr id="13" name="Shape 10"/>
          <p:cNvSpPr/>
          <p:nvPr/>
        </p:nvSpPr>
        <p:spPr>
          <a:xfrm>
            <a:off x="914400" y="4572000"/>
            <a:ext cx="4572000" cy="0"/>
          </a:xfrm>
          <a:prstGeom prst="line">
            <a:avLst/>
          </a:prstGeom>
          <a:noFill/>
          <a:ln w="12700">
            <a:solidFill>
              <a:srgbClr val="E3DCC8"/>
            </a:solidFill>
            <a:prstDash val="solid"/>
          </a:ln>
        </p:spPr>
      </p:sp>
      <p:sp>
        <p:nvSpPr>
          <p:cNvPr id="14" name="Text 11"/>
          <p:cNvSpPr/>
          <p:nvPr/>
        </p:nvSpPr>
        <p:spPr>
          <a:xfrm>
            <a:off x="914400" y="4800600"/>
            <a:ext cx="4572000" cy="914400"/>
          </a:xfrm>
          <a:prstGeom prst="rect">
            <a:avLst/>
          </a:prstGeom>
          <a:noFill/>
          <a:ln/>
        </p:spPr>
        <p:txBody>
          <a:bodyPr wrap="square" rtlCol="0" anchor="ctr"/>
          <a:lstStyle/>
          <a:p>
            <a:pPr indent="0" marL="0">
              <a:buNone/>
            </a:pPr>
            <a:r>
              <a:rPr lang="en-US" sz="1300" dirty="0">
                <a:solidFill>
                  <a:srgbClr val="12243F"/>
                </a:solidFill>
                <a:latin typeface="Arial" pitchFamily="34" charset="0"/>
                <a:ea typeface="Arial" pitchFamily="34" charset="-122"/>
                <a:cs typeface="Arial" pitchFamily="34" charset="-120"/>
              </a:rPr>
              <a:t>In return, they get a permanent reduction in their energy bill and a documented increase in their building's value.</a:t>
            </a:r>
            <a:endParaRPr lang="en-US" sz="1300" dirty="0"/>
          </a:p>
        </p:txBody>
      </p:sp>
      <p:sp>
        <p:nvSpPr>
          <p:cNvPr id="15" name="Shape 12"/>
          <p:cNvSpPr/>
          <p:nvPr/>
        </p:nvSpPr>
        <p:spPr>
          <a:xfrm>
            <a:off x="6035040" y="1691640"/>
            <a:ext cx="5486400" cy="4526280"/>
          </a:xfrm>
          <a:prstGeom prst="roundRect">
            <a:avLst>
              <a:gd name="adj" fmla="val 2424"/>
            </a:avLst>
          </a:prstGeom>
          <a:solidFill>
            <a:srgbClr val="12243F"/>
          </a:solidFill>
          <a:ln/>
        </p:spPr>
      </p:sp>
      <p:pic>
        <p:nvPicPr>
          <p:cNvPr id="16" name="Image 1" descr="preencoded.png"/>
          <p:cNvPicPr>
            <a:picLocks noChangeAspect="1"/>
          </p:cNvPicPr>
          <p:nvPr/>
        </p:nvPicPr>
        <p:blipFill>
          <a:blip r:embed="rId2"/>
          <a:stretch>
            <a:fillRect/>
          </a:stretch>
        </p:blipFill>
        <p:spPr>
          <a:xfrm>
            <a:off x="6263640" y="1920240"/>
            <a:ext cx="548640" cy="548640"/>
          </a:xfrm>
          <a:prstGeom prst="rect">
            <a:avLst/>
          </a:prstGeom>
        </p:spPr>
      </p:pic>
      <p:sp>
        <p:nvSpPr>
          <p:cNvPr id="17" name="Text 13"/>
          <p:cNvSpPr/>
          <p:nvPr/>
        </p:nvSpPr>
        <p:spPr>
          <a:xfrm>
            <a:off x="6949440" y="1993392"/>
            <a:ext cx="4297680" cy="41148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I MAKE MONEY THREE WAYS</a:t>
            </a:r>
            <a:endParaRPr lang="en-US" sz="1400" dirty="0"/>
          </a:p>
        </p:txBody>
      </p:sp>
      <p:pic>
        <p:nvPicPr>
          <p:cNvPr id="18" name="Image 2" descr="preencoded.png"/>
          <p:cNvPicPr>
            <a:picLocks noChangeAspect="1"/>
          </p:cNvPicPr>
          <p:nvPr/>
        </p:nvPicPr>
        <p:blipFill>
          <a:blip r:embed="rId3"/>
          <a:stretch>
            <a:fillRect/>
          </a:stretch>
        </p:blipFill>
        <p:spPr>
          <a:xfrm>
            <a:off x="6309360" y="2715768"/>
            <a:ext cx="274320" cy="274320"/>
          </a:xfrm>
          <a:prstGeom prst="rect">
            <a:avLst/>
          </a:prstGeom>
        </p:spPr>
      </p:pic>
      <p:sp>
        <p:nvSpPr>
          <p:cNvPr id="19" name="Text 14"/>
          <p:cNvSpPr/>
          <p:nvPr/>
        </p:nvSpPr>
        <p:spPr>
          <a:xfrm>
            <a:off x="6720840" y="2660904"/>
            <a:ext cx="4572000" cy="320040"/>
          </a:xfrm>
          <a:prstGeom prst="rect">
            <a:avLst/>
          </a:prstGeom>
          <a:noFill/>
          <a:ln/>
        </p:spPr>
        <p:txBody>
          <a:bodyPr wrap="square" rtlCol="0" anchor="ctr"/>
          <a:lstStyle/>
          <a:p>
            <a:pPr indent="0" marL="0">
              <a:buNone/>
            </a:pPr>
            <a:r>
              <a:rPr lang="en-US" sz="1400" b="1" dirty="0">
                <a:solidFill>
                  <a:srgbClr val="E8A33D"/>
                </a:solidFill>
                <a:latin typeface="Arial" pitchFamily="34" charset="0"/>
                <a:ea typeface="Arial" pitchFamily="34" charset="-122"/>
                <a:cs typeface="Arial" pitchFamily="34" charset="-120"/>
              </a:rPr>
              <a:t>A markup on hardware</a:t>
            </a:r>
            <a:endParaRPr lang="en-US" sz="1400" dirty="0"/>
          </a:p>
        </p:txBody>
      </p:sp>
      <p:sp>
        <p:nvSpPr>
          <p:cNvPr id="20" name="Text 15"/>
          <p:cNvSpPr/>
          <p:nvPr/>
        </p:nvSpPr>
        <p:spPr>
          <a:xfrm>
            <a:off x="6720840" y="2990088"/>
            <a:ext cx="4572000" cy="457200"/>
          </a:xfrm>
          <a:prstGeom prst="rect">
            <a:avLst/>
          </a:prstGeom>
          <a:noFill/>
          <a:ln/>
        </p:spPr>
        <p:txBody>
          <a:bodyPr wrap="square" rtlCol="0" anchor="ctr"/>
          <a:lstStyle/>
          <a:p>
            <a:pPr indent="0" marL="0">
              <a:buNone/>
            </a:pPr>
            <a:r>
              <a:rPr lang="en-US" sz="1200" dirty="0">
                <a:solidFill>
                  <a:srgbClr val="C9D2E0"/>
                </a:solidFill>
                <a:latin typeface="Arial" pitchFamily="34" charset="0"/>
                <a:ea typeface="Arial" pitchFamily="34" charset="-122"/>
                <a:cs typeface="Arial" pitchFamily="34" charset="-120"/>
              </a:rPr>
              <a:t>I buy equipment at trade pricing, charge a fair margin on top</a:t>
            </a:r>
            <a:endParaRPr lang="en-US" sz="1200" dirty="0"/>
          </a:p>
        </p:txBody>
      </p:sp>
      <p:pic>
        <p:nvPicPr>
          <p:cNvPr id="21" name="Image 3" descr="preencoded.png"/>
          <p:cNvPicPr>
            <a:picLocks noChangeAspect="1"/>
          </p:cNvPicPr>
          <p:nvPr/>
        </p:nvPicPr>
        <p:blipFill>
          <a:blip r:embed="rId4"/>
          <a:stretch>
            <a:fillRect/>
          </a:stretch>
        </p:blipFill>
        <p:spPr>
          <a:xfrm>
            <a:off x="6309360" y="3584448"/>
            <a:ext cx="274320" cy="274320"/>
          </a:xfrm>
          <a:prstGeom prst="rect">
            <a:avLst/>
          </a:prstGeom>
        </p:spPr>
      </p:pic>
      <p:sp>
        <p:nvSpPr>
          <p:cNvPr id="22" name="Text 16"/>
          <p:cNvSpPr/>
          <p:nvPr/>
        </p:nvSpPr>
        <p:spPr>
          <a:xfrm>
            <a:off x="6720840" y="3529584"/>
            <a:ext cx="4572000" cy="320040"/>
          </a:xfrm>
          <a:prstGeom prst="rect">
            <a:avLst/>
          </a:prstGeom>
          <a:noFill/>
          <a:ln/>
        </p:spPr>
        <p:txBody>
          <a:bodyPr wrap="square" rtlCol="0" anchor="ctr"/>
          <a:lstStyle/>
          <a:p>
            <a:pPr indent="0" marL="0">
              <a:buNone/>
            </a:pPr>
            <a:r>
              <a:rPr lang="en-US" sz="1400" b="1" dirty="0">
                <a:solidFill>
                  <a:srgbClr val="E8A33D"/>
                </a:solidFill>
                <a:latin typeface="Arial" pitchFamily="34" charset="0"/>
                <a:ea typeface="Arial" pitchFamily="34" charset="-122"/>
                <a:cs typeface="Arial" pitchFamily="34" charset="-120"/>
              </a:rPr>
              <a:t>A fee for my time</a:t>
            </a:r>
            <a:endParaRPr lang="en-US" sz="1400" dirty="0"/>
          </a:p>
        </p:txBody>
      </p:sp>
      <p:sp>
        <p:nvSpPr>
          <p:cNvPr id="23" name="Text 17"/>
          <p:cNvSpPr/>
          <p:nvPr/>
        </p:nvSpPr>
        <p:spPr>
          <a:xfrm>
            <a:off x="6720840" y="3858768"/>
            <a:ext cx="4572000" cy="457200"/>
          </a:xfrm>
          <a:prstGeom prst="rect">
            <a:avLst/>
          </a:prstGeom>
          <a:noFill/>
          <a:ln/>
        </p:spPr>
        <p:txBody>
          <a:bodyPr wrap="square" rtlCol="0" anchor="ctr"/>
          <a:lstStyle/>
          <a:p>
            <a:pPr indent="0" marL="0">
              <a:buNone/>
            </a:pPr>
            <a:r>
              <a:rPr lang="en-US" sz="1200" dirty="0">
                <a:solidFill>
                  <a:srgbClr val="C9D2E0"/>
                </a:solidFill>
                <a:latin typeface="Arial" pitchFamily="34" charset="0"/>
                <a:ea typeface="Arial" pitchFamily="34" charset="-122"/>
                <a:cs typeface="Arial" pitchFamily="34" charset="-120"/>
              </a:rPr>
              <a:t>Programming, installing, and testing the system - this is my expertise</a:t>
            </a:r>
            <a:endParaRPr lang="en-US" sz="1200" dirty="0"/>
          </a:p>
        </p:txBody>
      </p:sp>
      <p:pic>
        <p:nvPicPr>
          <p:cNvPr id="24" name="Image 4" descr="preencoded.png"/>
          <p:cNvPicPr>
            <a:picLocks noChangeAspect="1"/>
          </p:cNvPicPr>
          <p:nvPr/>
        </p:nvPicPr>
        <p:blipFill>
          <a:blip r:embed="rId5"/>
          <a:stretch>
            <a:fillRect/>
          </a:stretch>
        </p:blipFill>
        <p:spPr>
          <a:xfrm>
            <a:off x="6309360" y="4453128"/>
            <a:ext cx="274320" cy="274320"/>
          </a:xfrm>
          <a:prstGeom prst="rect">
            <a:avLst/>
          </a:prstGeom>
        </p:spPr>
      </p:pic>
      <p:sp>
        <p:nvSpPr>
          <p:cNvPr id="25" name="Text 18"/>
          <p:cNvSpPr/>
          <p:nvPr/>
        </p:nvSpPr>
        <p:spPr>
          <a:xfrm>
            <a:off x="6720840" y="4398264"/>
            <a:ext cx="4572000" cy="320040"/>
          </a:xfrm>
          <a:prstGeom prst="rect">
            <a:avLst/>
          </a:prstGeom>
          <a:noFill/>
          <a:ln/>
        </p:spPr>
        <p:txBody>
          <a:bodyPr wrap="square" rtlCol="0" anchor="ctr"/>
          <a:lstStyle/>
          <a:p>
            <a:pPr indent="0" marL="0">
              <a:buNone/>
            </a:pPr>
            <a:r>
              <a:rPr lang="en-US" sz="1400" b="1" dirty="0">
                <a:solidFill>
                  <a:srgbClr val="E8A33D"/>
                </a:solidFill>
                <a:latin typeface="Arial" pitchFamily="34" charset="0"/>
                <a:ea typeface="Arial" pitchFamily="34" charset="-122"/>
                <a:cs typeface="Arial" pitchFamily="34" charset="-120"/>
              </a:rPr>
              <a:t>The monthly fee, ongoing - and how it scales</a:t>
            </a:r>
            <a:endParaRPr lang="en-US" sz="1400" dirty="0"/>
          </a:p>
        </p:txBody>
      </p:sp>
      <p:sp>
        <p:nvSpPr>
          <p:cNvPr id="26" name="Text 19"/>
          <p:cNvSpPr/>
          <p:nvPr/>
        </p:nvSpPr>
        <p:spPr>
          <a:xfrm>
            <a:off x="6720840" y="4727448"/>
            <a:ext cx="4572000" cy="640080"/>
          </a:xfrm>
          <a:prstGeom prst="rect">
            <a:avLst/>
          </a:prstGeom>
          <a:noFill/>
          <a:ln/>
        </p:spPr>
        <p:txBody>
          <a:bodyPr wrap="square" rtlCol="0" anchor="ctr"/>
          <a:lstStyle/>
          <a:p>
            <a:pPr indent="0" marL="0">
              <a:buNone/>
            </a:pPr>
            <a:r>
              <a:rPr lang="en-US" sz="950" dirty="0">
                <a:solidFill>
                  <a:srgbClr val="C9D2E0"/>
                </a:solidFill>
                <a:latin typeface="Arial" pitchFamily="34" charset="0"/>
                <a:ea typeface="Arial" pitchFamily="34" charset="-122"/>
                <a:cs typeface="Arial" pitchFamily="34" charset="-120"/>
              </a:rPr>
              <a:t>At $95/month per client, one offshore tech ($1,000/mo) manages 40-60 sites remotely. Break-even at 11 clients. At 40 clients: $3,800/mo fees - $1,000/mo = $2,800/mo net (74% margin). Smart tstat projects close faster, cost less ($1,780 vs $11,800+ for BAS), and generate the same $95/mo retainer.</a:t>
            </a:r>
            <a:endParaRPr lang="en-US" sz="1200" dirty="0"/>
          </a:p>
        </p:txBody>
      </p:sp>
      <p:sp>
        <p:nvSpPr>
          <p:cNvPr id="27" name="Shape 20"/>
          <p:cNvSpPr/>
          <p:nvPr/>
        </p:nvSpPr>
        <p:spPr>
          <a:xfrm>
            <a:off x="6309360" y="5349240"/>
            <a:ext cx="4937760" cy="777240"/>
          </a:xfrm>
          <a:prstGeom prst="roundRect">
            <a:avLst>
              <a:gd name="adj" fmla="val 9412"/>
            </a:avLst>
          </a:prstGeom>
          <a:solidFill>
            <a:srgbClr val="E8A33D"/>
          </a:solidFill>
          <a:ln/>
        </p:spPr>
      </p:sp>
      <p:sp>
        <p:nvSpPr>
          <p:cNvPr id="28" name="Text 21"/>
          <p:cNvSpPr/>
          <p:nvPr/>
        </p:nvSpPr>
        <p:spPr>
          <a:xfrm>
            <a:off x="6537960" y="5349240"/>
            <a:ext cx="4480560" cy="777240"/>
          </a:xfrm>
          <a:prstGeom prst="rect">
            <a:avLst/>
          </a:prstGeom>
          <a:noFill/>
          <a:ln/>
        </p:spPr>
        <p:txBody>
          <a:bodyPr wrap="square" rtlCol="0" anchor="ctr"/>
          <a:lstStyle/>
          <a:p>
            <a:pPr indent="0" marL="0">
              <a:buNone/>
            </a:pPr>
            <a:r>
              <a:rPr lang="en-US" sz="1300" b="1" dirty="0">
                <a:solidFill>
                  <a:srgbClr val="12243F"/>
                </a:solidFill>
                <a:latin typeface="Arial" pitchFamily="34" charset="0"/>
                <a:ea typeface="Arial" pitchFamily="34" charset="-122"/>
                <a:cs typeface="Arial" pitchFamily="34" charset="-120"/>
              </a:rPr>
              <a:t>Project margin: ~$650. Owner payback: 1.3 yrs (conservative) to 10 months (realistic). Then $95/mo replaces their maintenance contract cost.</a:t>
            </a:r>
            <a:endParaRPr lang="en-US" sz="1300" dirty="0"/>
          </a:p>
        </p:txBody>
      </p:sp>
      <p:sp>
        <p:nvSpPr>
          <p:cNvPr id="29" name="Text 22"/>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A6B85"/>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640080" y="457200"/>
            <a:ext cx="9144000" cy="365760"/>
          </a:xfrm>
          <a:prstGeom prst="rect">
            <a:avLst/>
          </a:prstGeom>
          <a:noFill/>
          <a:ln/>
        </p:spPr>
        <p:txBody>
          <a:bodyPr wrap="square" rtlCol="0" anchor="ctr"/>
          <a:lstStyle/>
          <a:p>
            <a:pPr indent="0" marL="0">
              <a:buNone/>
            </a:pPr>
            <a:r>
              <a:rPr lang="en-US" sz="1300" b="1" spc="200" kern="0" dirty="0">
                <a:solidFill>
                  <a:srgbClr val="C77F1D"/>
                </a:solidFill>
                <a:latin typeface="Arial" pitchFamily="34" charset="0"/>
                <a:ea typeface="Arial" pitchFamily="34" charset="-122"/>
                <a:cs typeface="Arial" pitchFamily="34" charset="-120"/>
              </a:rPr>
              <a:t>HOW I'LL PRICE THE FIRST FEW PROJECTS</a:t>
            </a:r>
            <a:endParaRPr lang="en-US" sz="1300" dirty="0"/>
          </a:p>
        </p:txBody>
      </p:sp>
      <p:sp>
        <p:nvSpPr>
          <p:cNvPr id="3" name="Text 1"/>
          <p:cNvSpPr/>
          <p:nvPr/>
        </p:nvSpPr>
        <p:spPr>
          <a:xfrm>
            <a:off x="640080" y="841248"/>
            <a:ext cx="10698480" cy="640080"/>
          </a:xfrm>
          <a:prstGeom prst="rect">
            <a:avLst/>
          </a:prstGeom>
          <a:noFill/>
          <a:ln/>
        </p:spPr>
        <p:txBody>
          <a:bodyPr wrap="square" rtlCol="0" anchor="ctr"/>
          <a:lstStyle/>
          <a:p>
            <a:pPr indent="0" marL="0">
              <a:buNone/>
            </a:pPr>
            <a:r>
              <a:rPr lang="en-US" sz="2800" b="1" dirty="0">
                <a:solidFill>
                  <a:srgbClr val="12243F"/>
                </a:solidFill>
                <a:latin typeface="Cambria" pitchFamily="34" charset="0"/>
                <a:ea typeface="Cambria" pitchFamily="34" charset="-122"/>
                <a:cs typeface="Cambria" pitchFamily="34" charset="-120"/>
              </a:rPr>
              <a:t>No markup on hardware for my first 2-3 clients</a:t>
            </a:r>
            <a:endParaRPr lang="en-US" sz="2800" dirty="0"/>
          </a:p>
        </p:txBody>
      </p:sp>
      <p:sp>
        <p:nvSpPr>
          <p:cNvPr id="4" name="Shape 2"/>
          <p:cNvSpPr/>
          <p:nvPr/>
        </p:nvSpPr>
        <p:spPr>
          <a:xfrm>
            <a:off x="640080" y="1783080"/>
            <a:ext cx="5120640" cy="4297680"/>
          </a:xfrm>
          <a:prstGeom prst="roundRect">
            <a:avLst>
              <a:gd name="adj" fmla="val 2553"/>
            </a:avLst>
          </a:prstGeom>
          <a:solidFill>
            <a:srgbClr val="FFFFFF"/>
          </a:solidFill>
          <a:ln w="12700">
            <a:solidFill>
              <a:srgbClr val="E3DCC8"/>
            </a:solidFill>
            <a:prstDash val="solid"/>
          </a:ln>
        </p:spPr>
      </p:sp>
      <p:pic>
        <p:nvPicPr>
          <p:cNvPr id="5" name="Image 0" descr="preencoded.png"/>
          <p:cNvPicPr>
            <a:picLocks noChangeAspect="1"/>
          </p:cNvPicPr>
          <p:nvPr/>
        </p:nvPicPr>
        <p:blipFill>
          <a:blip r:embed="rId1"/>
          <a:stretch>
            <a:fillRect/>
          </a:stretch>
        </p:blipFill>
        <p:spPr>
          <a:xfrm>
            <a:off x="868680" y="2011680"/>
            <a:ext cx="548640" cy="548640"/>
          </a:xfrm>
          <a:prstGeom prst="rect">
            <a:avLst/>
          </a:prstGeom>
        </p:spPr>
      </p:pic>
      <p:sp>
        <p:nvSpPr>
          <p:cNvPr id="6" name="Text 3"/>
          <p:cNvSpPr/>
          <p:nvPr/>
        </p:nvSpPr>
        <p:spPr>
          <a:xfrm>
            <a:off x="1554480" y="2084832"/>
            <a:ext cx="3931920" cy="411480"/>
          </a:xfrm>
          <a:prstGeom prst="rect">
            <a:avLst/>
          </a:prstGeom>
          <a:noFill/>
          <a:ln/>
        </p:spPr>
        <p:txBody>
          <a:bodyPr wrap="square" rtlCol="0" anchor="ctr"/>
          <a:lstStyle/>
          <a:p>
            <a:pPr indent="0" marL="0">
              <a:buNone/>
            </a:pPr>
            <a:r>
              <a:rPr lang="en-US" sz="1400" b="1" dirty="0">
                <a:solidFill>
                  <a:srgbClr val="12243F"/>
                </a:solidFill>
                <a:latin typeface="Arial" pitchFamily="34" charset="0"/>
                <a:ea typeface="Arial" pitchFamily="34" charset="-122"/>
                <a:cs typeface="Arial" pitchFamily="34" charset="-120"/>
              </a:rPr>
              <a:t>THE LOGIC</a:t>
            </a:r>
            <a:endParaRPr lang="en-US" sz="1400" dirty="0"/>
          </a:p>
        </p:txBody>
      </p:sp>
      <p:sp>
        <p:nvSpPr>
          <p:cNvPr id="7" name="Shape 4"/>
          <p:cNvSpPr/>
          <p:nvPr/>
        </p:nvSpPr>
        <p:spPr>
          <a:xfrm>
            <a:off x="914400" y="2843784"/>
            <a:ext cx="109728" cy="109728"/>
          </a:xfrm>
          <a:prstGeom prst="oval">
            <a:avLst/>
          </a:prstGeom>
          <a:solidFill>
            <a:srgbClr val="E8A33D"/>
          </a:solidFill>
          <a:ln/>
        </p:spPr>
      </p:sp>
      <p:sp>
        <p:nvSpPr>
          <p:cNvPr id="8" name="Text 5"/>
          <p:cNvSpPr/>
          <p:nvPr/>
        </p:nvSpPr>
        <p:spPr>
          <a:xfrm>
            <a:off x="1188720" y="2697480"/>
            <a:ext cx="4297680" cy="914400"/>
          </a:xfrm>
          <a:prstGeom prst="rect">
            <a:avLst/>
          </a:prstGeom>
          <a:noFill/>
          <a:ln/>
        </p:spPr>
        <p:txBody>
          <a:bodyPr wrap="square" rtlCol="0" anchor="t"/>
          <a:lstStyle/>
          <a:p>
            <a:pPr indent="0" marL="0">
              <a:buNone/>
            </a:pPr>
            <a:r>
              <a:rPr lang="en-US" sz="1250" dirty="0">
                <a:solidFill>
                  <a:srgbClr val="12243F"/>
                </a:solidFill>
                <a:latin typeface="Arial" pitchFamily="34" charset="0"/>
                <a:ea typeface="Arial" pitchFamily="34" charset="-122"/>
                <a:cs typeface="Arial" pitchFamily="34" charset="-120"/>
              </a:rPr>
              <a:t>MATERIAL BREAKDOWN (3-zone building): 3x Ecobee Premium @ $249 = $747 | 2x SmartSensor pack @ $79 = $158 | Install labor 3.75 hrs @ $100 = $375 | Programming &amp; setup = $500 | Total: $1,780</a:t>
            </a:r>
            <a:endParaRPr lang="en-US" sz="1250" dirty="0"/>
          </a:p>
        </p:txBody>
      </p:sp>
      <p:sp>
        <p:nvSpPr>
          <p:cNvPr id="9" name="Shape 6"/>
          <p:cNvSpPr/>
          <p:nvPr/>
        </p:nvSpPr>
        <p:spPr>
          <a:xfrm>
            <a:off x="914400" y="3895344"/>
            <a:ext cx="109728" cy="109728"/>
          </a:xfrm>
          <a:prstGeom prst="oval">
            <a:avLst/>
          </a:prstGeom>
          <a:solidFill>
            <a:srgbClr val="E8A33D"/>
          </a:solidFill>
          <a:ln/>
        </p:spPr>
      </p:sp>
      <p:sp>
        <p:nvSpPr>
          <p:cNvPr id="10" name="Text 7"/>
          <p:cNvSpPr/>
          <p:nvPr/>
        </p:nvSpPr>
        <p:spPr>
          <a:xfrm>
            <a:off x="1188720" y="3749040"/>
            <a:ext cx="4297680" cy="914400"/>
          </a:xfrm>
          <a:prstGeom prst="rect">
            <a:avLst/>
          </a:prstGeom>
          <a:noFill/>
          <a:ln/>
        </p:spPr>
        <p:txBody>
          <a:bodyPr wrap="square" rtlCol="0" anchor="t"/>
          <a:lstStyle/>
          <a:p>
            <a:pPr indent="0" marL="0">
              <a:buNone/>
            </a:pPr>
            <a:r>
              <a:rPr lang="en-US" sz="1250" dirty="0">
                <a:solidFill>
                  <a:srgbClr val="12243F"/>
                </a:solidFill>
                <a:latin typeface="Arial" pitchFamily="34" charset="0"/>
                <a:ea typeface="Arial" pitchFamily="34" charset="-122"/>
                <a:cs typeface="Arial" pitchFamily="34" charset="-120"/>
              </a:rPr>
              <a:t>This isn't about being cheap - it's about removing price as an objection while I build a real track record with documented results.</a:t>
            </a:r>
            <a:endParaRPr lang="en-US" sz="1250" dirty="0"/>
          </a:p>
        </p:txBody>
      </p:sp>
      <p:sp>
        <p:nvSpPr>
          <p:cNvPr id="11" name="Shape 8"/>
          <p:cNvSpPr/>
          <p:nvPr/>
        </p:nvSpPr>
        <p:spPr>
          <a:xfrm>
            <a:off x="914400" y="4946904"/>
            <a:ext cx="109728" cy="109728"/>
          </a:xfrm>
          <a:prstGeom prst="oval">
            <a:avLst/>
          </a:prstGeom>
          <a:solidFill>
            <a:srgbClr val="E8A33D"/>
          </a:solidFill>
          <a:ln/>
        </p:spPr>
      </p:sp>
      <p:sp>
        <p:nvSpPr>
          <p:cNvPr id="12" name="Text 9"/>
          <p:cNvSpPr/>
          <p:nvPr/>
        </p:nvSpPr>
        <p:spPr>
          <a:xfrm>
            <a:off x="1188720" y="4800600"/>
            <a:ext cx="4297680" cy="914400"/>
          </a:xfrm>
          <a:prstGeom prst="rect">
            <a:avLst/>
          </a:prstGeom>
          <a:noFill/>
          <a:ln/>
        </p:spPr>
        <p:txBody>
          <a:bodyPr wrap="square" rtlCol="0" anchor="t"/>
          <a:lstStyle/>
          <a:p>
            <a:pPr indent="0" marL="0">
              <a:buNone/>
            </a:pPr>
            <a:r>
              <a:rPr lang="en-US" sz="1250" dirty="0">
                <a:solidFill>
                  <a:srgbClr val="12243F"/>
                </a:solidFill>
                <a:latin typeface="Arial" pitchFamily="34" charset="0"/>
                <a:ea typeface="Arial" pitchFamily="34" charset="-122"/>
                <a:cs typeface="Arial" pitchFamily="34" charset="-120"/>
              </a:rPr>
              <a:t>In exchange, I ask for permission to use the project as a case study, plus an introduction or referral if they're happy with the result.</a:t>
            </a:r>
            <a:endParaRPr lang="en-US" sz="1250" dirty="0"/>
          </a:p>
        </p:txBody>
      </p:sp>
      <p:sp>
        <p:nvSpPr>
          <p:cNvPr id="13" name="Shape 10"/>
          <p:cNvSpPr/>
          <p:nvPr/>
        </p:nvSpPr>
        <p:spPr>
          <a:xfrm>
            <a:off x="6035040" y="1783080"/>
            <a:ext cx="5486400" cy="4297680"/>
          </a:xfrm>
          <a:prstGeom prst="roundRect">
            <a:avLst>
              <a:gd name="adj" fmla="val 2553"/>
            </a:avLst>
          </a:prstGeom>
          <a:solidFill>
            <a:srgbClr val="12243F"/>
          </a:solidFill>
          <a:ln/>
        </p:spPr>
      </p:sp>
      <p:pic>
        <p:nvPicPr>
          <p:cNvPr id="14" name="Image 1" descr="preencoded.png"/>
          <p:cNvPicPr>
            <a:picLocks noChangeAspect="1"/>
          </p:cNvPicPr>
          <p:nvPr/>
        </p:nvPicPr>
        <p:blipFill>
          <a:blip r:embed="rId2"/>
          <a:stretch>
            <a:fillRect/>
          </a:stretch>
        </p:blipFill>
        <p:spPr>
          <a:xfrm>
            <a:off x="6263640" y="2011680"/>
            <a:ext cx="548640" cy="548640"/>
          </a:xfrm>
          <a:prstGeom prst="rect">
            <a:avLst/>
          </a:prstGeom>
        </p:spPr>
      </p:pic>
      <p:sp>
        <p:nvSpPr>
          <p:cNvPr id="15" name="Text 11"/>
          <p:cNvSpPr/>
          <p:nvPr/>
        </p:nvSpPr>
        <p:spPr>
          <a:xfrm>
            <a:off x="6949440" y="2084832"/>
            <a:ext cx="4297680" cy="41148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WHAT IT COSTS ME</a:t>
            </a:r>
            <a:endParaRPr lang="en-US" sz="1400" dirty="0"/>
          </a:p>
        </p:txBody>
      </p:sp>
      <p:sp>
        <p:nvSpPr>
          <p:cNvPr id="16" name="Text 12"/>
          <p:cNvSpPr/>
          <p:nvPr/>
        </p:nvSpPr>
        <p:spPr>
          <a:xfrm>
            <a:off x="8366760" y="2423160"/>
            <a:ext cx="1463040" cy="274320"/>
          </a:xfrm>
          <a:prstGeom prst="rect">
            <a:avLst/>
          </a:prstGeom>
          <a:noFill/>
          <a:ln/>
        </p:spPr>
        <p:txBody>
          <a:bodyPr wrap="square" rtlCol="0" anchor="ctr"/>
          <a:lstStyle/>
          <a:p>
            <a:pPr algn="ctr" indent="0" marL="0">
              <a:buNone/>
            </a:pPr>
            <a:r>
              <a:rPr lang="en-US" sz="1000" b="1" dirty="0">
                <a:solidFill>
                  <a:srgbClr val="8B9AB5"/>
                </a:solidFill>
                <a:latin typeface="Arial" pitchFamily="34" charset="0"/>
                <a:ea typeface="Arial" pitchFamily="34" charset="-122"/>
                <a:cs typeface="Arial" pitchFamily="34" charset="-120"/>
              </a:rPr>
              <a:t>STANDARD RATE</a:t>
            </a:r>
            <a:endParaRPr lang="en-US" sz="1000" dirty="0"/>
          </a:p>
        </p:txBody>
      </p:sp>
      <p:sp>
        <p:nvSpPr>
          <p:cNvPr id="17" name="Text 13"/>
          <p:cNvSpPr/>
          <p:nvPr/>
        </p:nvSpPr>
        <p:spPr>
          <a:xfrm>
            <a:off x="9875520" y="2423160"/>
            <a:ext cx="1463040" cy="274320"/>
          </a:xfrm>
          <a:prstGeom prst="rect">
            <a:avLst/>
          </a:prstGeom>
          <a:noFill/>
          <a:ln/>
        </p:spPr>
        <p:txBody>
          <a:bodyPr wrap="square" rtlCol="0" anchor="ctr"/>
          <a:lstStyle/>
          <a:p>
            <a:pPr algn="ctr" indent="0" marL="0">
              <a:buNone/>
            </a:pPr>
            <a:r>
              <a:rPr lang="en-US" sz="1000" b="1" dirty="0">
                <a:solidFill>
                  <a:srgbClr val="E8A33D"/>
                </a:solidFill>
                <a:latin typeface="Arial" pitchFamily="34" charset="0"/>
                <a:ea typeface="Arial" pitchFamily="34" charset="-122"/>
                <a:cs typeface="Arial" pitchFamily="34" charset="-120"/>
              </a:rPr>
              <a:t>FOUNDING CLIENT</a:t>
            </a:r>
            <a:endParaRPr lang="en-US" sz="1000" dirty="0"/>
          </a:p>
        </p:txBody>
      </p:sp>
      <p:sp>
        <p:nvSpPr>
          <p:cNvPr id="18" name="Text 14"/>
          <p:cNvSpPr/>
          <p:nvPr/>
        </p:nvSpPr>
        <p:spPr>
          <a:xfrm>
            <a:off x="6309360" y="2743200"/>
            <a:ext cx="1920240" cy="502920"/>
          </a:xfrm>
          <a:prstGeom prst="rect">
            <a:avLst/>
          </a:prstGeom>
          <a:noFill/>
          <a:ln/>
        </p:spPr>
        <p:txBody>
          <a:bodyPr wrap="square" rtlCol="0" anchor="ctr"/>
          <a:lstStyle/>
          <a:p>
            <a:pPr indent="0" marL="0">
              <a:buNone/>
            </a:pPr>
            <a:r>
              <a:rPr lang="en-US" sz="1250" dirty="0">
                <a:solidFill>
                  <a:srgbClr val="C9D2E0"/>
                </a:solidFill>
                <a:latin typeface="Arial" pitchFamily="34" charset="0"/>
                <a:ea typeface="Arial" pitchFamily="34" charset="-122"/>
                <a:cs typeface="Arial" pitchFamily="34" charset="-120"/>
              </a:rPr>
              <a:t>Project price</a:t>
            </a:r>
            <a:endParaRPr lang="en-US" sz="1250" dirty="0"/>
          </a:p>
        </p:txBody>
      </p:sp>
      <p:sp>
        <p:nvSpPr>
          <p:cNvPr id="19" name="Text 15"/>
          <p:cNvSpPr/>
          <p:nvPr/>
        </p:nvSpPr>
        <p:spPr>
          <a:xfrm>
            <a:off x="8275320" y="2743200"/>
            <a:ext cx="1645920" cy="502920"/>
          </a:xfrm>
          <a:prstGeom prst="rect">
            <a:avLst/>
          </a:prstGeom>
          <a:noFill/>
          <a:ln/>
        </p:spPr>
        <p:txBody>
          <a:bodyPr wrap="square" rtlCol="0" anchor="ctr"/>
          <a:lstStyle/>
          <a:p>
            <a:pPr algn="ctr" indent="0" marL="0">
              <a:buNone/>
            </a:pPr>
            <a:r>
              <a:rPr lang="en-US" sz="1600" b="1" dirty="0">
                <a:solidFill>
                  <a:srgbClr val="8B9AB5"/>
                </a:solidFill>
                <a:latin typeface="Cambria" pitchFamily="34" charset="0"/>
                <a:ea typeface="Cambria" pitchFamily="34" charset="-122"/>
                <a:cs typeface="Cambria" pitchFamily="34" charset="-120"/>
              </a:rPr>
              <a:t>$1,780</a:t>
            </a:r>
            <a:endParaRPr lang="en-US" sz="1600" dirty="0"/>
          </a:p>
        </p:txBody>
      </p:sp>
      <p:sp>
        <p:nvSpPr>
          <p:cNvPr id="20" name="Text 16"/>
          <p:cNvSpPr/>
          <p:nvPr/>
        </p:nvSpPr>
        <p:spPr>
          <a:xfrm>
            <a:off x="9784080" y="2743200"/>
            <a:ext cx="1645920" cy="502920"/>
          </a:xfrm>
          <a:prstGeom prst="rect">
            <a:avLst/>
          </a:prstGeom>
          <a:noFill/>
          <a:ln/>
        </p:spPr>
        <p:txBody>
          <a:bodyPr wrap="square" rtlCol="0" anchor="ctr"/>
          <a:lstStyle/>
          <a:p>
            <a:pPr algn="ctr" indent="0" marL="0">
              <a:buNone/>
            </a:pPr>
            <a:r>
              <a:rPr lang="en-US" sz="1600" b="1" dirty="0">
                <a:solidFill>
                  <a:srgbClr val="E8A33D"/>
                </a:solidFill>
                <a:latin typeface="Cambria" pitchFamily="34" charset="0"/>
                <a:ea typeface="Cambria" pitchFamily="34" charset="-122"/>
                <a:cs typeface="Cambria" pitchFamily="34" charset="-120"/>
              </a:rPr>
              <a:t>$1,630</a:t>
            </a:r>
            <a:endParaRPr lang="en-US" sz="1600" dirty="0"/>
          </a:p>
        </p:txBody>
      </p:sp>
      <p:sp>
        <p:nvSpPr>
          <p:cNvPr id="21" name="Text 17"/>
          <p:cNvSpPr/>
          <p:nvPr/>
        </p:nvSpPr>
        <p:spPr>
          <a:xfrm>
            <a:off x="6309360" y="3364992"/>
            <a:ext cx="1920240" cy="502920"/>
          </a:xfrm>
          <a:prstGeom prst="rect">
            <a:avLst/>
          </a:prstGeom>
          <a:noFill/>
          <a:ln/>
        </p:spPr>
        <p:txBody>
          <a:bodyPr wrap="square" rtlCol="0" anchor="ctr"/>
          <a:lstStyle/>
          <a:p>
            <a:pPr indent="0" marL="0">
              <a:buNone/>
            </a:pPr>
            <a:r>
              <a:rPr lang="en-US" sz="1250" dirty="0">
                <a:solidFill>
                  <a:srgbClr val="C9D2E0"/>
                </a:solidFill>
                <a:latin typeface="Arial" pitchFamily="34" charset="0"/>
                <a:ea typeface="Arial" pitchFamily="34" charset="-122"/>
                <a:cs typeface="Arial" pitchFamily="34" charset="-120"/>
              </a:rPr>
              <a:t>My gross profit</a:t>
            </a:r>
            <a:endParaRPr lang="en-US" sz="1250" dirty="0"/>
          </a:p>
        </p:txBody>
      </p:sp>
      <p:sp>
        <p:nvSpPr>
          <p:cNvPr id="22" name="Text 18"/>
          <p:cNvSpPr/>
          <p:nvPr/>
        </p:nvSpPr>
        <p:spPr>
          <a:xfrm>
            <a:off x="8275320" y="3364992"/>
            <a:ext cx="1645920" cy="502920"/>
          </a:xfrm>
          <a:prstGeom prst="rect">
            <a:avLst/>
          </a:prstGeom>
          <a:noFill/>
          <a:ln/>
        </p:spPr>
        <p:txBody>
          <a:bodyPr wrap="square" rtlCol="0" anchor="ctr"/>
          <a:lstStyle/>
          <a:p>
            <a:pPr algn="ctr" indent="0" marL="0">
              <a:buNone/>
            </a:pPr>
            <a:r>
              <a:rPr lang="en-US" sz="1600" b="1" dirty="0">
                <a:solidFill>
                  <a:srgbClr val="8B9AB5"/>
                </a:solidFill>
                <a:latin typeface="Cambria" pitchFamily="34" charset="0"/>
                <a:ea typeface="Cambria" pitchFamily="34" charset="-122"/>
                <a:cs typeface="Cambria" pitchFamily="34" charset="-120"/>
              </a:rPr>
              <a:t>$650</a:t>
            </a:r>
            <a:endParaRPr lang="en-US" sz="1600" dirty="0"/>
          </a:p>
        </p:txBody>
      </p:sp>
      <p:sp>
        <p:nvSpPr>
          <p:cNvPr id="23" name="Text 19"/>
          <p:cNvSpPr/>
          <p:nvPr/>
        </p:nvSpPr>
        <p:spPr>
          <a:xfrm>
            <a:off x="9784080" y="3364992"/>
            <a:ext cx="1645920" cy="502920"/>
          </a:xfrm>
          <a:prstGeom prst="rect">
            <a:avLst/>
          </a:prstGeom>
          <a:noFill/>
          <a:ln/>
        </p:spPr>
        <p:txBody>
          <a:bodyPr wrap="square" rtlCol="0" anchor="ctr"/>
          <a:lstStyle/>
          <a:p>
            <a:pPr algn="ctr" indent="0" marL="0">
              <a:buNone/>
            </a:pPr>
            <a:r>
              <a:rPr lang="en-US" sz="1600" b="1" dirty="0">
                <a:solidFill>
                  <a:srgbClr val="E8A33D"/>
                </a:solidFill>
                <a:latin typeface="Cambria" pitchFamily="34" charset="0"/>
                <a:ea typeface="Cambria" pitchFamily="34" charset="-122"/>
                <a:cs typeface="Cambria" pitchFamily="34" charset="-120"/>
              </a:rPr>
              <a:t>$500</a:t>
            </a:r>
            <a:endParaRPr lang="en-US" sz="1600" dirty="0"/>
          </a:p>
        </p:txBody>
      </p:sp>
      <p:sp>
        <p:nvSpPr>
          <p:cNvPr id="24" name="Text 20"/>
          <p:cNvSpPr/>
          <p:nvPr/>
        </p:nvSpPr>
        <p:spPr>
          <a:xfrm>
            <a:off x="6309360" y="3986784"/>
            <a:ext cx="1920240" cy="502920"/>
          </a:xfrm>
          <a:prstGeom prst="rect">
            <a:avLst/>
          </a:prstGeom>
          <a:noFill/>
          <a:ln/>
        </p:spPr>
        <p:txBody>
          <a:bodyPr wrap="square" rtlCol="0" anchor="ctr"/>
          <a:lstStyle/>
          <a:p>
            <a:pPr indent="0" marL="0">
              <a:buNone/>
            </a:pPr>
            <a:r>
              <a:rPr lang="en-US" sz="1250" dirty="0">
                <a:solidFill>
                  <a:srgbClr val="C9D2E0"/>
                </a:solidFill>
                <a:latin typeface="Arial" pitchFamily="34" charset="0"/>
                <a:ea typeface="Arial" pitchFamily="34" charset="-122"/>
                <a:cs typeface="Arial" pitchFamily="34" charset="-120"/>
              </a:rPr>
              <a:t>Effective hourly rate</a:t>
            </a:r>
            <a:endParaRPr lang="en-US" sz="1250" dirty="0"/>
          </a:p>
        </p:txBody>
      </p:sp>
      <p:sp>
        <p:nvSpPr>
          <p:cNvPr id="25" name="Text 21"/>
          <p:cNvSpPr/>
          <p:nvPr/>
        </p:nvSpPr>
        <p:spPr>
          <a:xfrm>
            <a:off x="8275320" y="3986784"/>
            <a:ext cx="1645920" cy="502920"/>
          </a:xfrm>
          <a:prstGeom prst="rect">
            <a:avLst/>
          </a:prstGeom>
          <a:noFill/>
          <a:ln/>
        </p:spPr>
        <p:txBody>
          <a:bodyPr wrap="square" rtlCol="0" anchor="ctr"/>
          <a:lstStyle/>
          <a:p>
            <a:pPr algn="ctr" indent="0" marL="0">
              <a:buNone/>
            </a:pPr>
            <a:r>
              <a:rPr lang="en-US" sz="1600" b="1" dirty="0">
                <a:solidFill>
                  <a:srgbClr val="8B9AB5"/>
                </a:solidFill>
                <a:latin typeface="Cambria" pitchFamily="34" charset="0"/>
                <a:ea typeface="Cambria" pitchFamily="34" charset="-122"/>
                <a:cs typeface="Cambria" pitchFamily="34" charset="-120"/>
              </a:rPr>
              <a:t>$108/hr</a:t>
            </a:r>
            <a:endParaRPr lang="en-US" sz="1600" dirty="0"/>
          </a:p>
        </p:txBody>
      </p:sp>
      <p:sp>
        <p:nvSpPr>
          <p:cNvPr id="26" name="Text 22"/>
          <p:cNvSpPr/>
          <p:nvPr/>
        </p:nvSpPr>
        <p:spPr>
          <a:xfrm>
            <a:off x="9784080" y="3986784"/>
            <a:ext cx="1645920" cy="502920"/>
          </a:xfrm>
          <a:prstGeom prst="rect">
            <a:avLst/>
          </a:prstGeom>
          <a:noFill/>
          <a:ln/>
        </p:spPr>
        <p:txBody>
          <a:bodyPr wrap="square" rtlCol="0" anchor="ctr"/>
          <a:lstStyle/>
          <a:p>
            <a:pPr algn="ctr" indent="0" marL="0">
              <a:buNone/>
            </a:pPr>
            <a:r>
              <a:rPr lang="en-US" sz="1600" b="1" dirty="0">
                <a:solidFill>
                  <a:srgbClr val="E8A33D"/>
                </a:solidFill>
                <a:latin typeface="Cambria" pitchFamily="34" charset="0"/>
                <a:ea typeface="Cambria" pitchFamily="34" charset="-122"/>
                <a:cs typeface="Cambria" pitchFamily="34" charset="-120"/>
              </a:rPr>
              <a:t>$83/hr</a:t>
            </a:r>
            <a:endParaRPr lang="en-US" sz="1600" dirty="0"/>
          </a:p>
        </p:txBody>
      </p:sp>
      <p:sp>
        <p:nvSpPr>
          <p:cNvPr id="27" name="Shape 23"/>
          <p:cNvSpPr/>
          <p:nvPr/>
        </p:nvSpPr>
        <p:spPr>
          <a:xfrm>
            <a:off x="6309360" y="4654296"/>
            <a:ext cx="4937760" cy="0"/>
          </a:xfrm>
          <a:prstGeom prst="line">
            <a:avLst/>
          </a:prstGeom>
          <a:noFill/>
          <a:ln w="12700">
            <a:solidFill>
              <a:srgbClr val="2E4870"/>
            </a:solidFill>
            <a:prstDash val="solid"/>
          </a:ln>
        </p:spPr>
      </p:sp>
      <p:sp>
        <p:nvSpPr>
          <p:cNvPr id="28" name="Text 24"/>
          <p:cNvSpPr/>
          <p:nvPr/>
        </p:nvSpPr>
        <p:spPr>
          <a:xfrm>
            <a:off x="6309360" y="4882896"/>
            <a:ext cx="4937760" cy="822960"/>
          </a:xfrm>
          <a:prstGeom prst="rect">
            <a:avLst/>
          </a:prstGeom>
          <a:noFill/>
          <a:ln/>
        </p:spPr>
        <p:txBody>
          <a:bodyPr wrap="square" rtlCol="0" anchor="t"/>
          <a:lstStyle/>
          <a:p>
            <a:pPr indent="0" marL="0">
              <a:buNone/>
            </a:pPr>
            <a:r>
              <a:rPr lang="en-US" sz="1200" i="1" dirty="0">
                <a:solidFill>
                  <a:srgbClr val="C9D2E0"/>
                </a:solidFill>
                <a:latin typeface="Arial" pitchFamily="34" charset="0"/>
                <a:ea typeface="Arial" pitchFamily="34" charset="-122"/>
                <a:cs typeface="Arial" pitchFamily="34" charset="-120"/>
              </a:rPr>
              <a:t>Founding client rate passes hardware through at trade cost ($199/unit vs $249 MSRP) - a $150 discount. SMUD CES commercial rebate (~$75/unit x 3 = $225) reduces the net further. Owner's effective investment: ~$1,330 after both. Payback at 15% savings: about 13 months.</a:t>
            </a:r>
            <a:endParaRPr lang="en-US" sz="1200" dirty="0"/>
          </a:p>
        </p:txBody>
      </p:sp>
      <p:sp>
        <p:nvSpPr>
          <p:cNvPr id="29" name="Text 25"/>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A6B85"/>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8229600" cy="365760"/>
          </a:xfrm>
          <a:prstGeom prst="rect">
            <a:avLst/>
          </a:prstGeom>
          <a:noFill/>
          <a:ln/>
        </p:spPr>
        <p:txBody>
          <a:bodyPr wrap="square" rtlCol="0" anchor="ctr"/>
          <a:lstStyle/>
          <a:p>
            <a:pPr indent="0" marL="0">
              <a:buNone/>
            </a:pPr>
            <a:r>
              <a:rPr lang="en-US" sz="1300" b="1" spc="200" kern="0" dirty="0">
                <a:solidFill>
                  <a:srgbClr val="C77F1D"/>
                </a:solidFill>
                <a:latin typeface="Arial" pitchFamily="34" charset="0"/>
                <a:ea typeface="Arial" pitchFamily="34" charset="-122"/>
                <a:cs typeface="Arial" pitchFamily="34" charset="-120"/>
              </a:rPr>
              <a:t>HOW BIG IS THIS, REALLY?</a:t>
            </a:r>
            <a:endParaRPr lang="en-US" sz="1300" dirty="0"/>
          </a:p>
        </p:txBody>
      </p:sp>
      <p:sp>
        <p:nvSpPr>
          <p:cNvPr id="3" name="Text 1"/>
          <p:cNvSpPr/>
          <p:nvPr/>
        </p:nvSpPr>
        <p:spPr>
          <a:xfrm>
            <a:off x="640080" y="841248"/>
            <a:ext cx="10515600" cy="640080"/>
          </a:xfrm>
          <a:prstGeom prst="rect">
            <a:avLst/>
          </a:prstGeom>
          <a:noFill/>
          <a:ln/>
        </p:spPr>
        <p:txBody>
          <a:bodyPr wrap="square" rtlCol="0" anchor="ctr"/>
          <a:lstStyle/>
          <a:p>
            <a:pPr indent="0" marL="0">
              <a:buNone/>
            </a:pPr>
            <a:r>
              <a:rPr lang="en-US" sz="2800" b="1" dirty="0">
                <a:solidFill>
                  <a:srgbClr val="12243F"/>
                </a:solidFill>
                <a:latin typeface="Cambria" pitchFamily="34" charset="0"/>
                <a:ea typeface="Cambria" pitchFamily="34" charset="-122"/>
                <a:cs typeface="Cambria" pitchFamily="34" charset="-120"/>
              </a:rPr>
              <a:t>Plenty of buildings - for decades, not just this year</a:t>
            </a:r>
            <a:endParaRPr lang="en-US" sz="2800" dirty="0"/>
          </a:p>
        </p:txBody>
      </p:sp>
      <p:sp>
        <p:nvSpPr>
          <p:cNvPr id="4" name="Shape 2"/>
          <p:cNvSpPr/>
          <p:nvPr/>
        </p:nvSpPr>
        <p:spPr>
          <a:xfrm>
            <a:off x="1097280" y="1828800"/>
            <a:ext cx="9692640" cy="868680"/>
          </a:xfrm>
          <a:prstGeom prst="roundRect">
            <a:avLst>
              <a:gd name="adj" fmla="val 8421"/>
            </a:avLst>
          </a:prstGeom>
          <a:solidFill>
            <a:srgbClr val="1B3358"/>
          </a:solidFill>
          <a:ln/>
        </p:spPr>
      </p:sp>
      <p:sp>
        <p:nvSpPr>
          <p:cNvPr id="5" name="Text 3"/>
          <p:cNvSpPr/>
          <p:nvPr/>
        </p:nvSpPr>
        <p:spPr>
          <a:xfrm>
            <a:off x="1371600" y="1828800"/>
            <a:ext cx="7680960" cy="8686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Commercial buildings in the US</a:t>
            </a:r>
            <a:endParaRPr lang="en-US" sz="1400" dirty="0"/>
          </a:p>
        </p:txBody>
      </p:sp>
      <p:sp>
        <p:nvSpPr>
          <p:cNvPr id="6" name="Text 4"/>
          <p:cNvSpPr/>
          <p:nvPr/>
        </p:nvSpPr>
        <p:spPr>
          <a:xfrm>
            <a:off x="8869680" y="1828800"/>
            <a:ext cx="1737360" cy="868680"/>
          </a:xfrm>
          <a:prstGeom prst="rect">
            <a:avLst/>
          </a:prstGeom>
          <a:noFill/>
          <a:ln/>
        </p:spPr>
        <p:txBody>
          <a:bodyPr wrap="square" rtlCol="0" anchor="ctr"/>
          <a:lstStyle/>
          <a:p>
            <a:pPr algn="r" indent="0" marL="0">
              <a:buNone/>
            </a:pPr>
            <a:r>
              <a:rPr lang="en-US" sz="1900" b="1" dirty="0">
                <a:solidFill>
                  <a:srgbClr val="E8A33D"/>
                </a:solidFill>
                <a:latin typeface="Cambria" pitchFamily="34" charset="0"/>
                <a:ea typeface="Cambria" pitchFamily="34" charset="-122"/>
                <a:cs typeface="Cambria" pitchFamily="34" charset="-120"/>
              </a:rPr>
              <a:t>5.9 million</a:t>
            </a:r>
            <a:endParaRPr lang="en-US" sz="1900" dirty="0"/>
          </a:p>
        </p:txBody>
      </p:sp>
      <p:sp>
        <p:nvSpPr>
          <p:cNvPr id="7" name="Shape 5"/>
          <p:cNvSpPr/>
          <p:nvPr/>
        </p:nvSpPr>
        <p:spPr>
          <a:xfrm>
            <a:off x="2468880" y="2907792"/>
            <a:ext cx="6949440" cy="868680"/>
          </a:xfrm>
          <a:prstGeom prst="roundRect">
            <a:avLst>
              <a:gd name="adj" fmla="val 8421"/>
            </a:avLst>
          </a:prstGeom>
          <a:solidFill>
            <a:srgbClr val="2E4870"/>
          </a:solidFill>
          <a:ln/>
        </p:spPr>
      </p:sp>
      <p:sp>
        <p:nvSpPr>
          <p:cNvPr id="8" name="Text 6"/>
          <p:cNvSpPr/>
          <p:nvPr/>
        </p:nvSpPr>
        <p:spPr>
          <a:xfrm>
            <a:off x="2743200" y="2907792"/>
            <a:ext cx="4937760" cy="86868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Right size for this business (5,000-80,000 sq ft)</a:t>
            </a:r>
            <a:endParaRPr lang="en-US" sz="1400" dirty="0"/>
          </a:p>
        </p:txBody>
      </p:sp>
      <p:sp>
        <p:nvSpPr>
          <p:cNvPr id="9" name="Text 7"/>
          <p:cNvSpPr/>
          <p:nvPr/>
        </p:nvSpPr>
        <p:spPr>
          <a:xfrm>
            <a:off x="7498080" y="2907792"/>
            <a:ext cx="1737360" cy="868680"/>
          </a:xfrm>
          <a:prstGeom prst="rect">
            <a:avLst/>
          </a:prstGeom>
          <a:noFill/>
          <a:ln/>
        </p:spPr>
        <p:txBody>
          <a:bodyPr wrap="square" rtlCol="0" anchor="ctr"/>
          <a:lstStyle/>
          <a:p>
            <a:pPr algn="r" indent="0" marL="0">
              <a:buNone/>
            </a:pPr>
            <a:r>
              <a:rPr lang="en-US" sz="1900" b="1" dirty="0">
                <a:solidFill>
                  <a:srgbClr val="E8A33D"/>
                </a:solidFill>
                <a:latin typeface="Cambria" pitchFamily="34" charset="0"/>
                <a:ea typeface="Cambria" pitchFamily="34" charset="-122"/>
                <a:cs typeface="Cambria" pitchFamily="34" charset="-120"/>
              </a:rPr>
              <a:t>~2.8 million</a:t>
            </a:r>
            <a:endParaRPr lang="en-US" sz="1900" dirty="0"/>
          </a:p>
        </p:txBody>
      </p:sp>
      <p:sp>
        <p:nvSpPr>
          <p:cNvPr id="10" name="Shape 8"/>
          <p:cNvSpPr/>
          <p:nvPr/>
        </p:nvSpPr>
        <p:spPr>
          <a:xfrm>
            <a:off x="3657600" y="3986784"/>
            <a:ext cx="4572000" cy="868680"/>
          </a:xfrm>
          <a:prstGeom prst="roundRect">
            <a:avLst>
              <a:gd name="adj" fmla="val 8421"/>
            </a:avLst>
          </a:prstGeom>
          <a:solidFill>
            <a:srgbClr val="E8A33D"/>
          </a:solidFill>
          <a:ln/>
        </p:spPr>
      </p:sp>
      <p:sp>
        <p:nvSpPr>
          <p:cNvPr id="11" name="Text 9"/>
          <p:cNvSpPr/>
          <p:nvPr/>
        </p:nvSpPr>
        <p:spPr>
          <a:xfrm>
            <a:off x="3931920" y="3986784"/>
            <a:ext cx="2560320" cy="868680"/>
          </a:xfrm>
          <a:prstGeom prst="rect">
            <a:avLst/>
          </a:prstGeom>
          <a:noFill/>
          <a:ln/>
        </p:spPr>
        <p:txBody>
          <a:bodyPr wrap="square" rtlCol="0" anchor="ctr"/>
          <a:lstStyle/>
          <a:p>
            <a:pPr indent="0" marL="0">
              <a:buNone/>
            </a:pPr>
            <a:r>
              <a:rPr lang="en-US" sz="1400" b="1" dirty="0">
                <a:solidFill>
                  <a:srgbClr val="12243F"/>
                </a:solidFill>
                <a:latin typeface="Arial" pitchFamily="34" charset="0"/>
                <a:ea typeface="Arial" pitchFamily="34" charset="-122"/>
                <a:cs typeface="Arial" pitchFamily="34" charset="-120"/>
              </a:rPr>
              <a:t>Likely missing modern controls</a:t>
            </a:r>
            <a:endParaRPr lang="en-US" sz="1400" dirty="0"/>
          </a:p>
        </p:txBody>
      </p:sp>
      <p:sp>
        <p:nvSpPr>
          <p:cNvPr id="12" name="Text 10"/>
          <p:cNvSpPr/>
          <p:nvPr/>
        </p:nvSpPr>
        <p:spPr>
          <a:xfrm>
            <a:off x="6309360" y="3986784"/>
            <a:ext cx="1737360" cy="868680"/>
          </a:xfrm>
          <a:prstGeom prst="rect">
            <a:avLst/>
          </a:prstGeom>
          <a:noFill/>
          <a:ln/>
        </p:spPr>
        <p:txBody>
          <a:bodyPr wrap="square" rtlCol="0" anchor="ctr"/>
          <a:lstStyle/>
          <a:p>
            <a:pPr algn="r" indent="0" marL="0">
              <a:buNone/>
            </a:pPr>
            <a:r>
              <a:rPr lang="en-US" sz="1900" b="1" dirty="0">
                <a:solidFill>
                  <a:srgbClr val="12243F"/>
                </a:solidFill>
                <a:latin typeface="Cambria" pitchFamily="34" charset="0"/>
                <a:ea typeface="Cambria" pitchFamily="34" charset="-122"/>
                <a:cs typeface="Cambria" pitchFamily="34" charset="-120"/>
              </a:rPr>
              <a:t>~1.4 million</a:t>
            </a:r>
            <a:endParaRPr lang="en-US" sz="1900" dirty="0"/>
          </a:p>
        </p:txBody>
      </p:sp>
      <p:sp>
        <p:nvSpPr>
          <p:cNvPr id="13" name="Shape 11"/>
          <p:cNvSpPr/>
          <p:nvPr/>
        </p:nvSpPr>
        <p:spPr>
          <a:xfrm>
            <a:off x="640080" y="5111496"/>
            <a:ext cx="10607040" cy="0"/>
          </a:xfrm>
          <a:prstGeom prst="line">
            <a:avLst/>
          </a:prstGeom>
          <a:noFill/>
          <a:ln w="12700">
            <a:solidFill>
              <a:srgbClr val="E0E0E0"/>
            </a:solidFill>
            <a:prstDash val="solid"/>
          </a:ln>
        </p:spPr>
      </p:sp>
      <p:sp>
        <p:nvSpPr>
          <p:cNvPr id="14" name="Text 12"/>
          <p:cNvSpPr/>
          <p:nvPr/>
        </p:nvSpPr>
        <p:spPr>
          <a:xfrm>
            <a:off x="640080" y="5385816"/>
            <a:ext cx="10607040" cy="365760"/>
          </a:xfrm>
          <a:prstGeom prst="rect">
            <a:avLst/>
          </a:prstGeom>
          <a:noFill/>
          <a:ln/>
        </p:spPr>
        <p:txBody>
          <a:bodyPr wrap="square" rtlCol="0" anchor="ctr"/>
          <a:lstStyle/>
          <a:p>
            <a:pPr indent="0" marL="0">
              <a:buNone/>
            </a:pPr>
            <a:r>
              <a:rPr lang="en-US" sz="1400" b="1" dirty="0">
                <a:solidFill>
                  <a:srgbClr val="12243F"/>
                </a:solidFill>
                <a:latin typeface="Arial" pitchFamily="34" charset="0"/>
                <a:ea typeface="Arial" pitchFamily="34" charset="-122"/>
                <a:cs typeface="Arial" pitchFamily="34" charset="-120"/>
              </a:rPr>
              <a:t>To put that 1.4 million in perspective:</a:t>
            </a:r>
            <a:endParaRPr lang="en-US" sz="1400" dirty="0"/>
          </a:p>
        </p:txBody>
      </p:sp>
      <p:pic>
        <p:nvPicPr>
          <p:cNvPr id="15" name="Image 0" descr="preencoded.png"/>
          <p:cNvPicPr>
            <a:picLocks noChangeAspect="1"/>
          </p:cNvPicPr>
          <p:nvPr/>
        </p:nvPicPr>
        <p:blipFill>
          <a:blip r:embed="rId1"/>
          <a:stretch>
            <a:fillRect/>
          </a:stretch>
        </p:blipFill>
        <p:spPr>
          <a:xfrm>
            <a:off x="640080" y="5843016"/>
            <a:ext cx="320040" cy="320040"/>
          </a:xfrm>
          <a:prstGeom prst="rect">
            <a:avLst/>
          </a:prstGeom>
        </p:spPr>
      </p:pic>
      <p:sp>
        <p:nvSpPr>
          <p:cNvPr id="16" name="Text 13"/>
          <p:cNvSpPr/>
          <p:nvPr/>
        </p:nvSpPr>
        <p:spPr>
          <a:xfrm>
            <a:off x="1097280" y="5815584"/>
            <a:ext cx="10058400" cy="457200"/>
          </a:xfrm>
          <a:prstGeom prst="rect">
            <a:avLst/>
          </a:prstGeom>
          <a:noFill/>
          <a:ln/>
        </p:spPr>
        <p:txBody>
          <a:bodyPr wrap="square" rtlCol="0" anchor="ctr"/>
          <a:lstStyle/>
          <a:p>
            <a:pPr indent="0" marL="0">
              <a:buNone/>
            </a:pPr>
            <a:r>
              <a:rPr lang="en-US" sz="1350" dirty="0">
                <a:solidFill>
                  <a:srgbClr val="5A6B85"/>
                </a:solidFill>
                <a:latin typeface="Arial" pitchFamily="34" charset="0"/>
                <a:ea typeface="Arial" pitchFamily="34" charset="-122"/>
                <a:cs typeface="Arial" pitchFamily="34" charset="-120"/>
              </a:rPr>
              <a:t>A team of 3 people serving 60 buildings a year would use up 0.004% of that market in a year</a:t>
            </a:r>
            <a:endParaRPr lang="en-US" sz="1350" dirty="0"/>
          </a:p>
        </p:txBody>
      </p:sp>
      <p:pic>
        <p:nvPicPr>
          <p:cNvPr id="17" name="Image 1" descr="preencoded.png"/>
          <p:cNvPicPr>
            <a:picLocks noChangeAspect="1"/>
          </p:cNvPicPr>
          <p:nvPr/>
        </p:nvPicPr>
        <p:blipFill>
          <a:blip r:embed="rId2"/>
          <a:stretch>
            <a:fillRect/>
          </a:stretch>
        </p:blipFill>
        <p:spPr>
          <a:xfrm>
            <a:off x="640080" y="6345936"/>
            <a:ext cx="320040" cy="320040"/>
          </a:xfrm>
          <a:prstGeom prst="rect">
            <a:avLst/>
          </a:prstGeom>
        </p:spPr>
      </p:pic>
      <p:sp>
        <p:nvSpPr>
          <p:cNvPr id="18" name="Text 14"/>
          <p:cNvSpPr/>
          <p:nvPr/>
        </p:nvSpPr>
        <p:spPr>
          <a:xfrm>
            <a:off x="1097280" y="6318504"/>
            <a:ext cx="10058400" cy="457200"/>
          </a:xfrm>
          <a:prstGeom prst="rect">
            <a:avLst/>
          </a:prstGeom>
          <a:noFill/>
          <a:ln/>
        </p:spPr>
        <p:txBody>
          <a:bodyPr wrap="square" rtlCol="0" anchor="ctr"/>
          <a:lstStyle/>
          <a:p>
            <a:pPr indent="0" marL="0">
              <a:buNone/>
            </a:pPr>
            <a:r>
              <a:rPr lang="en-US" sz="1350" dirty="0">
                <a:solidFill>
                  <a:srgbClr val="5A6B85"/>
                </a:solidFill>
                <a:latin typeface="Arial" pitchFamily="34" charset="0"/>
                <a:ea typeface="Arial" pitchFamily="34" charset="-122"/>
                <a:cs typeface="Arial" pitchFamily="34" charset="-120"/>
              </a:rPr>
              <a:t>At that pace, the business could run for 200+ years before running out of new buildings to approach - in California alone</a:t>
            </a:r>
            <a:endParaRPr lang="en-US" sz="1350" dirty="0"/>
          </a:p>
        </p:txBody>
      </p:sp>
      <p:sp>
        <p:nvSpPr>
          <p:cNvPr id="19" name="Text 15"/>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A6B85"/>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243F"/>
        </a:solidFill>
      </p:bgPr>
    </p:bg>
    <p:spTree>
      <p:nvGrpSpPr>
        <p:cNvPr id="1" name=""/>
        <p:cNvGrpSpPr/>
        <p:nvPr/>
      </p:nvGrpSpPr>
      <p:grpSpPr>
        <a:xfrm>
          <a:off x="0" y="0"/>
          <a:ext cx="0" cy="0"/>
          <a:chOff x="0" y="0"/>
          <a:chExt cx="0" cy="0"/>
        </a:xfrm>
      </p:grpSpPr>
      <p:sp>
        <p:nvSpPr>
          <p:cNvPr id="2" name="Text 0"/>
          <p:cNvSpPr/>
          <p:nvPr/>
        </p:nvSpPr>
        <p:spPr>
          <a:xfrm>
            <a:off x="640080" y="457200"/>
            <a:ext cx="8229600" cy="365760"/>
          </a:xfrm>
          <a:prstGeom prst="rect">
            <a:avLst/>
          </a:prstGeom>
          <a:noFill/>
          <a:ln/>
        </p:spPr>
        <p:txBody>
          <a:bodyPr wrap="square" rtlCol="0" anchor="ctr"/>
          <a:lstStyle/>
          <a:p>
            <a:pPr indent="0" marL="0">
              <a:buNone/>
            </a:pPr>
            <a:r>
              <a:rPr lang="en-US" sz="1300" b="1" spc="200" kern="0" dirty="0">
                <a:solidFill>
                  <a:srgbClr val="E8A33D"/>
                </a:solidFill>
                <a:latin typeface="Arial" pitchFamily="34" charset="0"/>
                <a:ea typeface="Arial" pitchFamily="34" charset="-122"/>
                <a:cs typeface="Arial" pitchFamily="34" charset="-120"/>
              </a:rPr>
              <a:t>THE COMPETITIVE GAP</a:t>
            </a:r>
            <a:endParaRPr lang="en-US" sz="1300" dirty="0"/>
          </a:p>
        </p:txBody>
      </p:sp>
      <p:sp>
        <p:nvSpPr>
          <p:cNvPr id="3" name="Text 1"/>
          <p:cNvSpPr/>
          <p:nvPr/>
        </p:nvSpPr>
        <p:spPr>
          <a:xfrm>
            <a:off x="640080" y="841248"/>
            <a:ext cx="10698480" cy="640080"/>
          </a:xfrm>
          <a:prstGeom prst="rect">
            <a:avLst/>
          </a:prstGeom>
          <a:noFill/>
          <a:ln/>
        </p:spPr>
        <p:txBody>
          <a:bodyPr wrap="square"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Big companies ignore this size. Small companies can't do this work.</a:t>
            </a:r>
            <a:endParaRPr lang="en-US" sz="2500" dirty="0"/>
          </a:p>
        </p:txBody>
      </p:sp>
      <p:sp>
        <p:nvSpPr>
          <p:cNvPr id="4" name="Shape 2"/>
          <p:cNvSpPr/>
          <p:nvPr/>
        </p:nvSpPr>
        <p:spPr>
          <a:xfrm>
            <a:off x="640080" y="1783080"/>
            <a:ext cx="5257800" cy="4297680"/>
          </a:xfrm>
          <a:prstGeom prst="roundRect">
            <a:avLst>
              <a:gd name="adj" fmla="val 2128"/>
            </a:avLst>
          </a:prstGeom>
          <a:solidFill>
            <a:srgbClr val="1B3358"/>
          </a:solidFill>
          <a:ln/>
        </p:spPr>
      </p:sp>
      <p:sp>
        <p:nvSpPr>
          <p:cNvPr id="5" name="Text 3"/>
          <p:cNvSpPr/>
          <p:nvPr/>
        </p:nvSpPr>
        <p:spPr>
          <a:xfrm>
            <a:off x="914400" y="2011680"/>
            <a:ext cx="4709160" cy="457200"/>
          </a:xfrm>
          <a:prstGeom prst="rect">
            <a:avLst/>
          </a:prstGeom>
          <a:noFill/>
          <a:ln/>
        </p:spPr>
        <p:txBody>
          <a:bodyPr wrap="square" rtlCol="0" anchor="ctr"/>
          <a:lstStyle/>
          <a:p>
            <a:pPr indent="0" marL="0">
              <a:buNone/>
            </a:pPr>
            <a:r>
              <a:rPr lang="en-US" sz="1300" b="1" dirty="0">
                <a:solidFill>
                  <a:srgbClr val="E8A33D"/>
                </a:solidFill>
                <a:latin typeface="Arial" pitchFamily="34" charset="0"/>
                <a:ea typeface="Arial" pitchFamily="34" charset="-122"/>
                <a:cs typeface="Arial" pitchFamily="34" charset="-120"/>
              </a:rPr>
              <a:t>LARGE FIRMS (Johnson Controls, Siemens, etc.)</a:t>
            </a:r>
            <a:endParaRPr lang="en-US" sz="1300" dirty="0"/>
          </a:p>
        </p:txBody>
      </p:sp>
      <p:sp>
        <p:nvSpPr>
          <p:cNvPr id="6" name="Text 4"/>
          <p:cNvSpPr/>
          <p:nvPr/>
        </p:nvSpPr>
        <p:spPr>
          <a:xfrm>
            <a:off x="914400" y="2651760"/>
            <a:ext cx="274320" cy="457200"/>
          </a:xfrm>
          <a:prstGeom prst="rect">
            <a:avLst/>
          </a:prstGeom>
          <a:noFill/>
          <a:ln/>
        </p:spPr>
        <p:txBody>
          <a:bodyPr wrap="square" rtlCol="0" anchor="ctr"/>
          <a:lstStyle/>
          <a:p>
            <a:pPr indent="0" marL="0">
              <a:buNone/>
            </a:pPr>
            <a:r>
              <a:rPr lang="en-US" sz="1400" dirty="0">
                <a:solidFill>
                  <a:srgbClr val="8B9AB5"/>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1234440" y="2651760"/>
            <a:ext cx="4343400" cy="594360"/>
          </a:xfrm>
          <a:prstGeom prst="rect">
            <a:avLst/>
          </a:prstGeom>
          <a:noFill/>
          <a:ln/>
        </p:spPr>
        <p:txBody>
          <a:bodyPr wrap="square" rtlCol="0" anchor="t"/>
          <a:lstStyle/>
          <a:p>
            <a:pPr indent="0" marL="0">
              <a:buNone/>
            </a:pPr>
            <a:r>
              <a:rPr lang="en-US" sz="1300" dirty="0">
                <a:solidFill>
                  <a:srgbClr val="C9D2E0"/>
                </a:solidFill>
                <a:latin typeface="Arial" pitchFamily="34" charset="0"/>
                <a:ea typeface="Arial" pitchFamily="34" charset="-122"/>
                <a:cs typeface="Arial" pitchFamily="34" charset="-120"/>
              </a:rPr>
              <a:t>Minimum project size often $50,000+</a:t>
            </a:r>
            <a:endParaRPr lang="en-US" sz="1300" dirty="0"/>
          </a:p>
        </p:txBody>
      </p:sp>
      <p:sp>
        <p:nvSpPr>
          <p:cNvPr id="8" name="Text 6"/>
          <p:cNvSpPr/>
          <p:nvPr/>
        </p:nvSpPr>
        <p:spPr>
          <a:xfrm>
            <a:off x="914400" y="3364992"/>
            <a:ext cx="274320" cy="457200"/>
          </a:xfrm>
          <a:prstGeom prst="rect">
            <a:avLst/>
          </a:prstGeom>
          <a:noFill/>
          <a:ln/>
        </p:spPr>
        <p:txBody>
          <a:bodyPr wrap="square" rtlCol="0" anchor="ctr"/>
          <a:lstStyle/>
          <a:p>
            <a:pPr indent="0" marL="0">
              <a:buNone/>
            </a:pPr>
            <a:r>
              <a:rPr lang="en-US" sz="1400" dirty="0">
                <a:solidFill>
                  <a:srgbClr val="8B9AB5"/>
                </a:solidFill>
                <a:latin typeface="Arial" pitchFamily="34" charset="0"/>
                <a:ea typeface="Arial" pitchFamily="34" charset="-122"/>
                <a:cs typeface="Arial" pitchFamily="34" charset="-120"/>
              </a:rPr>
              <a:t>-</a:t>
            </a:r>
            <a:endParaRPr lang="en-US" sz="1400" dirty="0"/>
          </a:p>
        </p:txBody>
      </p:sp>
      <p:sp>
        <p:nvSpPr>
          <p:cNvPr id="9" name="Text 7"/>
          <p:cNvSpPr/>
          <p:nvPr/>
        </p:nvSpPr>
        <p:spPr>
          <a:xfrm>
            <a:off x="1234440" y="3364992"/>
            <a:ext cx="4343400" cy="594360"/>
          </a:xfrm>
          <a:prstGeom prst="rect">
            <a:avLst/>
          </a:prstGeom>
          <a:noFill/>
          <a:ln/>
        </p:spPr>
        <p:txBody>
          <a:bodyPr wrap="square" rtlCol="0" anchor="t"/>
          <a:lstStyle/>
          <a:p>
            <a:pPr indent="0" marL="0">
              <a:buNone/>
            </a:pPr>
            <a:r>
              <a:rPr lang="en-US" sz="1300" dirty="0">
                <a:solidFill>
                  <a:srgbClr val="C9D2E0"/>
                </a:solidFill>
                <a:latin typeface="Arial" pitchFamily="34" charset="0"/>
                <a:ea typeface="Arial" pitchFamily="34" charset="-122"/>
                <a:cs typeface="Arial" pitchFamily="34" charset="-120"/>
              </a:rPr>
              <a:t>6-18 month sales process with committees</a:t>
            </a:r>
            <a:endParaRPr lang="en-US" sz="1300" dirty="0"/>
          </a:p>
        </p:txBody>
      </p:sp>
      <p:sp>
        <p:nvSpPr>
          <p:cNvPr id="10" name="Text 8"/>
          <p:cNvSpPr/>
          <p:nvPr/>
        </p:nvSpPr>
        <p:spPr>
          <a:xfrm>
            <a:off x="914400" y="4078224"/>
            <a:ext cx="274320" cy="457200"/>
          </a:xfrm>
          <a:prstGeom prst="rect">
            <a:avLst/>
          </a:prstGeom>
          <a:noFill/>
          <a:ln/>
        </p:spPr>
        <p:txBody>
          <a:bodyPr wrap="square" rtlCol="0" anchor="ctr"/>
          <a:lstStyle/>
          <a:p>
            <a:pPr indent="0" marL="0">
              <a:buNone/>
            </a:pPr>
            <a:r>
              <a:rPr lang="en-US" sz="1400" dirty="0">
                <a:solidFill>
                  <a:srgbClr val="8B9AB5"/>
                </a:solidFill>
                <a:latin typeface="Arial" pitchFamily="34" charset="0"/>
                <a:ea typeface="Arial" pitchFamily="34" charset="-122"/>
                <a:cs typeface="Arial" pitchFamily="34" charset="-120"/>
              </a:rPr>
              <a:t>-</a:t>
            </a:r>
            <a:endParaRPr lang="en-US" sz="1400" dirty="0"/>
          </a:p>
        </p:txBody>
      </p:sp>
      <p:sp>
        <p:nvSpPr>
          <p:cNvPr id="11" name="Text 9"/>
          <p:cNvSpPr/>
          <p:nvPr/>
        </p:nvSpPr>
        <p:spPr>
          <a:xfrm>
            <a:off x="1234440" y="4078224"/>
            <a:ext cx="4343400" cy="594360"/>
          </a:xfrm>
          <a:prstGeom prst="rect">
            <a:avLst/>
          </a:prstGeom>
          <a:noFill/>
          <a:ln/>
        </p:spPr>
        <p:txBody>
          <a:bodyPr wrap="square" rtlCol="0" anchor="t"/>
          <a:lstStyle/>
          <a:p>
            <a:pPr indent="0" marL="0">
              <a:buNone/>
            </a:pPr>
            <a:r>
              <a:rPr lang="en-US" sz="1300" dirty="0">
                <a:solidFill>
                  <a:srgbClr val="C9D2E0"/>
                </a:solidFill>
                <a:latin typeface="Arial" pitchFamily="34" charset="0"/>
                <a:ea typeface="Arial" pitchFamily="34" charset="-122"/>
                <a:cs typeface="Arial" pitchFamily="34" charset="-120"/>
              </a:rPr>
              <a:t>Won't take a call about a 12,000 sq ft strip mall</a:t>
            </a:r>
            <a:endParaRPr lang="en-US" sz="1300" dirty="0"/>
          </a:p>
        </p:txBody>
      </p:sp>
      <p:sp>
        <p:nvSpPr>
          <p:cNvPr id="12" name="Shape 10"/>
          <p:cNvSpPr/>
          <p:nvPr/>
        </p:nvSpPr>
        <p:spPr>
          <a:xfrm>
            <a:off x="6263640" y="1783080"/>
            <a:ext cx="5257800" cy="4297680"/>
          </a:xfrm>
          <a:prstGeom prst="roundRect">
            <a:avLst>
              <a:gd name="adj" fmla="val 2128"/>
            </a:avLst>
          </a:prstGeom>
          <a:solidFill>
            <a:srgbClr val="1B3358"/>
          </a:solidFill>
          <a:ln/>
        </p:spPr>
      </p:sp>
      <p:sp>
        <p:nvSpPr>
          <p:cNvPr id="13" name="Text 11"/>
          <p:cNvSpPr/>
          <p:nvPr/>
        </p:nvSpPr>
        <p:spPr>
          <a:xfrm>
            <a:off x="6537960" y="2011680"/>
            <a:ext cx="4709160" cy="457200"/>
          </a:xfrm>
          <a:prstGeom prst="rect">
            <a:avLst/>
          </a:prstGeom>
          <a:noFill/>
          <a:ln/>
        </p:spPr>
        <p:txBody>
          <a:bodyPr wrap="square" rtlCol="0" anchor="ctr"/>
          <a:lstStyle/>
          <a:p>
            <a:pPr indent="0" marL="0">
              <a:buNone/>
            </a:pPr>
            <a:r>
              <a:rPr lang="en-US" sz="1300" b="1" dirty="0">
                <a:solidFill>
                  <a:srgbClr val="E8A33D"/>
                </a:solidFill>
                <a:latin typeface="Arial" pitchFamily="34" charset="0"/>
                <a:ea typeface="Arial" pitchFamily="34" charset="-122"/>
                <a:cs typeface="Arial" pitchFamily="34" charset="-120"/>
              </a:rPr>
              <a:t>LOCAL HVAC CONTRACTORS</a:t>
            </a:r>
            <a:endParaRPr lang="en-US" sz="1300" dirty="0"/>
          </a:p>
        </p:txBody>
      </p:sp>
      <p:sp>
        <p:nvSpPr>
          <p:cNvPr id="14" name="Text 12"/>
          <p:cNvSpPr/>
          <p:nvPr/>
        </p:nvSpPr>
        <p:spPr>
          <a:xfrm>
            <a:off x="6537960" y="2651760"/>
            <a:ext cx="274320" cy="457200"/>
          </a:xfrm>
          <a:prstGeom prst="rect">
            <a:avLst/>
          </a:prstGeom>
          <a:noFill/>
          <a:ln/>
        </p:spPr>
        <p:txBody>
          <a:bodyPr wrap="square" rtlCol="0" anchor="ctr"/>
          <a:lstStyle/>
          <a:p>
            <a:pPr indent="0" marL="0">
              <a:buNone/>
            </a:pPr>
            <a:r>
              <a:rPr lang="en-US" sz="1400" dirty="0">
                <a:solidFill>
                  <a:srgbClr val="8B9AB5"/>
                </a:solidFill>
                <a:latin typeface="Arial" pitchFamily="34" charset="0"/>
                <a:ea typeface="Arial" pitchFamily="34" charset="-122"/>
                <a:cs typeface="Arial" pitchFamily="34" charset="-120"/>
              </a:rPr>
              <a:t>-</a:t>
            </a:r>
            <a:endParaRPr lang="en-US" sz="1400" dirty="0"/>
          </a:p>
        </p:txBody>
      </p:sp>
      <p:sp>
        <p:nvSpPr>
          <p:cNvPr id="15" name="Text 13"/>
          <p:cNvSpPr/>
          <p:nvPr/>
        </p:nvSpPr>
        <p:spPr>
          <a:xfrm>
            <a:off x="6858000" y="2651760"/>
            <a:ext cx="4343400" cy="594360"/>
          </a:xfrm>
          <a:prstGeom prst="rect">
            <a:avLst/>
          </a:prstGeom>
          <a:noFill/>
          <a:ln/>
        </p:spPr>
        <p:txBody>
          <a:bodyPr wrap="square" rtlCol="0" anchor="t"/>
          <a:lstStyle/>
          <a:p>
            <a:pPr indent="0" marL="0">
              <a:buNone/>
            </a:pPr>
            <a:r>
              <a:rPr lang="en-US" sz="1300" dirty="0">
                <a:solidFill>
                  <a:srgbClr val="C9D2E0"/>
                </a:solidFill>
                <a:latin typeface="Arial" pitchFamily="34" charset="0"/>
                <a:ea typeface="Arial" pitchFamily="34" charset="-122"/>
                <a:cs typeface="Arial" pitchFamily="34" charset="-120"/>
              </a:rPr>
              <a:t>Great at fixing broken equipment</a:t>
            </a:r>
            <a:endParaRPr lang="en-US" sz="1300" dirty="0"/>
          </a:p>
        </p:txBody>
      </p:sp>
      <p:sp>
        <p:nvSpPr>
          <p:cNvPr id="16" name="Text 14"/>
          <p:cNvSpPr/>
          <p:nvPr/>
        </p:nvSpPr>
        <p:spPr>
          <a:xfrm>
            <a:off x="6537960" y="3364992"/>
            <a:ext cx="274320" cy="457200"/>
          </a:xfrm>
          <a:prstGeom prst="rect">
            <a:avLst/>
          </a:prstGeom>
          <a:noFill/>
          <a:ln/>
        </p:spPr>
        <p:txBody>
          <a:bodyPr wrap="square" rtlCol="0" anchor="ctr"/>
          <a:lstStyle/>
          <a:p>
            <a:pPr indent="0" marL="0">
              <a:buNone/>
            </a:pPr>
            <a:r>
              <a:rPr lang="en-US" sz="1400" dirty="0">
                <a:solidFill>
                  <a:srgbClr val="8B9AB5"/>
                </a:solidFill>
                <a:latin typeface="Arial" pitchFamily="34" charset="0"/>
                <a:ea typeface="Arial" pitchFamily="34" charset="-122"/>
                <a:cs typeface="Arial" pitchFamily="34" charset="-120"/>
              </a:rPr>
              <a:t>-</a:t>
            </a:r>
            <a:endParaRPr lang="en-US" sz="1400" dirty="0"/>
          </a:p>
        </p:txBody>
      </p:sp>
      <p:sp>
        <p:nvSpPr>
          <p:cNvPr id="17" name="Text 15"/>
          <p:cNvSpPr/>
          <p:nvPr/>
        </p:nvSpPr>
        <p:spPr>
          <a:xfrm>
            <a:off x="6858000" y="3364992"/>
            <a:ext cx="4343400" cy="594360"/>
          </a:xfrm>
          <a:prstGeom prst="rect">
            <a:avLst/>
          </a:prstGeom>
          <a:noFill/>
          <a:ln/>
        </p:spPr>
        <p:txBody>
          <a:bodyPr wrap="square" rtlCol="0" anchor="t"/>
          <a:lstStyle/>
          <a:p>
            <a:pPr indent="0" marL="0">
              <a:buNone/>
            </a:pPr>
            <a:r>
              <a:rPr lang="en-US" sz="1300" dirty="0">
                <a:solidFill>
                  <a:srgbClr val="C9D2E0"/>
                </a:solidFill>
                <a:latin typeface="Arial" pitchFamily="34" charset="0"/>
                <a:ea typeface="Arial" pitchFamily="34" charset="-122"/>
                <a:cs typeface="Arial" pitchFamily="34" charset="-120"/>
              </a:rPr>
              <a:t>Don't have the controls programming skill this requires</a:t>
            </a:r>
            <a:endParaRPr lang="en-US" sz="1300" dirty="0"/>
          </a:p>
        </p:txBody>
      </p:sp>
      <p:sp>
        <p:nvSpPr>
          <p:cNvPr id="18" name="Text 16"/>
          <p:cNvSpPr/>
          <p:nvPr/>
        </p:nvSpPr>
        <p:spPr>
          <a:xfrm>
            <a:off x="6537960" y="4078224"/>
            <a:ext cx="274320" cy="457200"/>
          </a:xfrm>
          <a:prstGeom prst="rect">
            <a:avLst/>
          </a:prstGeom>
          <a:noFill/>
          <a:ln/>
        </p:spPr>
        <p:txBody>
          <a:bodyPr wrap="square" rtlCol="0" anchor="ctr"/>
          <a:lstStyle/>
          <a:p>
            <a:pPr indent="0" marL="0">
              <a:buNone/>
            </a:pPr>
            <a:r>
              <a:rPr lang="en-US" sz="1400" dirty="0">
                <a:solidFill>
                  <a:srgbClr val="8B9AB5"/>
                </a:solidFill>
                <a:latin typeface="Arial" pitchFamily="34" charset="0"/>
                <a:ea typeface="Arial" pitchFamily="34" charset="-122"/>
                <a:cs typeface="Arial" pitchFamily="34" charset="-120"/>
              </a:rPr>
              <a:t>-</a:t>
            </a:r>
            <a:endParaRPr lang="en-US" sz="1400" dirty="0"/>
          </a:p>
        </p:txBody>
      </p:sp>
      <p:sp>
        <p:nvSpPr>
          <p:cNvPr id="19" name="Text 17"/>
          <p:cNvSpPr/>
          <p:nvPr/>
        </p:nvSpPr>
        <p:spPr>
          <a:xfrm>
            <a:off x="6858000" y="4078224"/>
            <a:ext cx="4343400" cy="594360"/>
          </a:xfrm>
          <a:prstGeom prst="rect">
            <a:avLst/>
          </a:prstGeom>
          <a:noFill/>
          <a:ln/>
        </p:spPr>
        <p:txBody>
          <a:bodyPr wrap="square" rtlCol="0" anchor="t"/>
          <a:lstStyle/>
          <a:p>
            <a:pPr indent="0" marL="0">
              <a:buNone/>
            </a:pPr>
            <a:r>
              <a:rPr lang="en-US" sz="1300" dirty="0">
                <a:solidFill>
                  <a:srgbClr val="C9D2E0"/>
                </a:solidFill>
                <a:latin typeface="Arial" pitchFamily="34" charset="0"/>
                <a:ea typeface="Arial" pitchFamily="34" charset="-122"/>
                <a:cs typeface="Arial" pitchFamily="34" charset="-120"/>
              </a:rPr>
              <a:t>React to problems instead of preventing them</a:t>
            </a:r>
            <a:endParaRPr lang="en-US" sz="1300" dirty="0"/>
          </a:p>
        </p:txBody>
      </p:sp>
      <p:sp>
        <p:nvSpPr>
          <p:cNvPr id="20" name="Shape 18"/>
          <p:cNvSpPr/>
          <p:nvPr/>
        </p:nvSpPr>
        <p:spPr>
          <a:xfrm>
            <a:off x="640080" y="4937760"/>
            <a:ext cx="10881360" cy="960120"/>
          </a:xfrm>
          <a:prstGeom prst="roundRect">
            <a:avLst>
              <a:gd name="adj" fmla="val 9524"/>
            </a:avLst>
          </a:prstGeom>
          <a:solidFill>
            <a:srgbClr val="E8A33D"/>
          </a:solidFill>
          <a:ln/>
        </p:spPr>
      </p:sp>
      <p:sp>
        <p:nvSpPr>
          <p:cNvPr id="21" name="Text 19"/>
          <p:cNvSpPr/>
          <p:nvPr/>
        </p:nvSpPr>
        <p:spPr>
          <a:xfrm>
            <a:off x="914400" y="4937760"/>
            <a:ext cx="10332720" cy="960120"/>
          </a:xfrm>
          <a:prstGeom prst="rect">
            <a:avLst/>
          </a:prstGeom>
          <a:noFill/>
          <a:ln/>
        </p:spPr>
        <p:txBody>
          <a:bodyPr wrap="square" rtlCol="0" anchor="ctr"/>
          <a:lstStyle/>
          <a:p>
            <a:pPr indent="0" marL="0">
              <a:buNone/>
            </a:pPr>
            <a:r>
              <a:rPr lang="en-US" sz="1450" b="1" dirty="0">
                <a:solidFill>
                  <a:srgbClr val="12243F"/>
                </a:solidFill>
                <a:latin typeface="Arial" pitchFamily="34" charset="0"/>
                <a:ea typeface="Arial" pitchFamily="34" charset="-122"/>
                <a:cs typeface="Arial" pitchFamily="34" charset="-120"/>
              </a:rPr>
              <a:t>That gap in the middle - too small for the big players, too technical for general contractors - is exactly where this business operates.</a:t>
            </a:r>
            <a:endParaRPr lang="en-US" sz="1450" dirty="0"/>
          </a:p>
        </p:txBody>
      </p:sp>
      <p:sp>
        <p:nvSpPr>
          <p:cNvPr id="22" name="Text 20"/>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A6B85"/>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640080" y="457200"/>
            <a:ext cx="8229600" cy="365760"/>
          </a:xfrm>
          <a:prstGeom prst="rect">
            <a:avLst/>
          </a:prstGeom>
          <a:noFill/>
          <a:ln/>
        </p:spPr>
        <p:txBody>
          <a:bodyPr wrap="square" rtlCol="0" anchor="ctr"/>
          <a:lstStyle/>
          <a:p>
            <a:pPr indent="0" marL="0">
              <a:buNone/>
            </a:pPr>
            <a:r>
              <a:rPr lang="en-US" sz="1300" b="1" spc="200" kern="0" dirty="0">
                <a:solidFill>
                  <a:srgbClr val="C77F1D"/>
                </a:solidFill>
                <a:latin typeface="Arial" pitchFamily="34" charset="0"/>
                <a:ea typeface="Arial" pitchFamily="34" charset="-122"/>
                <a:cs typeface="Arial" pitchFamily="34" charset="-120"/>
              </a:rPr>
              <a:t>WHY I CAN ACTUALLY DO THIS</a:t>
            </a:r>
            <a:endParaRPr lang="en-US" sz="1300" dirty="0"/>
          </a:p>
        </p:txBody>
      </p:sp>
      <p:sp>
        <p:nvSpPr>
          <p:cNvPr id="3" name="Text 1"/>
          <p:cNvSpPr/>
          <p:nvPr/>
        </p:nvSpPr>
        <p:spPr>
          <a:xfrm>
            <a:off x="640080" y="841248"/>
            <a:ext cx="10515600" cy="640080"/>
          </a:xfrm>
          <a:prstGeom prst="rect">
            <a:avLst/>
          </a:prstGeom>
          <a:noFill/>
          <a:ln/>
        </p:spPr>
        <p:txBody>
          <a:bodyPr wrap="square" rtlCol="0" anchor="ctr"/>
          <a:lstStyle/>
          <a:p>
            <a:pPr indent="0" marL="0">
              <a:buNone/>
            </a:pPr>
            <a:r>
              <a:rPr lang="en-US" sz="2700" b="1" dirty="0">
                <a:solidFill>
                  <a:srgbClr val="12243F"/>
                </a:solidFill>
                <a:latin typeface="Cambria" pitchFamily="34" charset="0"/>
                <a:ea typeface="Cambria" pitchFamily="34" charset="-122"/>
                <a:cs typeface="Cambria" pitchFamily="34" charset="-120"/>
              </a:rPr>
              <a:t>This isn't a cold start - it's existing skill, redirected</a:t>
            </a:r>
            <a:endParaRPr lang="en-US" sz="2700" dirty="0"/>
          </a:p>
        </p:txBody>
      </p:sp>
      <p:sp>
        <p:nvSpPr>
          <p:cNvPr id="4" name="Shape 2"/>
          <p:cNvSpPr/>
          <p:nvPr/>
        </p:nvSpPr>
        <p:spPr>
          <a:xfrm>
            <a:off x="640080" y="1691640"/>
            <a:ext cx="5212080" cy="2103120"/>
          </a:xfrm>
          <a:prstGeom prst="roundRect">
            <a:avLst>
              <a:gd name="adj" fmla="val 4348"/>
            </a:avLst>
          </a:prstGeom>
          <a:solidFill>
            <a:srgbClr val="FFFFFF"/>
          </a:solidFill>
          <a:ln/>
          <a:effectLst>
            <a:outerShdw sx="100000" sy="100000" kx="0" ky="0" algn="bl" rotWithShape="0" blurRad="88900" dist="25400" dir="5400000">
              <a:srgbClr val="000000">
                <a:alpha val="8000"/>
              </a:srgbClr>
            </a:outerShdw>
          </a:effectLst>
        </p:spPr>
      </p:sp>
      <p:pic>
        <p:nvPicPr>
          <p:cNvPr id="5" name="Image 0" descr="preencoded.png"/>
          <p:cNvPicPr>
            <a:picLocks noChangeAspect="1"/>
          </p:cNvPicPr>
          <p:nvPr/>
        </p:nvPicPr>
        <p:blipFill>
          <a:blip r:embed="rId1"/>
          <a:stretch>
            <a:fillRect/>
          </a:stretch>
        </p:blipFill>
        <p:spPr>
          <a:xfrm>
            <a:off x="914400" y="1965960"/>
            <a:ext cx="594360" cy="594360"/>
          </a:xfrm>
          <a:prstGeom prst="rect">
            <a:avLst/>
          </a:prstGeom>
        </p:spPr>
      </p:pic>
      <p:sp>
        <p:nvSpPr>
          <p:cNvPr id="6" name="Text 3"/>
          <p:cNvSpPr/>
          <p:nvPr/>
        </p:nvSpPr>
        <p:spPr>
          <a:xfrm>
            <a:off x="1691640" y="1947672"/>
            <a:ext cx="3931920" cy="502920"/>
          </a:xfrm>
          <a:prstGeom prst="rect">
            <a:avLst/>
          </a:prstGeom>
          <a:noFill/>
          <a:ln/>
        </p:spPr>
        <p:txBody>
          <a:bodyPr wrap="square" rtlCol="0" anchor="t"/>
          <a:lstStyle/>
          <a:p>
            <a:pPr indent="0" marL="0">
              <a:buNone/>
            </a:pPr>
            <a:r>
              <a:rPr lang="en-US" sz="1500" b="1" dirty="0">
                <a:solidFill>
                  <a:srgbClr val="12243F"/>
                </a:solidFill>
                <a:latin typeface="Cambria" pitchFamily="34" charset="0"/>
                <a:ea typeface="Cambria" pitchFamily="34" charset="-122"/>
                <a:cs typeface="Cambria" pitchFamily="34" charset="-120"/>
              </a:rPr>
              <a:t>Hands-on industry experience</a:t>
            </a:r>
            <a:endParaRPr lang="en-US" sz="1500" dirty="0"/>
          </a:p>
        </p:txBody>
      </p:sp>
      <p:sp>
        <p:nvSpPr>
          <p:cNvPr id="7" name="Text 4"/>
          <p:cNvSpPr/>
          <p:nvPr/>
        </p:nvSpPr>
        <p:spPr>
          <a:xfrm>
            <a:off x="914400" y="2560320"/>
            <a:ext cx="4663440" cy="1143000"/>
          </a:xfrm>
          <a:prstGeom prst="rect">
            <a:avLst/>
          </a:prstGeom>
          <a:noFill/>
          <a:ln/>
        </p:spPr>
        <p:txBody>
          <a:bodyPr wrap="square" rtlCol="0" anchor="t"/>
          <a:lstStyle/>
          <a:p>
            <a:pPr indent="0" marL="0">
              <a:buNone/>
            </a:pPr>
            <a:r>
              <a:rPr lang="en-US" sz="1200" dirty="0">
                <a:solidFill>
                  <a:srgbClr val="5A6B85"/>
                </a:solidFill>
                <a:latin typeface="Arial" pitchFamily="34" charset="0"/>
                <a:ea typeface="Arial" pitchFamily="34" charset="-122"/>
                <a:cs typeface="Arial" pitchFamily="34" charset="-120"/>
              </a:rPr>
              <a:t>Years working directly with Distech and DeltaV building automation systems - the exact technology this business installs and programs</a:t>
            </a:r>
            <a:endParaRPr lang="en-US" sz="1200" dirty="0"/>
          </a:p>
        </p:txBody>
      </p:sp>
      <p:sp>
        <p:nvSpPr>
          <p:cNvPr id="8" name="Shape 5"/>
          <p:cNvSpPr/>
          <p:nvPr/>
        </p:nvSpPr>
        <p:spPr>
          <a:xfrm>
            <a:off x="6172200" y="1691640"/>
            <a:ext cx="5212080" cy="2103120"/>
          </a:xfrm>
          <a:prstGeom prst="roundRect">
            <a:avLst>
              <a:gd name="adj" fmla="val 4348"/>
            </a:avLst>
          </a:prstGeom>
          <a:solidFill>
            <a:srgbClr val="FFFFFF"/>
          </a:solidFill>
          <a:ln/>
          <a:effectLst>
            <a:outerShdw sx="100000" sy="100000" kx="0" ky="0" algn="bl" rotWithShape="0" blurRad="88900" dist="25400" dir="5400000">
              <a:srgbClr val="000000">
                <a:alpha val="8000"/>
              </a:srgbClr>
            </a:outerShdw>
          </a:effectLst>
        </p:spPr>
      </p:sp>
      <p:pic>
        <p:nvPicPr>
          <p:cNvPr id="9" name="Image 1" descr="preencoded.png"/>
          <p:cNvPicPr>
            <a:picLocks noChangeAspect="1"/>
          </p:cNvPicPr>
          <p:nvPr/>
        </p:nvPicPr>
        <p:blipFill>
          <a:blip r:embed="rId2"/>
          <a:stretch>
            <a:fillRect/>
          </a:stretch>
        </p:blipFill>
        <p:spPr>
          <a:xfrm>
            <a:off x="6446520" y="1965960"/>
            <a:ext cx="594360" cy="594360"/>
          </a:xfrm>
          <a:prstGeom prst="rect">
            <a:avLst/>
          </a:prstGeom>
        </p:spPr>
      </p:pic>
      <p:sp>
        <p:nvSpPr>
          <p:cNvPr id="10" name="Text 6"/>
          <p:cNvSpPr/>
          <p:nvPr/>
        </p:nvSpPr>
        <p:spPr>
          <a:xfrm>
            <a:off x="7223760" y="1947672"/>
            <a:ext cx="3931920" cy="502920"/>
          </a:xfrm>
          <a:prstGeom prst="rect">
            <a:avLst/>
          </a:prstGeom>
          <a:noFill/>
          <a:ln/>
        </p:spPr>
        <p:txBody>
          <a:bodyPr wrap="square" rtlCol="0" anchor="t"/>
          <a:lstStyle/>
          <a:p>
            <a:pPr indent="0" marL="0">
              <a:buNone/>
            </a:pPr>
            <a:r>
              <a:rPr lang="en-US" sz="1500" b="1" dirty="0">
                <a:solidFill>
                  <a:srgbClr val="12243F"/>
                </a:solidFill>
                <a:latin typeface="Cambria" pitchFamily="34" charset="0"/>
                <a:ea typeface="Cambria" pitchFamily="34" charset="-122"/>
                <a:cs typeface="Cambria" pitchFamily="34" charset="-120"/>
              </a:rPr>
              <a:t>On the path to a professional engineering license</a:t>
            </a:r>
            <a:endParaRPr lang="en-US" sz="1500" dirty="0"/>
          </a:p>
        </p:txBody>
      </p:sp>
      <p:sp>
        <p:nvSpPr>
          <p:cNvPr id="11" name="Text 7"/>
          <p:cNvSpPr/>
          <p:nvPr/>
        </p:nvSpPr>
        <p:spPr>
          <a:xfrm>
            <a:off x="6446520" y="2560320"/>
            <a:ext cx="4663440" cy="1143000"/>
          </a:xfrm>
          <a:prstGeom prst="rect">
            <a:avLst/>
          </a:prstGeom>
          <a:noFill/>
          <a:ln/>
        </p:spPr>
        <p:txBody>
          <a:bodyPr wrap="square" rtlCol="0" anchor="t"/>
          <a:lstStyle/>
          <a:p>
            <a:pPr indent="0" marL="0">
              <a:buNone/>
            </a:pPr>
            <a:r>
              <a:rPr lang="en-US" sz="1200" dirty="0">
                <a:solidFill>
                  <a:srgbClr val="5A6B85"/>
                </a:solidFill>
                <a:latin typeface="Arial" pitchFamily="34" charset="0"/>
                <a:ea typeface="Arial" pitchFamily="34" charset="-122"/>
                <a:cs typeface="Arial" pitchFamily="34" charset="-120"/>
              </a:rPr>
              <a:t>Currently an Engineer-in-Training, working toward a PE license specifically in HVAC &amp; Refrigeration - adds real technical credibility most competitors in this space don't have</a:t>
            </a:r>
            <a:endParaRPr lang="en-US" sz="1200" dirty="0"/>
          </a:p>
        </p:txBody>
      </p:sp>
      <p:sp>
        <p:nvSpPr>
          <p:cNvPr id="12" name="Shape 8"/>
          <p:cNvSpPr/>
          <p:nvPr/>
        </p:nvSpPr>
        <p:spPr>
          <a:xfrm>
            <a:off x="640080" y="4023360"/>
            <a:ext cx="5212080" cy="2103120"/>
          </a:xfrm>
          <a:prstGeom prst="roundRect">
            <a:avLst>
              <a:gd name="adj" fmla="val 4348"/>
            </a:avLst>
          </a:prstGeom>
          <a:solidFill>
            <a:srgbClr val="FFFFFF"/>
          </a:solidFill>
          <a:ln/>
          <a:effectLst>
            <a:outerShdw sx="100000" sy="100000" kx="0" ky="0" algn="bl" rotWithShape="0" blurRad="88900" dist="25400" dir="5400000">
              <a:srgbClr val="000000">
                <a:alpha val="8000"/>
              </a:srgbClr>
            </a:outerShdw>
          </a:effectLst>
        </p:spPr>
      </p:sp>
      <p:pic>
        <p:nvPicPr>
          <p:cNvPr id="13" name="Image 2" descr="preencoded.png"/>
          <p:cNvPicPr>
            <a:picLocks noChangeAspect="1"/>
          </p:cNvPicPr>
          <p:nvPr/>
        </p:nvPicPr>
        <p:blipFill>
          <a:blip r:embed="rId3"/>
          <a:stretch>
            <a:fillRect/>
          </a:stretch>
        </p:blipFill>
        <p:spPr>
          <a:xfrm>
            <a:off x="914400" y="4297680"/>
            <a:ext cx="594360" cy="594360"/>
          </a:xfrm>
          <a:prstGeom prst="rect">
            <a:avLst/>
          </a:prstGeom>
        </p:spPr>
      </p:pic>
      <p:sp>
        <p:nvSpPr>
          <p:cNvPr id="14" name="Text 9"/>
          <p:cNvSpPr/>
          <p:nvPr/>
        </p:nvSpPr>
        <p:spPr>
          <a:xfrm>
            <a:off x="1691640" y="4279392"/>
            <a:ext cx="3931920" cy="502920"/>
          </a:xfrm>
          <a:prstGeom prst="rect">
            <a:avLst/>
          </a:prstGeom>
          <a:noFill/>
          <a:ln/>
        </p:spPr>
        <p:txBody>
          <a:bodyPr wrap="square" rtlCol="0" anchor="t"/>
          <a:lstStyle/>
          <a:p>
            <a:pPr indent="0" marL="0">
              <a:buNone/>
            </a:pPr>
            <a:r>
              <a:rPr lang="en-US" sz="1500" b="1" dirty="0">
                <a:solidFill>
                  <a:srgbClr val="12243F"/>
                </a:solidFill>
                <a:latin typeface="Cambria" pitchFamily="34" charset="0"/>
                <a:ea typeface="Cambria" pitchFamily="34" charset="-122"/>
                <a:cs typeface="Cambria" pitchFamily="34" charset="-120"/>
              </a:rPr>
              <a:t>Already proved out the model with real data</a:t>
            </a:r>
            <a:endParaRPr lang="en-US" sz="1500" dirty="0"/>
          </a:p>
        </p:txBody>
      </p:sp>
      <p:sp>
        <p:nvSpPr>
          <p:cNvPr id="15" name="Text 10"/>
          <p:cNvSpPr/>
          <p:nvPr/>
        </p:nvSpPr>
        <p:spPr>
          <a:xfrm>
            <a:off x="914400" y="4892040"/>
            <a:ext cx="4663440" cy="1143000"/>
          </a:xfrm>
          <a:prstGeom prst="rect">
            <a:avLst/>
          </a:prstGeom>
          <a:noFill/>
          <a:ln/>
        </p:spPr>
        <p:txBody>
          <a:bodyPr wrap="square" rtlCol="0" anchor="t"/>
          <a:lstStyle/>
          <a:p>
            <a:pPr indent="0" marL="0">
              <a:buNone/>
            </a:pPr>
            <a:r>
              <a:rPr lang="en-US" sz="1200" dirty="0">
                <a:solidFill>
                  <a:srgbClr val="5A6B85"/>
                </a:solidFill>
                <a:latin typeface="Arial" pitchFamily="34" charset="0"/>
                <a:ea typeface="Arial" pitchFamily="34" charset="-122"/>
                <a:cs typeface="Arial" pitchFamily="34" charset="-120"/>
              </a:rPr>
              <a:t>Built and tested the full pricing, savings, and verification process against real Sacramento-area buildings - not just a plan on paper</a:t>
            </a:r>
            <a:endParaRPr lang="en-US" sz="1200" dirty="0"/>
          </a:p>
        </p:txBody>
      </p:sp>
      <p:sp>
        <p:nvSpPr>
          <p:cNvPr id="16" name="Shape 11"/>
          <p:cNvSpPr/>
          <p:nvPr/>
        </p:nvSpPr>
        <p:spPr>
          <a:xfrm>
            <a:off x="6172200" y="4023360"/>
            <a:ext cx="5212080" cy="2103120"/>
          </a:xfrm>
          <a:prstGeom prst="roundRect">
            <a:avLst>
              <a:gd name="adj" fmla="val 4348"/>
            </a:avLst>
          </a:prstGeom>
          <a:solidFill>
            <a:srgbClr val="FFFFFF"/>
          </a:solidFill>
          <a:ln/>
          <a:effectLst>
            <a:outerShdw sx="100000" sy="100000" kx="0" ky="0" algn="bl" rotWithShape="0" blurRad="88900" dist="25400" dir="5400000">
              <a:srgbClr val="000000">
                <a:alpha val="8000"/>
              </a:srgbClr>
            </a:outerShdw>
          </a:effectLst>
        </p:spPr>
      </p:sp>
      <p:pic>
        <p:nvPicPr>
          <p:cNvPr id="17" name="Image 3" descr="preencoded.png"/>
          <p:cNvPicPr>
            <a:picLocks noChangeAspect="1"/>
          </p:cNvPicPr>
          <p:nvPr/>
        </p:nvPicPr>
        <p:blipFill>
          <a:blip r:embed="rId4"/>
          <a:stretch>
            <a:fillRect/>
          </a:stretch>
        </p:blipFill>
        <p:spPr>
          <a:xfrm>
            <a:off x="6446520" y="4297680"/>
            <a:ext cx="594360" cy="594360"/>
          </a:xfrm>
          <a:prstGeom prst="rect">
            <a:avLst/>
          </a:prstGeom>
        </p:spPr>
      </p:pic>
      <p:sp>
        <p:nvSpPr>
          <p:cNvPr id="18" name="Text 12"/>
          <p:cNvSpPr/>
          <p:nvPr/>
        </p:nvSpPr>
        <p:spPr>
          <a:xfrm>
            <a:off x="7223760" y="4279392"/>
            <a:ext cx="3931920" cy="502920"/>
          </a:xfrm>
          <a:prstGeom prst="rect">
            <a:avLst/>
          </a:prstGeom>
          <a:noFill/>
          <a:ln/>
        </p:spPr>
        <p:txBody>
          <a:bodyPr wrap="square" rtlCol="0" anchor="t"/>
          <a:lstStyle/>
          <a:p>
            <a:pPr indent="0" marL="0">
              <a:buNone/>
            </a:pPr>
            <a:r>
              <a:rPr lang="en-US" sz="1500" b="1" dirty="0">
                <a:solidFill>
                  <a:srgbClr val="12243F"/>
                </a:solidFill>
                <a:latin typeface="Cambria" pitchFamily="34" charset="0"/>
                <a:ea typeface="Cambria" pitchFamily="34" charset="-122"/>
                <a:cs typeface="Cambria" pitchFamily="34" charset="-120"/>
              </a:rPr>
              <a:t>A documented, step-by-step path to the first client</a:t>
            </a:r>
            <a:endParaRPr lang="en-US" sz="1500" dirty="0"/>
          </a:p>
        </p:txBody>
      </p:sp>
      <p:sp>
        <p:nvSpPr>
          <p:cNvPr id="19" name="Text 13"/>
          <p:cNvSpPr/>
          <p:nvPr/>
        </p:nvSpPr>
        <p:spPr>
          <a:xfrm>
            <a:off x="6446520" y="4892040"/>
            <a:ext cx="4663440" cy="1143000"/>
          </a:xfrm>
          <a:prstGeom prst="rect">
            <a:avLst/>
          </a:prstGeom>
          <a:noFill/>
          <a:ln/>
        </p:spPr>
        <p:txBody>
          <a:bodyPr wrap="square" rtlCol="0" anchor="t"/>
          <a:lstStyle/>
          <a:p>
            <a:pPr indent="0" marL="0">
              <a:buNone/>
            </a:pPr>
            <a:r>
              <a:rPr lang="en-US" sz="1200" dirty="0">
                <a:solidFill>
                  <a:srgbClr val="5A6B85"/>
                </a:solidFill>
                <a:latin typeface="Arial" pitchFamily="34" charset="0"/>
                <a:ea typeface="Arial" pitchFamily="34" charset="-122"/>
                <a:cs typeface="Arial" pitchFamily="34" charset="-120"/>
              </a:rPr>
              <a:t>A 90-day launch plan already exists - what to do week by week, starting from zero, with no big upfront cost</a:t>
            </a:r>
            <a:endParaRPr lang="en-US" sz="1200" dirty="0"/>
          </a:p>
        </p:txBody>
      </p:sp>
      <p:sp>
        <p:nvSpPr>
          <p:cNvPr id="20" name="Text 14"/>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A6B85"/>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8229600" cy="365760"/>
          </a:xfrm>
          <a:prstGeom prst="rect">
            <a:avLst/>
          </a:prstGeom>
          <a:noFill/>
          <a:ln/>
        </p:spPr>
        <p:txBody>
          <a:bodyPr wrap="square" rtlCol="0" anchor="ctr"/>
          <a:lstStyle/>
          <a:p>
            <a:pPr indent="0" marL="0">
              <a:buNone/>
            </a:pPr>
            <a:r>
              <a:rPr lang="en-US" sz="1300" b="1" spc="200" kern="0" dirty="0">
                <a:solidFill>
                  <a:srgbClr val="C77F1D"/>
                </a:solidFill>
                <a:latin typeface="Arial" pitchFamily="34" charset="0"/>
                <a:ea typeface="Arial" pitchFamily="34" charset="-122"/>
                <a:cs typeface="Arial" pitchFamily="34" charset="-120"/>
              </a:rPr>
              <a:t>BEING HONEST ABOUT THE RISKS</a:t>
            </a:r>
            <a:endParaRPr lang="en-US" sz="1300" dirty="0"/>
          </a:p>
        </p:txBody>
      </p:sp>
      <p:sp>
        <p:nvSpPr>
          <p:cNvPr id="3" name="Text 1"/>
          <p:cNvSpPr/>
          <p:nvPr/>
        </p:nvSpPr>
        <p:spPr>
          <a:xfrm>
            <a:off x="640080" y="841248"/>
            <a:ext cx="10515600" cy="640080"/>
          </a:xfrm>
          <a:prstGeom prst="rect">
            <a:avLst/>
          </a:prstGeom>
          <a:noFill/>
          <a:ln/>
        </p:spPr>
        <p:txBody>
          <a:bodyPr wrap="square" rtlCol="0" anchor="ctr"/>
          <a:lstStyle/>
          <a:p>
            <a:pPr indent="0" marL="0">
              <a:buNone/>
            </a:pPr>
            <a:r>
              <a:rPr lang="en-US" sz="2700" b="1" dirty="0">
                <a:solidFill>
                  <a:srgbClr val="12243F"/>
                </a:solidFill>
                <a:latin typeface="Cambria" pitchFamily="34" charset="0"/>
                <a:ea typeface="Cambria" pitchFamily="34" charset="-122"/>
                <a:cs typeface="Cambria" pitchFamily="34" charset="-120"/>
              </a:rPr>
              <a:t>What could go wrong, and the plan for each one</a:t>
            </a:r>
            <a:endParaRPr lang="en-US" sz="2700" dirty="0"/>
          </a:p>
        </p:txBody>
      </p:sp>
      <p:sp>
        <p:nvSpPr>
          <p:cNvPr id="4" name="Shape 2"/>
          <p:cNvSpPr/>
          <p:nvPr/>
        </p:nvSpPr>
        <p:spPr>
          <a:xfrm>
            <a:off x="640080" y="1783080"/>
            <a:ext cx="10881360" cy="914400"/>
          </a:xfrm>
          <a:prstGeom prst="roundRect">
            <a:avLst>
              <a:gd name="adj" fmla="val 8000"/>
            </a:avLst>
          </a:prstGeom>
          <a:solidFill>
            <a:srgbClr val="F7F4ED"/>
          </a:solidFill>
          <a:ln/>
        </p:spPr>
      </p:sp>
      <p:pic>
        <p:nvPicPr>
          <p:cNvPr id="5" name="Image 0" descr="preencoded.png"/>
          <p:cNvPicPr>
            <a:picLocks noChangeAspect="1"/>
          </p:cNvPicPr>
          <p:nvPr/>
        </p:nvPicPr>
        <p:blipFill>
          <a:blip r:embed="rId1"/>
          <a:stretch>
            <a:fillRect/>
          </a:stretch>
        </p:blipFill>
        <p:spPr>
          <a:xfrm>
            <a:off x="868680" y="1984248"/>
            <a:ext cx="502920" cy="502920"/>
          </a:xfrm>
          <a:prstGeom prst="rect">
            <a:avLst/>
          </a:prstGeom>
        </p:spPr>
      </p:pic>
      <p:sp>
        <p:nvSpPr>
          <p:cNvPr id="6" name="Text 3"/>
          <p:cNvSpPr/>
          <p:nvPr/>
        </p:nvSpPr>
        <p:spPr>
          <a:xfrm>
            <a:off x="1508760" y="1874520"/>
            <a:ext cx="4114800" cy="731520"/>
          </a:xfrm>
          <a:prstGeom prst="rect">
            <a:avLst/>
          </a:prstGeom>
          <a:noFill/>
          <a:ln/>
        </p:spPr>
        <p:txBody>
          <a:bodyPr wrap="square" rtlCol="0" anchor="ctr"/>
          <a:lstStyle/>
          <a:p>
            <a:pPr indent="0" marL="0">
              <a:buNone/>
            </a:pPr>
            <a:r>
              <a:rPr lang="en-US" sz="1300" b="1" dirty="0">
                <a:solidFill>
                  <a:srgbClr val="12243F"/>
                </a:solidFill>
                <a:latin typeface="Arial" pitchFamily="34" charset="0"/>
                <a:ea typeface="Arial" pitchFamily="34" charset="-122"/>
                <a:cs typeface="Arial" pitchFamily="34" charset="-120"/>
              </a:rPr>
              <a:t>Sales takes longer than expected</a:t>
            </a:r>
            <a:endParaRPr lang="en-US" sz="1300" dirty="0"/>
          </a:p>
        </p:txBody>
      </p:sp>
      <p:sp>
        <p:nvSpPr>
          <p:cNvPr id="7" name="Shape 4"/>
          <p:cNvSpPr/>
          <p:nvPr/>
        </p:nvSpPr>
        <p:spPr>
          <a:xfrm>
            <a:off x="5806440" y="1920240"/>
            <a:ext cx="0" cy="640080"/>
          </a:xfrm>
          <a:prstGeom prst="line">
            <a:avLst/>
          </a:prstGeom>
          <a:noFill/>
          <a:ln w="12700">
            <a:solidFill>
              <a:srgbClr val="D9D0BB"/>
            </a:solidFill>
            <a:prstDash val="solid"/>
          </a:ln>
        </p:spPr>
      </p:sp>
      <p:pic>
        <p:nvPicPr>
          <p:cNvPr id="8" name="Image 1" descr="preencoded.png"/>
          <p:cNvPicPr>
            <a:picLocks noChangeAspect="1"/>
          </p:cNvPicPr>
          <p:nvPr/>
        </p:nvPicPr>
        <p:blipFill>
          <a:blip r:embed="rId2"/>
          <a:stretch>
            <a:fillRect/>
          </a:stretch>
        </p:blipFill>
        <p:spPr>
          <a:xfrm>
            <a:off x="6035040" y="2093976"/>
            <a:ext cx="292608" cy="292608"/>
          </a:xfrm>
          <a:prstGeom prst="rect">
            <a:avLst/>
          </a:prstGeom>
        </p:spPr>
      </p:pic>
      <p:sp>
        <p:nvSpPr>
          <p:cNvPr id="9" name="Text 5"/>
          <p:cNvSpPr/>
          <p:nvPr/>
        </p:nvSpPr>
        <p:spPr>
          <a:xfrm>
            <a:off x="6446520" y="1874520"/>
            <a:ext cx="4892040" cy="731520"/>
          </a:xfrm>
          <a:prstGeom prst="rect">
            <a:avLst/>
          </a:prstGeom>
          <a:noFill/>
          <a:ln/>
        </p:spPr>
        <p:txBody>
          <a:bodyPr wrap="square" rtlCol="0" anchor="ctr"/>
          <a:lstStyle/>
          <a:p>
            <a:pPr indent="0" marL="0">
              <a:buNone/>
            </a:pPr>
            <a:r>
              <a:rPr lang="en-US" sz="1250" dirty="0">
                <a:solidFill>
                  <a:srgbClr val="5A6B85"/>
                </a:solidFill>
                <a:latin typeface="Arial" pitchFamily="34" charset="0"/>
                <a:ea typeface="Arial" pitchFamily="34" charset="-122"/>
                <a:cs typeface="Arial" pitchFamily="34" charset="-120"/>
              </a:rPr>
              <a:t>Start part-time, nights and weekends - no need to quit a job or take on debt to find out if this works</a:t>
            </a:r>
            <a:endParaRPr lang="en-US" sz="1250" dirty="0"/>
          </a:p>
        </p:txBody>
      </p:sp>
      <p:sp>
        <p:nvSpPr>
          <p:cNvPr id="10" name="Shape 6"/>
          <p:cNvSpPr/>
          <p:nvPr/>
        </p:nvSpPr>
        <p:spPr>
          <a:xfrm>
            <a:off x="640080" y="2862072"/>
            <a:ext cx="10881360" cy="914400"/>
          </a:xfrm>
          <a:prstGeom prst="roundRect">
            <a:avLst>
              <a:gd name="adj" fmla="val 8000"/>
            </a:avLst>
          </a:prstGeom>
          <a:solidFill>
            <a:srgbClr val="F7F4ED"/>
          </a:solidFill>
          <a:ln/>
        </p:spPr>
      </p:sp>
      <p:pic>
        <p:nvPicPr>
          <p:cNvPr id="11" name="Image 2" descr="preencoded.png"/>
          <p:cNvPicPr>
            <a:picLocks noChangeAspect="1"/>
          </p:cNvPicPr>
          <p:nvPr/>
        </p:nvPicPr>
        <p:blipFill>
          <a:blip r:embed="rId3"/>
          <a:stretch>
            <a:fillRect/>
          </a:stretch>
        </p:blipFill>
        <p:spPr>
          <a:xfrm>
            <a:off x="868680" y="3063240"/>
            <a:ext cx="502920" cy="502920"/>
          </a:xfrm>
          <a:prstGeom prst="rect">
            <a:avLst/>
          </a:prstGeom>
        </p:spPr>
      </p:pic>
      <p:sp>
        <p:nvSpPr>
          <p:cNvPr id="12" name="Text 7"/>
          <p:cNvSpPr/>
          <p:nvPr/>
        </p:nvSpPr>
        <p:spPr>
          <a:xfrm>
            <a:off x="1508760" y="2953512"/>
            <a:ext cx="4114800" cy="731520"/>
          </a:xfrm>
          <a:prstGeom prst="rect">
            <a:avLst/>
          </a:prstGeom>
          <a:noFill/>
          <a:ln/>
        </p:spPr>
        <p:txBody>
          <a:bodyPr wrap="square" rtlCol="0" anchor="ctr"/>
          <a:lstStyle/>
          <a:p>
            <a:pPr indent="0" marL="0">
              <a:buNone/>
            </a:pPr>
            <a:r>
              <a:rPr lang="en-US" sz="1300" b="1" dirty="0">
                <a:solidFill>
                  <a:srgbClr val="12243F"/>
                </a:solidFill>
                <a:latin typeface="Arial" pitchFamily="34" charset="0"/>
                <a:ea typeface="Arial" pitchFamily="34" charset="-122"/>
                <a:cs typeface="Arial" pitchFamily="34" charset="-120"/>
              </a:rPr>
              <a:t>A property's real numbers don't match the estimate</a:t>
            </a:r>
            <a:endParaRPr lang="en-US" sz="1300" dirty="0"/>
          </a:p>
        </p:txBody>
      </p:sp>
      <p:sp>
        <p:nvSpPr>
          <p:cNvPr id="13" name="Shape 8"/>
          <p:cNvSpPr/>
          <p:nvPr/>
        </p:nvSpPr>
        <p:spPr>
          <a:xfrm>
            <a:off x="5806440" y="2999232"/>
            <a:ext cx="0" cy="640080"/>
          </a:xfrm>
          <a:prstGeom prst="line">
            <a:avLst/>
          </a:prstGeom>
          <a:noFill/>
          <a:ln w="12700">
            <a:solidFill>
              <a:srgbClr val="D9D0BB"/>
            </a:solidFill>
            <a:prstDash val="solid"/>
          </a:ln>
        </p:spPr>
      </p:sp>
      <p:pic>
        <p:nvPicPr>
          <p:cNvPr id="14" name="Image 3" descr="preencoded.png"/>
          <p:cNvPicPr>
            <a:picLocks noChangeAspect="1"/>
          </p:cNvPicPr>
          <p:nvPr/>
        </p:nvPicPr>
        <p:blipFill>
          <a:blip r:embed="rId4"/>
          <a:stretch>
            <a:fillRect/>
          </a:stretch>
        </p:blipFill>
        <p:spPr>
          <a:xfrm>
            <a:off x="6035040" y="3172968"/>
            <a:ext cx="292608" cy="292608"/>
          </a:xfrm>
          <a:prstGeom prst="rect">
            <a:avLst/>
          </a:prstGeom>
        </p:spPr>
      </p:pic>
      <p:sp>
        <p:nvSpPr>
          <p:cNvPr id="15" name="Text 9"/>
          <p:cNvSpPr/>
          <p:nvPr/>
        </p:nvSpPr>
        <p:spPr>
          <a:xfrm>
            <a:off x="6446520" y="2953512"/>
            <a:ext cx="4892040" cy="731520"/>
          </a:xfrm>
          <a:prstGeom prst="rect">
            <a:avLst/>
          </a:prstGeom>
          <a:noFill/>
          <a:ln/>
        </p:spPr>
        <p:txBody>
          <a:bodyPr wrap="square" rtlCol="0" anchor="ctr"/>
          <a:lstStyle/>
          <a:p>
            <a:pPr indent="0" marL="0">
              <a:buNone/>
            </a:pPr>
            <a:r>
              <a:rPr lang="en-US" sz="1250" dirty="0">
                <a:solidFill>
                  <a:srgbClr val="5A6B85"/>
                </a:solidFill>
                <a:latin typeface="Arial" pitchFamily="34" charset="0"/>
                <a:ea typeface="Arial" pitchFamily="34" charset="-122"/>
                <a:cs typeface="Arial" pitchFamily="34" charset="-120"/>
              </a:rPr>
              <a:t>Every pitch starts with a low-cost paid "audit" using the owner's real utility bills before any big project is proposed</a:t>
            </a:r>
            <a:endParaRPr lang="en-US" sz="1250" dirty="0"/>
          </a:p>
        </p:txBody>
      </p:sp>
      <p:sp>
        <p:nvSpPr>
          <p:cNvPr id="16" name="Shape 10"/>
          <p:cNvSpPr/>
          <p:nvPr/>
        </p:nvSpPr>
        <p:spPr>
          <a:xfrm>
            <a:off x="640080" y="3941064"/>
            <a:ext cx="10881360" cy="914400"/>
          </a:xfrm>
          <a:prstGeom prst="roundRect">
            <a:avLst>
              <a:gd name="adj" fmla="val 8000"/>
            </a:avLst>
          </a:prstGeom>
          <a:solidFill>
            <a:srgbClr val="F7F4ED"/>
          </a:solidFill>
          <a:ln/>
        </p:spPr>
      </p:sp>
      <p:pic>
        <p:nvPicPr>
          <p:cNvPr id="17" name="Image 4" descr="preencoded.png"/>
          <p:cNvPicPr>
            <a:picLocks noChangeAspect="1"/>
          </p:cNvPicPr>
          <p:nvPr/>
        </p:nvPicPr>
        <p:blipFill>
          <a:blip r:embed="rId5"/>
          <a:stretch>
            <a:fillRect/>
          </a:stretch>
        </p:blipFill>
        <p:spPr>
          <a:xfrm>
            <a:off x="868680" y="4142232"/>
            <a:ext cx="502920" cy="502920"/>
          </a:xfrm>
          <a:prstGeom prst="rect">
            <a:avLst/>
          </a:prstGeom>
        </p:spPr>
      </p:pic>
      <p:sp>
        <p:nvSpPr>
          <p:cNvPr id="18" name="Text 11"/>
          <p:cNvSpPr/>
          <p:nvPr/>
        </p:nvSpPr>
        <p:spPr>
          <a:xfrm>
            <a:off x="1508760" y="4032504"/>
            <a:ext cx="4114800" cy="731520"/>
          </a:xfrm>
          <a:prstGeom prst="rect">
            <a:avLst/>
          </a:prstGeom>
          <a:noFill/>
          <a:ln/>
        </p:spPr>
        <p:txBody>
          <a:bodyPr wrap="square" rtlCol="0" anchor="ctr"/>
          <a:lstStyle/>
          <a:p>
            <a:pPr indent="0" marL="0">
              <a:buNone/>
            </a:pPr>
            <a:r>
              <a:rPr lang="en-US" sz="1300" b="1" dirty="0">
                <a:solidFill>
                  <a:srgbClr val="12243F"/>
                </a:solidFill>
                <a:latin typeface="Arial" pitchFamily="34" charset="0"/>
                <a:ea typeface="Arial" pitchFamily="34" charset="-122"/>
                <a:cs typeface="Arial" pitchFamily="34" charset="-120"/>
              </a:rPr>
              <a:t>Installation goes wrong on-site</a:t>
            </a:r>
            <a:endParaRPr lang="en-US" sz="1300" dirty="0"/>
          </a:p>
        </p:txBody>
      </p:sp>
      <p:sp>
        <p:nvSpPr>
          <p:cNvPr id="19" name="Shape 12"/>
          <p:cNvSpPr/>
          <p:nvPr/>
        </p:nvSpPr>
        <p:spPr>
          <a:xfrm>
            <a:off x="5806440" y="4078224"/>
            <a:ext cx="0" cy="640080"/>
          </a:xfrm>
          <a:prstGeom prst="line">
            <a:avLst/>
          </a:prstGeom>
          <a:noFill/>
          <a:ln w="12700">
            <a:solidFill>
              <a:srgbClr val="D9D0BB"/>
            </a:solidFill>
            <a:prstDash val="solid"/>
          </a:ln>
        </p:spPr>
      </p:sp>
      <p:pic>
        <p:nvPicPr>
          <p:cNvPr id="20" name="Image 5" descr="preencoded.png"/>
          <p:cNvPicPr>
            <a:picLocks noChangeAspect="1"/>
          </p:cNvPicPr>
          <p:nvPr/>
        </p:nvPicPr>
        <p:blipFill>
          <a:blip r:embed="rId6"/>
          <a:stretch>
            <a:fillRect/>
          </a:stretch>
        </p:blipFill>
        <p:spPr>
          <a:xfrm>
            <a:off x="6035040" y="4251960"/>
            <a:ext cx="292608" cy="292608"/>
          </a:xfrm>
          <a:prstGeom prst="rect">
            <a:avLst/>
          </a:prstGeom>
        </p:spPr>
      </p:pic>
      <p:sp>
        <p:nvSpPr>
          <p:cNvPr id="21" name="Text 13"/>
          <p:cNvSpPr/>
          <p:nvPr/>
        </p:nvSpPr>
        <p:spPr>
          <a:xfrm>
            <a:off x="6446520" y="4032504"/>
            <a:ext cx="4892040" cy="731520"/>
          </a:xfrm>
          <a:prstGeom prst="rect">
            <a:avLst/>
          </a:prstGeom>
          <a:noFill/>
          <a:ln/>
        </p:spPr>
        <p:txBody>
          <a:bodyPr wrap="square" rtlCol="0" anchor="ctr"/>
          <a:lstStyle/>
          <a:p>
            <a:pPr indent="0" marL="0">
              <a:buNone/>
            </a:pPr>
            <a:r>
              <a:rPr lang="en-US" sz="1250" dirty="0">
                <a:solidFill>
                  <a:srgbClr val="5A6B85"/>
                </a:solidFill>
                <a:latin typeface="Arial" pitchFamily="34" charset="0"/>
                <a:ea typeface="Arial" pitchFamily="34" charset="-122"/>
                <a:cs typeface="Arial" pitchFamily="34" charset="-120"/>
              </a:rPr>
              <a:t>A licensed, insured contractor handles all physical wiring - liability and licensing stay with the right professional</a:t>
            </a:r>
            <a:endParaRPr lang="en-US" sz="1250" dirty="0"/>
          </a:p>
        </p:txBody>
      </p:sp>
      <p:sp>
        <p:nvSpPr>
          <p:cNvPr id="22" name="Shape 14"/>
          <p:cNvSpPr/>
          <p:nvPr/>
        </p:nvSpPr>
        <p:spPr>
          <a:xfrm>
            <a:off x="640080" y="5020056"/>
            <a:ext cx="10881360" cy="914400"/>
          </a:xfrm>
          <a:prstGeom prst="roundRect">
            <a:avLst>
              <a:gd name="adj" fmla="val 8000"/>
            </a:avLst>
          </a:prstGeom>
          <a:solidFill>
            <a:srgbClr val="F7F4ED"/>
          </a:solidFill>
          <a:ln/>
        </p:spPr>
      </p:sp>
      <p:pic>
        <p:nvPicPr>
          <p:cNvPr id="23" name="Image 6" descr="preencoded.png"/>
          <p:cNvPicPr>
            <a:picLocks noChangeAspect="1"/>
          </p:cNvPicPr>
          <p:nvPr/>
        </p:nvPicPr>
        <p:blipFill>
          <a:blip r:embed="rId7"/>
          <a:stretch>
            <a:fillRect/>
          </a:stretch>
        </p:blipFill>
        <p:spPr>
          <a:xfrm>
            <a:off x="868680" y="5221224"/>
            <a:ext cx="502920" cy="502920"/>
          </a:xfrm>
          <a:prstGeom prst="rect">
            <a:avLst/>
          </a:prstGeom>
        </p:spPr>
      </p:pic>
      <p:sp>
        <p:nvSpPr>
          <p:cNvPr id="24" name="Text 15"/>
          <p:cNvSpPr/>
          <p:nvPr/>
        </p:nvSpPr>
        <p:spPr>
          <a:xfrm>
            <a:off x="1508760" y="5111496"/>
            <a:ext cx="4114800" cy="731520"/>
          </a:xfrm>
          <a:prstGeom prst="rect">
            <a:avLst/>
          </a:prstGeom>
          <a:noFill/>
          <a:ln/>
        </p:spPr>
        <p:txBody>
          <a:bodyPr wrap="square" rtlCol="0" anchor="ctr"/>
          <a:lstStyle/>
          <a:p>
            <a:pPr indent="0" marL="0">
              <a:buNone/>
            </a:pPr>
            <a:r>
              <a:rPr lang="en-US" sz="1300" b="1" dirty="0">
                <a:solidFill>
                  <a:srgbClr val="12243F"/>
                </a:solidFill>
                <a:latin typeface="Arial" pitchFamily="34" charset="0"/>
                <a:ea typeface="Arial" pitchFamily="34" charset="-122"/>
                <a:cs typeface="Arial" pitchFamily="34" charset="-120"/>
              </a:rPr>
              <a:t>Competing for the owner's attention</a:t>
            </a:r>
            <a:endParaRPr lang="en-US" sz="1300" dirty="0"/>
          </a:p>
        </p:txBody>
      </p:sp>
      <p:sp>
        <p:nvSpPr>
          <p:cNvPr id="25" name="Shape 16"/>
          <p:cNvSpPr/>
          <p:nvPr/>
        </p:nvSpPr>
        <p:spPr>
          <a:xfrm>
            <a:off x="5806440" y="5157216"/>
            <a:ext cx="0" cy="640080"/>
          </a:xfrm>
          <a:prstGeom prst="line">
            <a:avLst/>
          </a:prstGeom>
          <a:noFill/>
          <a:ln w="12700">
            <a:solidFill>
              <a:srgbClr val="D9D0BB"/>
            </a:solidFill>
            <a:prstDash val="solid"/>
          </a:ln>
        </p:spPr>
      </p:sp>
      <p:pic>
        <p:nvPicPr>
          <p:cNvPr id="26" name="Image 7" descr="preencoded.png"/>
          <p:cNvPicPr>
            <a:picLocks noChangeAspect="1"/>
          </p:cNvPicPr>
          <p:nvPr/>
        </p:nvPicPr>
        <p:blipFill>
          <a:blip r:embed="rId8"/>
          <a:stretch>
            <a:fillRect/>
          </a:stretch>
        </p:blipFill>
        <p:spPr>
          <a:xfrm>
            <a:off x="6035040" y="5330952"/>
            <a:ext cx="292608" cy="292608"/>
          </a:xfrm>
          <a:prstGeom prst="rect">
            <a:avLst/>
          </a:prstGeom>
        </p:spPr>
      </p:pic>
      <p:sp>
        <p:nvSpPr>
          <p:cNvPr id="27" name="Text 17"/>
          <p:cNvSpPr/>
          <p:nvPr/>
        </p:nvSpPr>
        <p:spPr>
          <a:xfrm>
            <a:off x="6446520" y="5111496"/>
            <a:ext cx="4892040" cy="731520"/>
          </a:xfrm>
          <a:prstGeom prst="rect">
            <a:avLst/>
          </a:prstGeom>
          <a:noFill/>
          <a:ln/>
        </p:spPr>
        <p:txBody>
          <a:bodyPr wrap="square" rtlCol="0" anchor="ctr"/>
          <a:lstStyle/>
          <a:p>
            <a:pPr indent="0" marL="0">
              <a:buNone/>
            </a:pPr>
            <a:r>
              <a:rPr lang="en-US" sz="1250" dirty="0">
                <a:solidFill>
                  <a:srgbClr val="5A6B85"/>
                </a:solidFill>
                <a:latin typeface="Arial" pitchFamily="34" charset="0"/>
                <a:ea typeface="Arial" pitchFamily="34" charset="-122"/>
                <a:cs typeface="Arial" pitchFamily="34" charset="-120"/>
              </a:rPr>
              <a:t>Lean on free public data most competitors never bother to use - a 12,000 sq ft strip mall being "too small to bother with" is the opportunity</a:t>
            </a:r>
            <a:endParaRPr lang="en-US" sz="1250" dirty="0"/>
          </a:p>
        </p:txBody>
      </p:sp>
      <p:sp>
        <p:nvSpPr>
          <p:cNvPr id="28" name="Text 18"/>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A6B85"/>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243F"/>
        </a:solidFill>
      </p:bgPr>
    </p:bg>
    <p:spTree>
      <p:nvGrpSpPr>
        <p:cNvPr id="1" name=""/>
        <p:cNvGrpSpPr/>
        <p:nvPr/>
      </p:nvGrpSpPr>
      <p:grpSpPr>
        <a:xfrm>
          <a:off x="0" y="0"/>
          <a:ext cx="0" cy="0"/>
          <a:chOff x="0" y="0"/>
          <a:chExt cx="0" cy="0"/>
        </a:xfrm>
      </p:grpSpPr>
      <p:sp>
        <p:nvSpPr>
          <p:cNvPr id="2" name="Text 0"/>
          <p:cNvSpPr/>
          <p:nvPr/>
        </p:nvSpPr>
        <p:spPr>
          <a:xfrm>
            <a:off x="640080" y="457200"/>
            <a:ext cx="8229600" cy="365760"/>
          </a:xfrm>
          <a:prstGeom prst="rect">
            <a:avLst/>
          </a:prstGeom>
          <a:noFill/>
          <a:ln/>
        </p:spPr>
        <p:txBody>
          <a:bodyPr wrap="square" rtlCol="0" anchor="ctr"/>
          <a:lstStyle/>
          <a:p>
            <a:pPr indent="0" marL="0">
              <a:buNone/>
            </a:pPr>
            <a:r>
              <a:rPr lang="en-US" sz="1300" b="1" spc="200" kern="0" dirty="0">
                <a:solidFill>
                  <a:srgbClr val="E8A33D"/>
                </a:solidFill>
                <a:latin typeface="Arial" pitchFamily="34" charset="0"/>
                <a:ea typeface="Arial" pitchFamily="34" charset="-122"/>
                <a:cs typeface="Arial" pitchFamily="34" charset="-120"/>
              </a:rPr>
              <a:t>WHERE THIS GOES</a:t>
            </a:r>
            <a:endParaRPr lang="en-US" sz="1300" dirty="0"/>
          </a:p>
        </p:txBody>
      </p:sp>
      <p:sp>
        <p:nvSpPr>
          <p:cNvPr id="3" name="Text 1"/>
          <p:cNvSpPr/>
          <p:nvPr/>
        </p:nvSpPr>
        <p:spPr>
          <a:xfrm>
            <a:off x="640080" y="841248"/>
            <a:ext cx="10515600" cy="64008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Slow start, then the monthly fees start compounding</a:t>
            </a:r>
            <a:endParaRPr lang="en-US" sz="2700" dirty="0"/>
          </a:p>
        </p:txBody>
      </p:sp>
      <p:sp>
        <p:nvSpPr>
          <p:cNvPr id="5" name="Text 2"/>
          <p:cNvSpPr/>
          <p:nvPr/>
        </p:nvSpPr>
        <p:spPr>
          <a:xfrm>
            <a:off x="6583680" y="1783080"/>
            <a:ext cx="4937760" cy="320040"/>
          </a:xfrm>
          <a:prstGeom prst="rect">
            <a:avLst/>
          </a:prstGeom>
          <a:noFill/>
          <a:ln/>
        </p:spPr>
        <p:txBody>
          <a:bodyPr wrap="square" rtlCol="0" anchor="ctr"/>
          <a:lstStyle/>
          <a:p>
            <a:pPr indent="0" marL="0">
              <a:buNone/>
            </a:pPr>
            <a:r>
              <a:rPr lang="en-US" sz="1300" b="1" spc="100" kern="0" dirty="0">
                <a:solidFill>
                  <a:srgbClr val="E8A33D"/>
                </a:solidFill>
                <a:latin typeface="Arial" pitchFamily="34" charset="0"/>
                <a:ea typeface="Arial" pitchFamily="34" charset="-122"/>
                <a:cs typeface="Arial" pitchFamily="34" charset="-120"/>
              </a:rPr>
              <a:t>WHY YEAR 2 JUMPS SO MUCH</a:t>
            </a:r>
            <a:endParaRPr lang="en-US" sz="1300" dirty="0"/>
          </a:p>
        </p:txBody>
      </p:sp>
      <p:sp>
        <p:nvSpPr>
          <p:cNvPr id="6" name="Shape 3"/>
          <p:cNvSpPr/>
          <p:nvPr/>
        </p:nvSpPr>
        <p:spPr>
          <a:xfrm>
            <a:off x="6583680" y="2313432"/>
            <a:ext cx="109728" cy="109728"/>
          </a:xfrm>
          <a:prstGeom prst="oval">
            <a:avLst/>
          </a:prstGeom>
          <a:solidFill>
            <a:srgbClr val="E8A33D"/>
          </a:solidFill>
          <a:ln/>
        </p:spPr>
      </p:sp>
      <p:sp>
        <p:nvSpPr>
          <p:cNvPr id="7" name="Text 4"/>
          <p:cNvSpPr/>
          <p:nvPr/>
        </p:nvSpPr>
        <p:spPr>
          <a:xfrm>
            <a:off x="6858000" y="2167128"/>
            <a:ext cx="4663440" cy="640080"/>
          </a:xfrm>
          <a:prstGeom prst="rect">
            <a:avLst/>
          </a:prstGeom>
          <a:noFill/>
          <a:ln/>
        </p:spPr>
        <p:txBody>
          <a:bodyPr wrap="square" rtlCol="0" anchor="t"/>
          <a:lstStyle/>
          <a:p>
            <a:pPr indent="0" marL="0">
              <a:buNone/>
            </a:pPr>
            <a:r>
              <a:rPr lang="en-US" sz="1300" dirty="0">
                <a:solidFill>
                  <a:srgbClr val="E3E8F1"/>
                </a:solidFill>
                <a:latin typeface="Arial" pitchFamily="34" charset="0"/>
                <a:ea typeface="Arial" pitchFamily="34" charset="-122"/>
                <a:cs typeface="Arial" pitchFamily="34" charset="-120"/>
              </a:rPr>
              <a:t>Year 1 clients don't just go away - they keep paying the monthly monitoring fee</a:t>
            </a:r>
            <a:endParaRPr lang="en-US" sz="1300" dirty="0"/>
          </a:p>
        </p:txBody>
      </p:sp>
      <p:sp>
        <p:nvSpPr>
          <p:cNvPr id="8" name="Shape 5"/>
          <p:cNvSpPr/>
          <p:nvPr/>
        </p:nvSpPr>
        <p:spPr>
          <a:xfrm>
            <a:off x="6583680" y="3136392"/>
            <a:ext cx="109728" cy="109728"/>
          </a:xfrm>
          <a:prstGeom prst="oval">
            <a:avLst/>
          </a:prstGeom>
          <a:solidFill>
            <a:srgbClr val="E8A33D"/>
          </a:solidFill>
          <a:ln/>
        </p:spPr>
      </p:sp>
      <p:sp>
        <p:nvSpPr>
          <p:cNvPr id="9" name="Text 6"/>
          <p:cNvSpPr/>
          <p:nvPr/>
        </p:nvSpPr>
        <p:spPr>
          <a:xfrm>
            <a:off x="6858000" y="2990088"/>
            <a:ext cx="4663440" cy="640080"/>
          </a:xfrm>
          <a:prstGeom prst="rect">
            <a:avLst/>
          </a:prstGeom>
          <a:noFill/>
          <a:ln/>
        </p:spPr>
        <p:txBody>
          <a:bodyPr wrap="square" rtlCol="0" anchor="t"/>
          <a:lstStyle/>
          <a:p>
            <a:pPr indent="0" marL="0">
              <a:buNone/>
            </a:pPr>
            <a:r>
              <a:rPr lang="en-US" sz="1300" dirty="0">
                <a:solidFill>
                  <a:srgbClr val="E3E8F1"/>
                </a:solidFill>
                <a:latin typeface="Arial" pitchFamily="34" charset="0"/>
                <a:ea typeface="Arial" pitchFamily="34" charset="-122"/>
                <a:cs typeface="Arial" pitchFamily="34" charset="-120"/>
              </a:rPr>
              <a:t>Every new client in Year 2 adds on top of Year 1's monthly fees, instead of replacing them</a:t>
            </a:r>
            <a:endParaRPr lang="en-US" sz="1300" dirty="0"/>
          </a:p>
        </p:txBody>
      </p:sp>
      <p:sp>
        <p:nvSpPr>
          <p:cNvPr id="10" name="Shape 7"/>
          <p:cNvSpPr/>
          <p:nvPr/>
        </p:nvSpPr>
        <p:spPr>
          <a:xfrm>
            <a:off x="6583680" y="3959352"/>
            <a:ext cx="109728" cy="109728"/>
          </a:xfrm>
          <a:prstGeom prst="oval">
            <a:avLst/>
          </a:prstGeom>
          <a:solidFill>
            <a:srgbClr val="E8A33D"/>
          </a:solidFill>
          <a:ln/>
        </p:spPr>
      </p:sp>
      <p:sp>
        <p:nvSpPr>
          <p:cNvPr id="11" name="Text 8"/>
          <p:cNvSpPr/>
          <p:nvPr/>
        </p:nvSpPr>
        <p:spPr>
          <a:xfrm>
            <a:off x="6858000" y="3813048"/>
            <a:ext cx="4663440" cy="640080"/>
          </a:xfrm>
          <a:prstGeom prst="rect">
            <a:avLst/>
          </a:prstGeom>
          <a:noFill/>
          <a:ln/>
        </p:spPr>
        <p:txBody>
          <a:bodyPr wrap="square" rtlCol="0" anchor="t"/>
          <a:lstStyle/>
          <a:p>
            <a:pPr indent="0" marL="0">
              <a:buNone/>
            </a:pPr>
            <a:r>
              <a:rPr lang="en-US" sz="1300" dirty="0">
                <a:solidFill>
                  <a:srgbClr val="E3E8F1"/>
                </a:solidFill>
                <a:latin typeface="Arial" pitchFamily="34" charset="0"/>
                <a:ea typeface="Arial" pitchFamily="34" charset="-122"/>
                <a:cs typeface="Arial" pitchFamily="34" charset="-120"/>
              </a:rPr>
              <a:t>By month 24, roughly 24 buildings are paying monthly - almost pure profit at that point</a:t>
            </a:r>
            <a:endParaRPr lang="en-US" sz="1300" dirty="0"/>
          </a:p>
        </p:txBody>
      </p:sp>
      <p:sp>
        <p:nvSpPr>
          <p:cNvPr id="12" name="Shape 9"/>
          <p:cNvSpPr/>
          <p:nvPr/>
        </p:nvSpPr>
        <p:spPr>
          <a:xfrm>
            <a:off x="6583680" y="4800600"/>
            <a:ext cx="4937760" cy="1188720"/>
          </a:xfrm>
          <a:prstGeom prst="roundRect">
            <a:avLst>
              <a:gd name="adj" fmla="val 7692"/>
            </a:avLst>
          </a:prstGeom>
          <a:solidFill>
            <a:srgbClr val="1B3358"/>
          </a:solidFill>
          <a:ln/>
        </p:spPr>
      </p:sp>
      <p:sp>
        <p:nvSpPr>
          <p:cNvPr id="13" name="Text 10"/>
          <p:cNvSpPr/>
          <p:nvPr/>
        </p:nvSpPr>
        <p:spPr>
          <a:xfrm>
            <a:off x="6858000" y="4800600"/>
            <a:ext cx="4389120" cy="1188720"/>
          </a:xfrm>
          <a:prstGeom prst="rect">
            <a:avLst/>
          </a:prstGeom>
          <a:noFill/>
          <a:ln/>
        </p:spPr>
        <p:txBody>
          <a:bodyPr wrap="square" rtlCol="0" anchor="ctr"/>
          <a:lstStyle/>
          <a:p>
            <a:pPr indent="0" marL="0">
              <a:buNone/>
            </a:pPr>
            <a:r>
              <a:rPr lang="en-US" sz="1300" i="1" dirty="0">
                <a:solidFill>
                  <a:srgbClr val="C9D2E0"/>
                </a:solidFill>
                <a:latin typeface="Arial" pitchFamily="34" charset="0"/>
                <a:ea typeface="Arial" pitchFamily="34" charset="-122"/>
                <a:cs typeface="Arial" pitchFamily="34" charset="-120"/>
              </a:rPr>
              <a:t>This is the same idea as a gym membership business - the real value isn't the first sale, it's everyone who's still paying a year later.</a:t>
            </a:r>
            <a:endParaRPr lang="en-US" sz="1300" dirty="0"/>
          </a:p>
        </p:txBody>
      </p:sp>
      <p:sp>
        <p:nvSpPr>
          <p:cNvPr id="14" name="Text 11"/>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A6B85"/>
                </a:solidFill>
                <a:latin typeface="Arial" pitchFamily="34" charset="0"/>
                <a:ea typeface="Arial" pitchFamily="34" charset="-122"/>
                <a:cs typeface="Arial" pitchFamily="34" charset="-120"/>
              </a:rPr>
              <a:t>13</a:t>
            </a:r>
            <a:endParaRPr lang="en-US" sz="1000" dirty="0"/>
          </a:p>
        </p:txBody>
      </p:sp>
      <p:sp>
        <p:nvSpPr>
          <p:cNvPr id="99" name="RevenueTable"/>
          <p:cNvSpPr>
            <a:spLocks noGrp="1"/>
          </p:cNvSpPr>
          <p:nvPr/>
        </p:nvSpPr>
        <p:spPr>
          <a:xfrm>
            <a:off x="640080" y="1600000"/>
            <a:ext cx="5500000" cy="4400000"/>
          </a:xfrm>
          <a:prstGeom prst="rect">
            <a:avLst/>
          </a:prstGeom>
          <a:solidFill>
            <a:srgbClr val="253048"/>
          </a:solidFill>
          <a:ln>
            <a:noFill/>
          </a:ln>
        </p:spPr>
        <p:txBody>
          <a:bodyPr insFwd="0" lIns="180000" rIns="180000" tIns="180000" bIns="180000"/>
          <a:lstStyle/>
          <a:p>
            <a:r>
              <a:rPr lang="en-US" sz="1300" b="1" dirty="0">
                <a:solidFill>
                  <a:srgbClr val="C8972B"/>
                </a:solidFill>
                <a:latin typeface="Arial"/>
              </a:rPr>
              <a:t>YEAR 1 - BUILDING THE BASE</a:t>
            </a:r>
          </a:p>
          <a:p>
            <a:r>
              <a:rPr lang="en-US" sz="1050" dirty="0">
                <a:solidFill>
                  <a:srgbClr val="C9D2E0"/>
                </a:solidFill>
                <a:latin typeface="Arial"/>
              </a:rPr>
              <a:t>Clients 1-12: 1 per month, $1,780/project</a:t>
            </a:r>
          </a:p>
          <a:p>
            <a:r>
              <a:rPr lang="en-US" sz="2200" b="1" dirty="0">
                <a:solidFill>
                  <a:srgbClr val="FFFFFF"/>
                </a:solidFill>
                <a:latin typeface="Arial"/>
              </a:rPr>
              <a:t>~$28,800</a:t>
            </a:r>
          </a:p>
          <a:p>
            <a:r>
              <a:rPr lang="en-US" sz="1050" dirty="0">
                <a:solidFill>
                  <a:srgbClr val="C9D2E0"/>
                </a:solidFill>
                <a:latin typeface="Arial"/>
              </a:rPr>
              <a:t>12 projects x $1,780 = $21,360 | Retainers ramp from $95 to $1,140/mo by Dec = $7,410 for year</a:t>
            </a:r>
          </a:p>
          <a:p>
            <a:endParaRPr lang="en-US" sz="1000" dirty="0"/>
          </a:p>
          <a:p>
            <a:r>
              <a:rPr lang="en-US" sz="1300" b="1" dirty="0">
                <a:solidFill>
                  <a:srgbClr val="C8972B"/>
                </a:solidFill>
                <a:latin typeface="Arial"/>
              </a:rPr>
              <a:t>YEAR 2 - COMPOUNDING EFFECT</a:t>
            </a:r>
          </a:p>
          <a:p>
            <a:r>
              <a:rPr lang="en-US" sz="1050" dirty="0">
                <a:solidFill>
                  <a:srgbClr val="C9D2E0"/>
                </a:solidFill>
                <a:latin typeface="Arial"/>
              </a:rPr>
              <a:t>Clients 13-24: new projects + 12 Y1 clients now paying full year</a:t>
            </a:r>
          </a:p>
          <a:p>
            <a:r>
              <a:rPr lang="en-US" sz="2200" b="1" dirty="0">
                <a:solidFill>
                  <a:srgbClr val="FFFFFF"/>
                </a:solidFill>
                <a:latin typeface="Arial"/>
              </a:rPr>
              <a:t>~$42,450</a:t>
            </a:r>
          </a:p>
          <a:p>
            <a:r>
              <a:rPr lang="en-US" sz="1050" dirty="0">
                <a:solidFill>
                  <a:srgbClr val="C9D2E0"/>
                </a:solidFill>
                <a:latin typeface="Arial"/>
              </a:rPr>
              <a:t>$21,360 new projects + $13,680 (12 Y1 clients x $95 x 12) + $7,410 (12 new ramp) = $21,090 retainer</a:t>
            </a:r>
          </a:p>
          <a:p>
            <a:endParaRPr lang="en-US" sz="1000" dirty="0"/>
          </a:p>
          <a:p>
            <a:r>
              <a:rPr lang="en-US" sz="1300" b="1" dirty="0">
                <a:solidFill>
                  <a:srgbClr val="C8972B"/>
                </a:solidFill>
                <a:latin typeface="Arial"/>
              </a:rPr>
              <a:t>YEAR 3 - MONITORING BECOMES THE ENGINE</a:t>
            </a:r>
          </a:p>
          <a:p>
            <a:r>
              <a:rPr lang="en-US" sz="2200" b="1" dirty="0">
                <a:solidFill>
                  <a:srgbClr val="FFFFFF"/>
                </a:solidFill>
                <a:latin typeface="Arial"/>
              </a:rPr>
              <a:t>~$41,040/yr run rate</a:t>
            </a:r>
          </a:p>
          <a:p>
            <a:r>
              <a:rPr lang="en-US" sz="1050" dirty="0">
                <a:solidFill>
                  <a:srgbClr val="C9D2E0"/>
                </a:solidFill>
                <a:latin typeface="Arial"/>
              </a:rPr>
              <a:t>36 clients x $95 = $3,420/mo = $41,040/yr retainer run rate by end of Year 3. Full Year 3 revenue: $56,130 (projects + retainers)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243F"/>
        </a:solidFill>
      </p:bgPr>
    </p:bg>
    <p:spTree>
      <p:nvGrpSpPr>
        <p:cNvPr id="1" name=""/>
        <p:cNvGrpSpPr/>
        <p:nvPr/>
      </p:nvGrpSpPr>
      <p:grpSpPr>
        <a:xfrm>
          <a:off x="0" y="0"/>
          <a:ext cx="0" cy="0"/>
          <a:chOff x="0" y="0"/>
          <a:chExt cx="0" cy="0"/>
        </a:xfrm>
      </p:grpSpPr>
      <p:sp>
        <p:nvSpPr>
          <p:cNvPr id="2" name="Shape 0"/>
          <p:cNvSpPr/>
          <p:nvPr/>
        </p:nvSpPr>
        <p:spPr>
          <a:xfrm>
            <a:off x="-1828800" y="4114800"/>
            <a:ext cx="6400800" cy="6400800"/>
          </a:xfrm>
          <a:prstGeom prst="oval">
            <a:avLst/>
          </a:prstGeom>
          <a:solidFill>
            <a:srgbClr val="1B3358"/>
          </a:solidFill>
          <a:ln/>
        </p:spPr>
      </p:sp>
      <p:sp>
        <p:nvSpPr>
          <p:cNvPr id="3" name="Shape 1"/>
          <p:cNvSpPr/>
          <p:nvPr/>
        </p:nvSpPr>
        <p:spPr>
          <a:xfrm>
            <a:off x="-914400" y="4846320"/>
            <a:ext cx="3657600" cy="3657600"/>
          </a:xfrm>
          <a:prstGeom prst="oval">
            <a:avLst/>
          </a:prstGeom>
          <a:solidFill>
            <a:srgbClr val="E8A33D"/>
          </a:solidFill>
          <a:ln/>
        </p:spPr>
      </p:sp>
      <p:pic>
        <p:nvPicPr>
          <p:cNvPr id="4" name="Image 0" descr="preencoded.png"/>
          <p:cNvPicPr>
            <a:picLocks noChangeAspect="1"/>
          </p:cNvPicPr>
          <p:nvPr/>
        </p:nvPicPr>
        <p:blipFill>
          <a:blip r:embed="rId1"/>
          <a:stretch>
            <a:fillRect/>
          </a:stretch>
        </p:blipFill>
        <p:spPr>
          <a:xfrm>
            <a:off x="5358384" y="1005840"/>
            <a:ext cx="822960" cy="822960"/>
          </a:xfrm>
          <a:prstGeom prst="rect">
            <a:avLst/>
          </a:prstGeom>
        </p:spPr>
      </p:pic>
      <p:sp>
        <p:nvSpPr>
          <p:cNvPr id="5" name="Text 2"/>
          <p:cNvSpPr/>
          <p:nvPr/>
        </p:nvSpPr>
        <p:spPr>
          <a:xfrm>
            <a:off x="914400" y="2240280"/>
            <a:ext cx="10332720" cy="594360"/>
          </a:xfrm>
          <a:prstGeom prst="rect">
            <a:avLst/>
          </a:prstGeom>
          <a:noFill/>
          <a:ln/>
        </p:spPr>
        <p:txBody>
          <a:bodyPr wrap="square" rtlCol="0" anchor="ctr"/>
          <a:lstStyle/>
          <a:p>
            <a:pPr algn="ctr" indent="0" marL="0">
              <a:buNone/>
            </a:pPr>
            <a:r>
              <a:rPr lang="en-US" sz="3000" dirty="0">
                <a:solidFill>
                  <a:srgbClr val="C9D2E0"/>
                </a:solidFill>
                <a:latin typeface="Cambria" pitchFamily="34" charset="0"/>
                <a:ea typeface="Cambria" pitchFamily="34" charset="-122"/>
                <a:cs typeface="Cambria" pitchFamily="34" charset="-120"/>
              </a:rPr>
              <a:t>Small buildings waste energy.</a:t>
            </a:r>
            <a:endParaRPr lang="en-US" sz="3000" dirty="0"/>
          </a:p>
        </p:txBody>
      </p:sp>
      <p:sp>
        <p:nvSpPr>
          <p:cNvPr id="6" name="Text 3"/>
          <p:cNvSpPr/>
          <p:nvPr/>
        </p:nvSpPr>
        <p:spPr>
          <a:xfrm>
            <a:off x="914400" y="2788920"/>
            <a:ext cx="10332720" cy="731520"/>
          </a:xfrm>
          <a:prstGeom prst="rect">
            <a:avLst/>
          </a:prstGeom>
          <a:noFill/>
          <a:ln/>
        </p:spPr>
        <p:txBody>
          <a:bodyPr wrap="square"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This business fixes that - and gets paid to do it.</a:t>
            </a:r>
            <a:endParaRPr lang="en-US" sz="3200" dirty="0"/>
          </a:p>
        </p:txBody>
      </p:sp>
      <p:sp>
        <p:nvSpPr>
          <p:cNvPr id="7" name="Text 4"/>
          <p:cNvSpPr/>
          <p:nvPr/>
        </p:nvSpPr>
        <p:spPr>
          <a:xfrm>
            <a:off x="914400" y="3931920"/>
            <a:ext cx="10332720" cy="457200"/>
          </a:xfrm>
          <a:prstGeom prst="rect">
            <a:avLst/>
          </a:prstGeom>
          <a:noFill/>
          <a:ln/>
        </p:spPr>
        <p:txBody>
          <a:bodyPr wrap="square" rtlCol="0" anchor="ctr"/>
          <a:lstStyle/>
          <a:p>
            <a:pPr algn="ctr" indent="0" marL="0">
              <a:buNone/>
            </a:pPr>
            <a:r>
              <a:rPr lang="en-US" sz="1500" i="1" dirty="0">
                <a:solidFill>
                  <a:srgbClr val="E8A33D"/>
                </a:solidFill>
                <a:latin typeface="Arial" pitchFamily="34" charset="0"/>
                <a:ea typeface="Arial" pitchFamily="34" charset="-122"/>
                <a:cs typeface="Arial" pitchFamily="34" charset="-120"/>
              </a:rPr>
              <a:t>Thank you for taking the time to think this through with me.</a:t>
            </a:r>
            <a:endParaRPr lang="en-US" sz="1500" dirty="0"/>
          </a:p>
        </p:txBody>
      </p:sp>
      <p:sp>
        <p:nvSpPr>
          <p:cNvPr id="8" name="Text 5"/>
          <p:cNvSpPr/>
          <p:nvPr/>
        </p:nvSpPr>
        <p:spPr>
          <a:xfrm>
            <a:off x="914400" y="5440680"/>
            <a:ext cx="10332720" cy="365760"/>
          </a:xfrm>
          <a:prstGeom prst="rect">
            <a:avLst/>
          </a:prstGeom>
          <a:noFill/>
          <a:ln/>
        </p:spPr>
        <p:txBody>
          <a:bodyPr wrap="square" rtlCol="0" anchor="ctr"/>
          <a:lstStyle/>
          <a:p>
            <a:pPr algn="ctr" indent="0" marL="0">
              <a:buNone/>
            </a:pPr>
            <a:r>
              <a:rPr lang="en-US" sz="1600" b="1" spc="100" kern="0" dirty="0">
                <a:solidFill>
                  <a:srgbClr val="FFFFFF"/>
                </a:solidFill>
                <a:latin typeface="Cambria" pitchFamily="34" charset="0"/>
                <a:ea typeface="Cambria" pitchFamily="34" charset="-122"/>
                <a:cs typeface="Cambria" pitchFamily="34" charset="-120"/>
              </a:rPr>
              <a:t>Refined Energy Consulting</a:t>
            </a:r>
            <a:endParaRPr lang="en-US" sz="1600" dirty="0"/>
          </a:p>
        </p:txBody>
      </p:sp>
      <p:sp>
        <p:nvSpPr>
          <p:cNvPr id="9" name="Text 6"/>
          <p:cNvSpPr/>
          <p:nvPr/>
        </p:nvSpPr>
        <p:spPr>
          <a:xfrm>
            <a:off x="914400" y="5989320"/>
            <a:ext cx="1033272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Matthew Allen Reed</a:t>
            </a:r>
            <a:endParaRPr lang="en-US" sz="1300" dirty="0"/>
          </a:p>
        </p:txBody>
      </p:sp>
      <p:sp>
        <p:nvSpPr>
          <p:cNvPr id="10" name="Text 7"/>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A6B85"/>
                </a:solidFill>
                <a:latin typeface="Arial" pitchFamily="34" charset="0"/>
                <a:ea typeface="Arial" pitchFamily="34" charset="-122"/>
                <a:cs typeface="Arial"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About">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640080" y="457200"/>
            <a:ext cx="8229600" cy="365760"/>
          </a:xfrm>
          <a:prstGeom prst="rect">
            <a:avLst/>
          </a:prstGeom>
          <a:noFill/>
          <a:ln/>
        </p:spPr>
        <p:txBody>
          <a:bodyPr wrap="square" rtlCol="0" anchor="ctr"/>
          <a:lstStyle/>
          <a:p>
            <a:pPr indent="0" marL="0">
              <a:buNone/>
            </a:pPr>
            <a:r>
              <a:rPr lang="en-US" sz="1300" b="1" spc="200" kern="0" dirty="0">
                <a:solidFill>
                  <a:srgbClr val="C77F1D"/>
                </a:solidFill>
                <a:latin typeface="Arial" pitchFamily="34" charset="0"/>
                <a:ea typeface="Arial" pitchFamily="34" charset="-122"/>
                <a:cs typeface="Arial" pitchFamily="34" charset="-120"/>
              </a:rPr>
              <a:t>ABOUT REFINE ENERGY CONSULTING</a:t>
            </a:r>
            <a:endParaRPr lang="en-US" sz="1300" dirty="0"/>
          </a:p>
        </p:txBody>
      </p:sp>
      <p:sp>
        <p:nvSpPr>
          <p:cNvPr id="3" name="Text 1"/>
          <p:cNvSpPr/>
          <p:nvPr/>
        </p:nvSpPr>
        <p:spPr>
          <a:xfrm>
            <a:off x="640080" y="841248"/>
            <a:ext cx="10515600" cy="640080"/>
          </a:xfrm>
          <a:prstGeom prst="rect">
            <a:avLst/>
          </a:prstGeom>
          <a:noFill/>
          <a:ln/>
        </p:spPr>
        <p:txBody>
          <a:bodyPr wrap="square" rtlCol="0" anchor="ctr"/>
          <a:lstStyle/>
          <a:p>
            <a:pPr indent="0" marL="0">
              <a:buNone/>
            </a:pPr>
            <a:r>
              <a:rPr lang="en-US" sz="2700" b="1" dirty="0">
                <a:solidFill>
                  <a:srgbClr val="12243F"/>
                </a:solidFill>
                <a:latin typeface="Cambria" pitchFamily="34" charset="0"/>
                <a:ea typeface="Cambria" pitchFamily="34" charset="-122"/>
                <a:cs typeface="Cambria" pitchFamily="34" charset="-120"/>
              </a:rPr>
              <a:t>Who we are and why this work is different</a:t>
            </a:r>
            <a:endParaRPr lang="en-US" sz="2700" dirty="0"/>
          </a:p>
        </p:txBody>
      </p:sp>
      <p:sp>
        <p:nvSpPr>
          <p:cNvPr id="4" name="Shape 2"/>
          <p:cNvSpPr/>
          <p:nvPr/>
        </p:nvSpPr>
        <p:spPr>
          <a:xfrm>
            <a:off x="640080" y="1691640"/>
            <a:ext cx="5212080" cy="2103120"/>
          </a:xfrm>
          <a:prstGeom prst="roundRect">
            <a:avLst>
              <a:gd name="adj" fmla="val 4348"/>
            </a:avLst>
          </a:prstGeom>
          <a:solidFill>
            <a:srgbClr val="FFFFFF"/>
          </a:solidFill>
          <a:ln/>
          <a:effectLst>
            <a:outerShdw sx="100000" sy="100000" kx="0" ky="0" algn="bl" rotWithShape="0" blurRad="88900" dist="25400" dir="5400000">
              <a:srgbClr val="000000">
                <a:alpha val="8000"/>
              </a:srgbClr>
            </a:outerShdw>
          </a:effectLst>
        </p:spPr>
      </p:sp>
      <p:pic>
        <p:nvPicPr>
          <p:cNvPr id="5" name="Image 0" descr="preencoded.png"/>
          <p:cNvPicPr>
            <a:picLocks noChangeAspect="1"/>
          </p:cNvPicPr>
          <p:nvPr/>
        </p:nvPicPr>
        <p:blipFill>
          <a:blip r:embed="rId1"/>
          <a:stretch>
            <a:fillRect/>
          </a:stretch>
        </p:blipFill>
        <p:spPr>
          <a:xfrm>
            <a:off x="914400" y="1965960"/>
            <a:ext cx="594360" cy="594360"/>
          </a:xfrm>
          <a:prstGeom prst="rect">
            <a:avLst/>
          </a:prstGeom>
        </p:spPr>
      </p:pic>
      <p:sp>
        <p:nvSpPr>
          <p:cNvPr id="6" name="Text 3"/>
          <p:cNvSpPr/>
          <p:nvPr/>
        </p:nvSpPr>
        <p:spPr>
          <a:xfrm>
            <a:off x="1691640" y="1947672"/>
            <a:ext cx="3931920" cy="502920"/>
          </a:xfrm>
          <a:prstGeom prst="rect">
            <a:avLst/>
          </a:prstGeom>
          <a:noFill/>
          <a:ln/>
        </p:spPr>
        <p:txBody>
          <a:bodyPr wrap="square" rtlCol="0" anchor="t"/>
          <a:lstStyle/>
          <a:p>
            <a:pPr indent="0" marL="0">
              <a:buNone/>
            </a:pPr>
            <a:r>
              <a:rPr lang="en-US" sz="1500" b="1" dirty="0">
                <a:solidFill>
                  <a:srgbClr val="12243F"/>
                </a:solidFill>
                <a:latin typeface="Cambria" pitchFamily="34" charset="0"/>
                <a:ea typeface="Cambria" pitchFamily="34" charset="-122"/>
                <a:cs typeface="Cambria" pitchFamily="34" charset="-120"/>
              </a:rPr>
              <a:t>Matthew Allen Reed - Founder</a:t>
            </a:r>
            <a:endParaRPr lang="en-US" sz="1500" dirty="0"/>
          </a:p>
        </p:txBody>
      </p:sp>
      <p:sp>
        <p:nvSpPr>
          <p:cNvPr id="7" name="Text 4"/>
          <p:cNvSpPr/>
          <p:nvPr/>
        </p:nvSpPr>
        <p:spPr>
          <a:xfrm>
            <a:off x="914400" y="2560320"/>
            <a:ext cx="4663440" cy="1143000"/>
          </a:xfrm>
          <a:prstGeom prst="rect">
            <a:avLst/>
          </a:prstGeom>
          <a:noFill/>
          <a:ln/>
        </p:spPr>
        <p:txBody>
          <a:bodyPr wrap="square" rtlCol="0" anchor="t"/>
          <a:lstStyle/>
          <a:p>
            <a:pPr indent="0" marL="0">
              <a:buNone/>
            </a:pPr>
            <a:r>
              <a:rPr lang="en-US" sz="1200" dirty="0">
                <a:solidFill>
                  <a:srgbClr val="5A6B85"/>
                </a:solidFill>
                <a:latin typeface="Arial" pitchFamily="34" charset="0"/>
                <a:ea typeface="Arial" pitchFamily="34" charset="-122"/>
                <a:cs typeface="Arial" pitchFamily="34" charset="-120"/>
              </a:rPr>
              <a:t>BAS consultant with direct hands-on programming experience on Distech and DeltaV controls systems - the exact platforms installed in the Sacramento commercial market. Engineer-in-Training pursuing PE licensure in HVAC and Refrigeration.</a:t>
            </a:r>
            <a:endParaRPr lang="en-US" sz="1200" dirty="0"/>
          </a:p>
        </p:txBody>
      </p:sp>
      <p:sp>
        <p:nvSpPr>
          <p:cNvPr id="8" name="Shape 5"/>
          <p:cNvSpPr/>
          <p:nvPr/>
        </p:nvSpPr>
        <p:spPr>
          <a:xfrm>
            <a:off x="6172200" y="1691640"/>
            <a:ext cx="5212080" cy="2103120"/>
          </a:xfrm>
          <a:prstGeom prst="roundRect">
            <a:avLst>
              <a:gd name="adj" fmla="val 4348"/>
            </a:avLst>
          </a:prstGeom>
          <a:solidFill>
            <a:srgbClr val="FFFFFF"/>
          </a:solidFill>
          <a:ln/>
          <a:effectLst>
            <a:outerShdw sx="100000" sy="100000" kx="0" ky="0" algn="bl" rotWithShape="0" blurRad="88900" dist="25400" dir="5400000">
              <a:srgbClr val="000000">
                <a:alpha val="8000"/>
              </a:srgbClr>
            </a:outerShdw>
          </a:effectLst>
        </p:spPr>
      </p:sp>
      <p:pic>
        <p:nvPicPr>
          <p:cNvPr id="9" name="Image 1" descr="preencoded.png"/>
          <p:cNvPicPr>
            <a:picLocks noChangeAspect="1"/>
          </p:cNvPicPr>
          <p:nvPr/>
        </p:nvPicPr>
        <p:blipFill>
          <a:blip r:embed="rId2"/>
          <a:stretch>
            <a:fillRect/>
          </a:stretch>
        </p:blipFill>
        <p:spPr>
          <a:xfrm>
            <a:off x="6446520" y="1965960"/>
            <a:ext cx="594360" cy="594360"/>
          </a:xfrm>
          <a:prstGeom prst="rect">
            <a:avLst/>
          </a:prstGeom>
        </p:spPr>
      </p:pic>
      <p:sp>
        <p:nvSpPr>
          <p:cNvPr id="10" name="Text 6"/>
          <p:cNvSpPr/>
          <p:nvPr/>
        </p:nvSpPr>
        <p:spPr>
          <a:xfrm>
            <a:off x="7223760" y="1947672"/>
            <a:ext cx="3931920" cy="502920"/>
          </a:xfrm>
          <a:prstGeom prst="rect">
            <a:avLst/>
          </a:prstGeom>
          <a:noFill/>
          <a:ln/>
        </p:spPr>
        <p:txBody>
          <a:bodyPr wrap="square" rtlCol="0" anchor="t"/>
          <a:lstStyle/>
          <a:p>
            <a:pPr indent="0" marL="0">
              <a:buNone/>
            </a:pPr>
            <a:r>
              <a:rPr lang="en-US" sz="1500" b="1" dirty="0">
                <a:solidFill>
                  <a:srgbClr val="12243F"/>
                </a:solidFill>
                <a:latin typeface="Cambria" pitchFamily="34" charset="0"/>
                <a:ea typeface="Cambria" pitchFamily="34" charset="-122"/>
                <a:cs typeface="Cambria" pitchFamily="34" charset="-120"/>
              </a:rPr>
              <a:t>What Refined Energy Consulting Does</a:t>
            </a:r>
            <a:endParaRPr lang="en-US" sz="1500" dirty="0"/>
          </a:p>
        </p:txBody>
      </p:sp>
      <p:sp>
        <p:nvSpPr>
          <p:cNvPr id="11" name="Text 7"/>
          <p:cNvSpPr/>
          <p:nvPr/>
        </p:nvSpPr>
        <p:spPr>
          <a:xfrm>
            <a:off x="6446520" y="2560320"/>
            <a:ext cx="4663440" cy="1143000"/>
          </a:xfrm>
          <a:prstGeom prst="rect">
            <a:avLst/>
          </a:prstGeom>
          <a:noFill/>
          <a:ln/>
        </p:spPr>
        <p:txBody>
          <a:bodyPr wrap="square" rtlCol="0" anchor="t"/>
          <a:lstStyle/>
          <a:p>
            <a:pPr indent="0" marL="0">
              <a:buNone/>
            </a:pPr>
            <a:r>
              <a:rPr lang="en-US" sz="1200" dirty="0">
                <a:solidFill>
                  <a:srgbClr val="5A6B85"/>
                </a:solidFill>
                <a:latin typeface="Arial" pitchFamily="34" charset="0"/>
                <a:ea typeface="Arial" pitchFamily="34" charset="-122"/>
                <a:cs typeface="Arial" pitchFamily="34" charset="-120"/>
              </a:rPr>
              <a:t>We audit, design, and optimize building automation systems for small commercial properties. We audit, design, and optimize HVAC controls using the right solution for each building: smart thermostat retrofits for package rooftop unit buildings, and full BAS programming for multi-zone systems. A licensed C-7 contractor handles all physical installation. We focus on what we do best: controls logic, scheduling, and energy analysis.</a:t>
            </a:r>
            <a:endParaRPr lang="en-US" sz="1200" dirty="0"/>
          </a:p>
        </p:txBody>
      </p:sp>
      <p:sp>
        <p:nvSpPr>
          <p:cNvPr id="12" name="Shape 8"/>
          <p:cNvSpPr/>
          <p:nvPr/>
        </p:nvSpPr>
        <p:spPr>
          <a:xfrm>
            <a:off x="640080" y="4023360"/>
            <a:ext cx="5212080" cy="2103120"/>
          </a:xfrm>
          <a:prstGeom prst="roundRect">
            <a:avLst>
              <a:gd name="adj" fmla="val 4348"/>
            </a:avLst>
          </a:prstGeom>
          <a:solidFill>
            <a:srgbClr val="FFFFFF"/>
          </a:solidFill>
          <a:ln/>
          <a:effectLst>
            <a:outerShdw sx="100000" sy="100000" kx="0" ky="0" algn="bl" rotWithShape="0" blurRad="88900" dist="25400" dir="5400000">
              <a:srgbClr val="000000">
                <a:alpha val="8000"/>
              </a:srgbClr>
            </a:outerShdw>
          </a:effectLst>
        </p:spPr>
      </p:sp>
      <p:pic>
        <p:nvPicPr>
          <p:cNvPr id="13" name="Image 2" descr="preencoded.png"/>
          <p:cNvPicPr>
            <a:picLocks noChangeAspect="1"/>
          </p:cNvPicPr>
          <p:nvPr/>
        </p:nvPicPr>
        <p:blipFill>
          <a:blip r:embed="rId3"/>
          <a:stretch>
            <a:fillRect/>
          </a:stretch>
        </p:blipFill>
        <p:spPr>
          <a:xfrm>
            <a:off x="914400" y="4297680"/>
            <a:ext cx="594360" cy="594360"/>
          </a:xfrm>
          <a:prstGeom prst="rect">
            <a:avLst/>
          </a:prstGeom>
        </p:spPr>
      </p:pic>
      <p:sp>
        <p:nvSpPr>
          <p:cNvPr id="14" name="Text 9"/>
          <p:cNvSpPr/>
          <p:nvPr/>
        </p:nvSpPr>
        <p:spPr>
          <a:xfrm>
            <a:off x="1691640" y="4279392"/>
            <a:ext cx="3931920" cy="502920"/>
          </a:xfrm>
          <a:prstGeom prst="rect">
            <a:avLst/>
          </a:prstGeom>
          <a:noFill/>
          <a:ln/>
        </p:spPr>
        <p:txBody>
          <a:bodyPr wrap="square" rtlCol="0" anchor="t"/>
          <a:lstStyle/>
          <a:p>
            <a:pPr indent="0" marL="0">
              <a:buNone/>
            </a:pPr>
            <a:r>
              <a:rPr lang="en-US" sz="1500" b="1" dirty="0">
                <a:solidFill>
                  <a:srgbClr val="12243F"/>
                </a:solidFill>
                <a:latin typeface="Cambria" pitchFamily="34" charset="0"/>
                <a:ea typeface="Cambria" pitchFamily="34" charset="-122"/>
                <a:cs typeface="Cambria" pitchFamily="34" charset="-120"/>
              </a:rPr>
              <a:t>Why Sacramento, and why now</a:t>
            </a:r>
            <a:endParaRPr lang="en-US" sz="1500" dirty="0"/>
          </a:p>
        </p:txBody>
      </p:sp>
      <p:sp>
        <p:nvSpPr>
          <p:cNvPr id="15" name="Text 10"/>
          <p:cNvSpPr/>
          <p:nvPr/>
        </p:nvSpPr>
        <p:spPr>
          <a:xfrm>
            <a:off x="914400" y="4892040"/>
            <a:ext cx="4663440" cy="1143000"/>
          </a:xfrm>
          <a:prstGeom prst="rect">
            <a:avLst/>
          </a:prstGeom>
          <a:noFill/>
          <a:ln/>
        </p:spPr>
        <p:txBody>
          <a:bodyPr wrap="square" rtlCol="0" anchor="t"/>
          <a:lstStyle/>
          <a:p>
            <a:pPr indent="0" marL="0">
              <a:buNone/>
            </a:pPr>
            <a:r>
              <a:rPr lang="en-US" sz="1200" dirty="0">
                <a:solidFill>
                  <a:srgbClr val="5A6B85"/>
                </a:solidFill>
                <a:latin typeface="Arial" pitchFamily="34" charset="0"/>
                <a:ea typeface="Arial" pitchFamily="34" charset="-122"/>
                <a:cs typeface="Arial" pitchFamily="34" charset="-120"/>
              </a:rPr>
              <a:t>Sacramento summers regularly hit 100-109F. PG&amp;E and SMUD commercial rates are among the highest in the state. The suburban commercial building stock is heavily independently owned with little controls presence. This is the right market, at the right time.</a:t>
            </a:r>
            <a:endParaRPr lang="en-US" sz="1200" dirty="0"/>
          </a:p>
        </p:txBody>
      </p:sp>
      <p:sp>
        <p:nvSpPr>
          <p:cNvPr id="16" name="Shape 11"/>
          <p:cNvSpPr/>
          <p:nvPr/>
        </p:nvSpPr>
        <p:spPr>
          <a:xfrm>
            <a:off x="6172200" y="4023360"/>
            <a:ext cx="5212080" cy="2103120"/>
          </a:xfrm>
          <a:prstGeom prst="roundRect">
            <a:avLst>
              <a:gd name="adj" fmla="val 4348"/>
            </a:avLst>
          </a:prstGeom>
          <a:solidFill>
            <a:srgbClr val="FFFFFF"/>
          </a:solidFill>
          <a:ln/>
          <a:effectLst>
            <a:outerShdw sx="100000" sy="100000" kx="0" ky="0" algn="bl" rotWithShape="0" blurRad="88900" dist="25400" dir="5400000">
              <a:srgbClr val="000000">
                <a:alpha val="8000"/>
              </a:srgbClr>
            </a:outerShdw>
          </a:effectLst>
        </p:spPr>
      </p:sp>
      <p:pic>
        <p:nvPicPr>
          <p:cNvPr id="17" name="Image 3" descr="preencoded.png"/>
          <p:cNvPicPr>
            <a:picLocks noChangeAspect="1"/>
          </p:cNvPicPr>
          <p:nvPr/>
        </p:nvPicPr>
        <p:blipFill>
          <a:blip r:embed="rId4"/>
          <a:stretch>
            <a:fillRect/>
          </a:stretch>
        </p:blipFill>
        <p:spPr>
          <a:xfrm>
            <a:off x="6446520" y="4297680"/>
            <a:ext cx="594360" cy="594360"/>
          </a:xfrm>
          <a:prstGeom prst="rect">
            <a:avLst/>
          </a:prstGeom>
        </p:spPr>
      </p:pic>
      <p:sp>
        <p:nvSpPr>
          <p:cNvPr id="18" name="Text 12"/>
          <p:cNvSpPr/>
          <p:nvPr/>
        </p:nvSpPr>
        <p:spPr>
          <a:xfrm>
            <a:off x="7223760" y="4279392"/>
            <a:ext cx="3931920" cy="502920"/>
          </a:xfrm>
          <a:prstGeom prst="rect">
            <a:avLst/>
          </a:prstGeom>
          <a:noFill/>
          <a:ln/>
        </p:spPr>
        <p:txBody>
          <a:bodyPr wrap="square" rtlCol="0" anchor="t"/>
          <a:lstStyle/>
          <a:p>
            <a:pPr indent="0" marL="0">
              <a:buNone/>
            </a:pPr>
            <a:r>
              <a:rPr lang="en-US" sz="1500" b="1" dirty="0">
                <a:solidFill>
                  <a:srgbClr val="12243F"/>
                </a:solidFill>
                <a:latin typeface="Cambria" pitchFamily="34" charset="0"/>
                <a:ea typeface="Cambria" pitchFamily="34" charset="-122"/>
                <a:cs typeface="Cambria" pitchFamily="34" charset="-120"/>
              </a:rPr>
              <a:t>Already tested with real buildings</a:t>
            </a:r>
            <a:endParaRPr lang="en-US" sz="1500" dirty="0"/>
          </a:p>
        </p:txBody>
      </p:sp>
      <p:sp>
        <p:nvSpPr>
          <p:cNvPr id="19" name="Text 13"/>
          <p:cNvSpPr/>
          <p:nvPr/>
        </p:nvSpPr>
        <p:spPr>
          <a:xfrm>
            <a:off x="6446520" y="4892040"/>
            <a:ext cx="4663440" cy="1143000"/>
          </a:xfrm>
          <a:prstGeom prst="rect">
            <a:avLst/>
          </a:prstGeom>
          <a:noFill/>
          <a:ln/>
        </p:spPr>
        <p:txBody>
          <a:bodyPr wrap="square" rtlCol="0" anchor="t"/>
          <a:lstStyle/>
          <a:p>
            <a:pPr indent="0" marL="0">
              <a:buNone/>
            </a:pPr>
            <a:r>
              <a:rPr lang="en-US" sz="1200" dirty="0">
                <a:solidFill>
                  <a:srgbClr val="5A6B85"/>
                </a:solidFill>
                <a:latin typeface="Arial" pitchFamily="34" charset="0"/>
                <a:ea typeface="Arial" pitchFamily="34" charset="-122"/>
                <a:cs typeface="Arial" pitchFamily="34" charset="-120"/>
              </a:rPr>
              <a:t>The pricing model, savings calculations, and verification process have already been tested against real Sacramento-area properties using public county data - including a confirmed case study at Rosemont Plaza, 9113 Kiefer Blvd.</a:t>
            </a:r>
            <a:endParaRPr lang="en-US" sz="1200" dirty="0"/>
          </a:p>
        </p:txBody>
      </p:sp>
      <p:sp>
        <p:nvSpPr>
          <p:cNvPr id="20" name="Text 14"/>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A6B85"/>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8229600" cy="365760"/>
          </a:xfrm>
          <a:prstGeom prst="rect">
            <a:avLst/>
          </a:prstGeom>
          <a:noFill/>
          <a:ln/>
        </p:spPr>
        <p:txBody>
          <a:bodyPr wrap="square" rtlCol="0" anchor="ctr"/>
          <a:lstStyle/>
          <a:p>
            <a:pPr indent="0" marL="0">
              <a:buNone/>
            </a:pPr>
            <a:r>
              <a:rPr lang="en-US" sz="1300" b="1" spc="200" kern="0" dirty="0">
                <a:solidFill>
                  <a:srgbClr val="C77F1D"/>
                </a:solidFill>
                <a:latin typeface="Arial" pitchFamily="34" charset="0"/>
                <a:ea typeface="Arial" pitchFamily="34" charset="-122"/>
                <a:cs typeface="Arial" pitchFamily="34" charset="-120"/>
              </a:rPr>
              <a:t>CALIFORNIA COMPLIANCE AND REBATES</a:t>
            </a:r>
            <a:endParaRPr lang="en-US" sz="1300" dirty="0"/>
          </a:p>
        </p:txBody>
      </p:sp>
      <p:sp>
        <p:nvSpPr>
          <p:cNvPr id="3" name="Text 1"/>
          <p:cNvSpPr/>
          <p:nvPr/>
        </p:nvSpPr>
        <p:spPr>
          <a:xfrm>
            <a:off x="640080" y="841248"/>
            <a:ext cx="10515600" cy="640080"/>
          </a:xfrm>
          <a:prstGeom prst="rect">
            <a:avLst/>
          </a:prstGeom>
          <a:noFill/>
          <a:ln/>
        </p:spPr>
        <p:txBody>
          <a:bodyPr wrap="square" rtlCol="0" anchor="ctr"/>
          <a:lstStyle/>
          <a:p>
            <a:pPr indent="0" marL="0">
              <a:buNone/>
            </a:pPr>
            <a:r>
              <a:rPr lang="en-US" sz="2700" b="1" dirty="0">
                <a:solidFill>
                  <a:srgbClr val="12243F"/>
                </a:solidFill>
                <a:latin typeface="Cambria" pitchFamily="34" charset="0"/>
                <a:ea typeface="Cambria" pitchFamily="34" charset="-122"/>
                <a:cs typeface="Cambria" pitchFamily="34" charset="-120"/>
              </a:rPr>
              <a:t>Three reasons the numbers work even better than they look</a:t>
            </a:r>
            <a:endParaRPr lang="en-US" sz="2700" dirty="0"/>
          </a:p>
        </p:txBody>
      </p:sp>
      <p:sp>
        <p:nvSpPr>
          <p:cNvPr id="4" name="Shape 2"/>
          <p:cNvSpPr/>
          <p:nvPr/>
        </p:nvSpPr>
        <p:spPr>
          <a:xfrm>
            <a:off x="640080" y="1783080"/>
            <a:ext cx="10881360" cy="914400"/>
          </a:xfrm>
          <a:prstGeom prst="roundRect">
            <a:avLst>
              <a:gd name="adj" fmla="val 8000"/>
            </a:avLst>
          </a:prstGeom>
          <a:solidFill>
            <a:srgbClr val="F7F4ED"/>
          </a:solidFill>
          <a:ln/>
        </p:spPr>
      </p:sp>
      <p:pic>
        <p:nvPicPr>
          <p:cNvPr id="5" name="Image 0" descr="preencoded.png"/>
          <p:cNvPicPr>
            <a:picLocks noChangeAspect="1"/>
          </p:cNvPicPr>
          <p:nvPr/>
        </p:nvPicPr>
        <p:blipFill>
          <a:blip r:embed="rId1"/>
          <a:stretch>
            <a:fillRect/>
          </a:stretch>
        </p:blipFill>
        <p:spPr>
          <a:xfrm>
            <a:off x="868680" y="1984248"/>
            <a:ext cx="502920" cy="502920"/>
          </a:xfrm>
          <a:prstGeom prst="rect">
            <a:avLst/>
          </a:prstGeom>
        </p:spPr>
      </p:pic>
      <p:sp>
        <p:nvSpPr>
          <p:cNvPr id="6" name="Text 3"/>
          <p:cNvSpPr/>
          <p:nvPr/>
        </p:nvSpPr>
        <p:spPr>
          <a:xfrm>
            <a:off x="1508760" y="1874520"/>
            <a:ext cx="4114800" cy="731520"/>
          </a:xfrm>
          <a:prstGeom prst="rect">
            <a:avLst/>
          </a:prstGeom>
          <a:noFill/>
          <a:ln/>
        </p:spPr>
        <p:txBody>
          <a:bodyPr wrap="square" rtlCol="0" anchor="ctr"/>
          <a:lstStyle/>
          <a:p>
            <a:pPr indent="0" marL="0">
              <a:buNone/>
            </a:pPr>
            <a:r>
              <a:rPr lang="en-US" sz="1300" b="1" dirty="0">
                <a:solidFill>
                  <a:srgbClr val="12243F"/>
                </a:solidFill>
                <a:latin typeface="Arial" pitchFamily="34" charset="0"/>
                <a:ea typeface="Arial" pitchFamily="34" charset="-122"/>
                <a:cs typeface="Arial" pitchFamily="34" charset="-120"/>
              </a:rPr>
              <a:t>AB 802 - California's mandatory energy benchmarking law</a:t>
            </a:r>
            <a:endParaRPr lang="en-US" sz="1300" dirty="0"/>
          </a:p>
        </p:txBody>
      </p:sp>
      <p:sp>
        <p:nvSpPr>
          <p:cNvPr id="7" name="Shape 4"/>
          <p:cNvSpPr/>
          <p:nvPr/>
        </p:nvSpPr>
        <p:spPr>
          <a:xfrm>
            <a:off x="5806440" y="1920240"/>
            <a:ext cx="0" cy="640080"/>
          </a:xfrm>
          <a:prstGeom prst="line">
            <a:avLst/>
          </a:prstGeom>
          <a:noFill/>
          <a:ln w="12700">
            <a:solidFill>
              <a:srgbClr val="D9D0BB"/>
            </a:solidFill>
            <a:prstDash val="solid"/>
          </a:ln>
        </p:spPr>
      </p:sp>
      <p:pic>
        <p:nvPicPr>
          <p:cNvPr id="8" name="Image 1" descr="preencoded.png"/>
          <p:cNvPicPr>
            <a:picLocks noChangeAspect="1"/>
          </p:cNvPicPr>
          <p:nvPr/>
        </p:nvPicPr>
        <p:blipFill>
          <a:blip r:embed="rId2"/>
          <a:stretch>
            <a:fillRect/>
          </a:stretch>
        </p:blipFill>
        <p:spPr>
          <a:xfrm>
            <a:off x="6035040" y="2093976"/>
            <a:ext cx="292608" cy="292608"/>
          </a:xfrm>
          <a:prstGeom prst="rect">
            <a:avLst/>
          </a:prstGeom>
        </p:spPr>
      </p:pic>
      <p:sp>
        <p:nvSpPr>
          <p:cNvPr id="9" name="Text 5"/>
          <p:cNvSpPr/>
          <p:nvPr/>
        </p:nvSpPr>
        <p:spPr>
          <a:xfrm>
            <a:off x="6446520" y="1874520"/>
            <a:ext cx="4892040" cy="731520"/>
          </a:xfrm>
          <a:prstGeom prst="rect">
            <a:avLst/>
          </a:prstGeom>
          <a:noFill/>
          <a:ln/>
        </p:spPr>
        <p:txBody>
          <a:bodyPr wrap="square" rtlCol="0" anchor="ctr"/>
          <a:lstStyle/>
          <a:p>
            <a:pPr indent="0" marL="0">
              <a:buNone/>
            </a:pPr>
            <a:r>
              <a:rPr lang="en-US" sz="1250" dirty="0">
                <a:solidFill>
                  <a:srgbClr val="5A6B85"/>
                </a:solidFill>
                <a:latin typeface="Arial" pitchFamily="34" charset="0"/>
                <a:ea typeface="Arial" pitchFamily="34" charset="-122"/>
                <a:cs typeface="Arial" pitchFamily="34" charset="-120"/>
              </a:rPr>
              <a:t>Buildings over 50,000 sq ft must benchmark energy use annually with the CEC. Non-compliance: up to $2,000/day in fines. Most small landlords have never heard of this - making it the highest-converting cold outreach opener in this market.</a:t>
            </a:r>
            <a:endParaRPr lang="en-US" sz="1250" dirty="0"/>
          </a:p>
        </p:txBody>
      </p:sp>
      <p:sp>
        <p:nvSpPr>
          <p:cNvPr id="10" name="Shape 6"/>
          <p:cNvSpPr/>
          <p:nvPr/>
        </p:nvSpPr>
        <p:spPr>
          <a:xfrm>
            <a:off x="640080" y="2862072"/>
            <a:ext cx="10881360" cy="914400"/>
          </a:xfrm>
          <a:prstGeom prst="roundRect">
            <a:avLst>
              <a:gd name="adj" fmla="val 8000"/>
            </a:avLst>
          </a:prstGeom>
          <a:solidFill>
            <a:srgbClr val="F7F4ED"/>
          </a:solidFill>
          <a:ln/>
        </p:spPr>
      </p:sp>
      <p:pic>
        <p:nvPicPr>
          <p:cNvPr id="11" name="Image 2" descr="preencoded.png"/>
          <p:cNvPicPr>
            <a:picLocks noChangeAspect="1"/>
          </p:cNvPicPr>
          <p:nvPr/>
        </p:nvPicPr>
        <p:blipFill>
          <a:blip r:embed="rId3"/>
          <a:stretch>
            <a:fillRect/>
          </a:stretch>
        </p:blipFill>
        <p:spPr>
          <a:xfrm>
            <a:off x="868680" y="3063240"/>
            <a:ext cx="502920" cy="502920"/>
          </a:xfrm>
          <a:prstGeom prst="rect">
            <a:avLst/>
          </a:prstGeom>
        </p:spPr>
      </p:pic>
      <p:sp>
        <p:nvSpPr>
          <p:cNvPr id="12" name="Text 7"/>
          <p:cNvSpPr/>
          <p:nvPr/>
        </p:nvSpPr>
        <p:spPr>
          <a:xfrm>
            <a:off x="1508760" y="2953512"/>
            <a:ext cx="4114800" cy="731520"/>
          </a:xfrm>
          <a:prstGeom prst="rect">
            <a:avLst/>
          </a:prstGeom>
          <a:noFill/>
          <a:ln/>
        </p:spPr>
        <p:txBody>
          <a:bodyPr wrap="square" rtlCol="0" anchor="ctr"/>
          <a:lstStyle/>
          <a:p>
            <a:pPr indent="0" marL="0">
              <a:buNone/>
            </a:pPr>
            <a:r>
              <a:rPr lang="en-US" sz="1300" b="1" dirty="0">
                <a:solidFill>
                  <a:srgbClr val="12243F"/>
                </a:solidFill>
                <a:latin typeface="Arial" pitchFamily="34" charset="0"/>
                <a:ea typeface="Arial" pitchFamily="34" charset="-122"/>
                <a:cs typeface="Arial" pitchFamily="34" charset="-120"/>
              </a:rPr>
              <a:t>SMUD Custom Retrofit Program</a:t>
            </a:r>
            <a:endParaRPr lang="en-US" sz="1300" dirty="0"/>
          </a:p>
        </p:txBody>
      </p:sp>
      <p:sp>
        <p:nvSpPr>
          <p:cNvPr id="13" name="Shape 8"/>
          <p:cNvSpPr/>
          <p:nvPr/>
        </p:nvSpPr>
        <p:spPr>
          <a:xfrm>
            <a:off x="5806440" y="2999232"/>
            <a:ext cx="0" cy="640080"/>
          </a:xfrm>
          <a:prstGeom prst="line">
            <a:avLst/>
          </a:prstGeom>
          <a:noFill/>
          <a:ln w="12700">
            <a:solidFill>
              <a:srgbClr val="D9D0BB"/>
            </a:solidFill>
            <a:prstDash val="solid"/>
          </a:ln>
        </p:spPr>
      </p:sp>
      <p:pic>
        <p:nvPicPr>
          <p:cNvPr id="14" name="Image 3" descr="preencoded.png"/>
          <p:cNvPicPr>
            <a:picLocks noChangeAspect="1"/>
          </p:cNvPicPr>
          <p:nvPr/>
        </p:nvPicPr>
        <p:blipFill>
          <a:blip r:embed="rId4"/>
          <a:stretch>
            <a:fillRect/>
          </a:stretch>
        </p:blipFill>
        <p:spPr>
          <a:xfrm>
            <a:off x="6035040" y="3172968"/>
            <a:ext cx="292608" cy="292608"/>
          </a:xfrm>
          <a:prstGeom prst="rect">
            <a:avLst/>
          </a:prstGeom>
        </p:spPr>
      </p:pic>
      <p:sp>
        <p:nvSpPr>
          <p:cNvPr id="15" name="Text 9"/>
          <p:cNvSpPr/>
          <p:nvPr/>
        </p:nvSpPr>
        <p:spPr>
          <a:xfrm>
            <a:off x="6446520" y="2953512"/>
            <a:ext cx="4892040" cy="731520"/>
          </a:xfrm>
          <a:prstGeom prst="rect">
            <a:avLst/>
          </a:prstGeom>
          <a:noFill/>
          <a:ln/>
        </p:spPr>
        <p:txBody>
          <a:bodyPr wrap="square" rtlCol="0" anchor="ctr"/>
          <a:lstStyle/>
          <a:p>
            <a:pPr indent="0" marL="0">
              <a:buNone/>
            </a:pPr>
            <a:r>
              <a:rPr lang="en-US" sz="1250" dirty="0">
                <a:solidFill>
                  <a:srgbClr val="5A6B85"/>
                </a:solidFill>
                <a:latin typeface="Arial" pitchFamily="34" charset="0"/>
                <a:ea typeface="Arial" pitchFamily="34" charset="-122"/>
                <a:cs typeface="Arial" pitchFamily="34" charset="-120"/>
              </a:rPr>
              <a:t>SMUD pays back up to 50% of qualifying project costs (max $100K). A $10,000 BAS project could return $3,000-5,000 to the owner. We handle the paperwork. The owner's net cost drops by nearly half before they see a single utility bill savings.</a:t>
            </a:r>
            <a:endParaRPr lang="en-US" sz="1250" dirty="0"/>
          </a:p>
        </p:txBody>
      </p:sp>
      <p:sp>
        <p:nvSpPr>
          <p:cNvPr id="16" name="Shape 10"/>
          <p:cNvSpPr/>
          <p:nvPr/>
        </p:nvSpPr>
        <p:spPr>
          <a:xfrm>
            <a:off x="640080" y="3941064"/>
            <a:ext cx="10881360" cy="914400"/>
          </a:xfrm>
          <a:prstGeom prst="roundRect">
            <a:avLst>
              <a:gd name="adj" fmla="val 8000"/>
            </a:avLst>
          </a:prstGeom>
          <a:solidFill>
            <a:srgbClr val="F7F4ED"/>
          </a:solidFill>
          <a:ln/>
        </p:spPr>
      </p:sp>
      <p:pic>
        <p:nvPicPr>
          <p:cNvPr id="17" name="Image 4" descr="preencoded.png"/>
          <p:cNvPicPr>
            <a:picLocks noChangeAspect="1"/>
          </p:cNvPicPr>
          <p:nvPr/>
        </p:nvPicPr>
        <p:blipFill>
          <a:blip r:embed="rId5"/>
          <a:stretch>
            <a:fillRect/>
          </a:stretch>
        </p:blipFill>
        <p:spPr>
          <a:xfrm>
            <a:off x="868680" y="4142232"/>
            <a:ext cx="502920" cy="502920"/>
          </a:xfrm>
          <a:prstGeom prst="rect">
            <a:avLst/>
          </a:prstGeom>
        </p:spPr>
      </p:pic>
      <p:sp>
        <p:nvSpPr>
          <p:cNvPr id="18" name="Text 11"/>
          <p:cNvSpPr/>
          <p:nvPr/>
        </p:nvSpPr>
        <p:spPr>
          <a:xfrm>
            <a:off x="1508760" y="4032504"/>
            <a:ext cx="4114800" cy="731520"/>
          </a:xfrm>
          <a:prstGeom prst="rect">
            <a:avLst/>
          </a:prstGeom>
          <a:noFill/>
          <a:ln/>
        </p:spPr>
        <p:txBody>
          <a:bodyPr wrap="square" rtlCol="0" anchor="ctr"/>
          <a:lstStyle/>
          <a:p>
            <a:pPr indent="0" marL="0">
              <a:buNone/>
            </a:pPr>
            <a:r>
              <a:rPr lang="en-US" sz="1300" b="1" dirty="0">
                <a:solidFill>
                  <a:srgbClr val="12243F"/>
                </a:solidFill>
                <a:latin typeface="Arial" pitchFamily="34" charset="0"/>
                <a:ea typeface="Arial" pitchFamily="34" charset="-122"/>
                <a:cs typeface="Arial" pitchFamily="34" charset="-120"/>
              </a:rPr>
              <a:t>Section 179D Federal Tax Deduction</a:t>
            </a:r>
            <a:endParaRPr lang="en-US" sz="1300" dirty="0"/>
          </a:p>
        </p:txBody>
      </p:sp>
      <p:sp>
        <p:nvSpPr>
          <p:cNvPr id="19" name="Shape 12"/>
          <p:cNvSpPr/>
          <p:nvPr/>
        </p:nvSpPr>
        <p:spPr>
          <a:xfrm>
            <a:off x="5806440" y="4078224"/>
            <a:ext cx="0" cy="640080"/>
          </a:xfrm>
          <a:prstGeom prst="line">
            <a:avLst/>
          </a:prstGeom>
          <a:noFill/>
          <a:ln w="12700">
            <a:solidFill>
              <a:srgbClr val="D9D0BB"/>
            </a:solidFill>
            <a:prstDash val="solid"/>
          </a:ln>
        </p:spPr>
      </p:sp>
      <p:pic>
        <p:nvPicPr>
          <p:cNvPr id="20" name="Image 5" descr="preencoded.png"/>
          <p:cNvPicPr>
            <a:picLocks noChangeAspect="1"/>
          </p:cNvPicPr>
          <p:nvPr/>
        </p:nvPicPr>
        <p:blipFill>
          <a:blip r:embed="rId6"/>
          <a:stretch>
            <a:fillRect/>
          </a:stretch>
        </p:blipFill>
        <p:spPr>
          <a:xfrm>
            <a:off x="6035040" y="4251960"/>
            <a:ext cx="292608" cy="292608"/>
          </a:xfrm>
          <a:prstGeom prst="rect">
            <a:avLst/>
          </a:prstGeom>
        </p:spPr>
      </p:pic>
      <p:sp>
        <p:nvSpPr>
          <p:cNvPr id="21" name="Text 13"/>
          <p:cNvSpPr/>
          <p:nvPr/>
        </p:nvSpPr>
        <p:spPr>
          <a:xfrm>
            <a:off x="6446520" y="4032504"/>
            <a:ext cx="4892040" cy="731520"/>
          </a:xfrm>
          <a:prstGeom prst="rect">
            <a:avLst/>
          </a:prstGeom>
          <a:noFill/>
          <a:ln/>
        </p:spPr>
        <p:txBody>
          <a:bodyPr wrap="square" rtlCol="0" anchor="ctr"/>
          <a:lstStyle/>
          <a:p>
            <a:pPr indent="0" marL="0">
              <a:buNone/>
            </a:pPr>
            <a:r>
              <a:rPr lang="en-US" sz="1250" dirty="0">
                <a:solidFill>
                  <a:srgbClr val="5A6B85"/>
                </a:solidFill>
                <a:latin typeface="Arial" pitchFamily="34" charset="0"/>
                <a:ea typeface="Arial" pitchFamily="34" charset="-122"/>
                <a:cs typeface="Arial" pitchFamily="34" charset="-120"/>
              </a:rPr>
              <a:t>Federal deduction of up to $5.65/sq ft for qualifying HVAC improvements. A 12,000 sq ft building = up to $67,800 in tax deductions from a single project. Our audit report provides the documentation required. Show this to their accountant.</a:t>
            </a:r>
            <a:endParaRPr lang="en-US" sz="1250" dirty="0"/>
          </a:p>
        </p:txBody>
      </p:sp>
      <p:sp>
        <p:nvSpPr>
          <p:cNvPr id="22" name="Shape 14"/>
          <p:cNvSpPr/>
          <p:nvPr/>
        </p:nvSpPr>
        <p:spPr>
          <a:xfrm>
            <a:off x="640080" y="5020056"/>
            <a:ext cx="10881360" cy="914400"/>
          </a:xfrm>
          <a:prstGeom prst="roundRect">
            <a:avLst>
              <a:gd name="adj" fmla="val 8000"/>
            </a:avLst>
          </a:prstGeom>
          <a:solidFill>
            <a:srgbClr val="F7F4ED"/>
          </a:solidFill>
          <a:ln/>
        </p:spPr>
      </p:sp>
      <p:pic>
        <p:nvPicPr>
          <p:cNvPr id="23" name="Image 6" descr="preencoded.png"/>
          <p:cNvPicPr>
            <a:picLocks noChangeAspect="1"/>
          </p:cNvPicPr>
          <p:nvPr/>
        </p:nvPicPr>
        <p:blipFill>
          <a:blip r:embed="rId7"/>
          <a:stretch>
            <a:fillRect/>
          </a:stretch>
        </p:blipFill>
        <p:spPr>
          <a:xfrm>
            <a:off x="868680" y="5221224"/>
            <a:ext cx="502920" cy="502920"/>
          </a:xfrm>
          <a:prstGeom prst="rect">
            <a:avLst/>
          </a:prstGeom>
        </p:spPr>
      </p:pic>
      <p:sp>
        <p:nvSpPr>
          <p:cNvPr id="24" name="Text 15"/>
          <p:cNvSpPr/>
          <p:nvPr/>
        </p:nvSpPr>
        <p:spPr>
          <a:xfrm>
            <a:off x="1508760" y="5111496"/>
            <a:ext cx="4114800" cy="731520"/>
          </a:xfrm>
          <a:prstGeom prst="rect">
            <a:avLst/>
          </a:prstGeom>
          <a:noFill/>
          <a:ln/>
        </p:spPr>
        <p:txBody>
          <a:bodyPr wrap="square" rtlCol="0" anchor="ctr"/>
          <a:lstStyle/>
          <a:p>
            <a:pPr indent="0" marL="0">
              <a:buNone/>
            </a:pPr>
            <a:r>
              <a:rPr lang="en-US" sz="1300" b="1" dirty="0">
                <a:solidFill>
                  <a:srgbClr val="12243F"/>
                </a:solidFill>
                <a:latin typeface="Arial" pitchFamily="34" charset="0"/>
                <a:ea typeface="Arial" pitchFamily="34" charset="-122"/>
                <a:cs typeface="Arial" pitchFamily="34" charset="-120"/>
              </a:rPr>
              <a:t>How we use these in the pitch</a:t>
            </a:r>
            <a:endParaRPr lang="en-US" sz="1300" dirty="0"/>
          </a:p>
        </p:txBody>
      </p:sp>
      <p:sp>
        <p:nvSpPr>
          <p:cNvPr id="25" name="Shape 16"/>
          <p:cNvSpPr/>
          <p:nvPr/>
        </p:nvSpPr>
        <p:spPr>
          <a:xfrm>
            <a:off x="5806440" y="5157216"/>
            <a:ext cx="0" cy="640080"/>
          </a:xfrm>
          <a:prstGeom prst="line">
            <a:avLst/>
          </a:prstGeom>
          <a:noFill/>
          <a:ln w="12700">
            <a:solidFill>
              <a:srgbClr val="D9D0BB"/>
            </a:solidFill>
            <a:prstDash val="solid"/>
          </a:ln>
        </p:spPr>
      </p:sp>
      <p:pic>
        <p:nvPicPr>
          <p:cNvPr id="26" name="Image 7" descr="preencoded.png"/>
          <p:cNvPicPr>
            <a:picLocks noChangeAspect="1"/>
          </p:cNvPicPr>
          <p:nvPr/>
        </p:nvPicPr>
        <p:blipFill>
          <a:blip r:embed="rId8"/>
          <a:stretch>
            <a:fillRect/>
          </a:stretch>
        </p:blipFill>
        <p:spPr>
          <a:xfrm>
            <a:off x="6035040" y="5330952"/>
            <a:ext cx="292608" cy="292608"/>
          </a:xfrm>
          <a:prstGeom prst="rect">
            <a:avLst/>
          </a:prstGeom>
        </p:spPr>
      </p:pic>
      <p:sp>
        <p:nvSpPr>
          <p:cNvPr id="27" name="Text 17"/>
          <p:cNvSpPr/>
          <p:nvPr/>
        </p:nvSpPr>
        <p:spPr>
          <a:xfrm>
            <a:off x="6446520" y="5111496"/>
            <a:ext cx="4892040" cy="731520"/>
          </a:xfrm>
          <a:prstGeom prst="rect">
            <a:avLst/>
          </a:prstGeom>
          <a:noFill/>
          <a:ln/>
        </p:spPr>
        <p:txBody>
          <a:bodyPr wrap="square" rtlCol="0" anchor="ctr"/>
          <a:lstStyle/>
          <a:p>
            <a:pPr indent="0" marL="0">
              <a:buNone/>
            </a:pPr>
            <a:r>
              <a:rPr lang="en-US" sz="1250" dirty="0">
                <a:solidFill>
                  <a:srgbClr val="5A6B85"/>
                </a:solidFill>
                <a:latin typeface="Arial" pitchFamily="34" charset="0"/>
                <a:ea typeface="Arial" pitchFamily="34" charset="-122"/>
                <a:cs typeface="Arial" pitchFamily="34" charset="-120"/>
              </a:rPr>
              <a:t>AB 802 opens the door. SMUD rebates cut the price objection. 179D makes their accountant an ally. Competitors selling HVAC repairs know none of this. This is a genuine differentiator.</a:t>
            </a:r>
            <a:endParaRPr lang="en-US" sz="1250" dirty="0"/>
          </a:p>
        </p:txBody>
      </p:sp>
      <p:sp>
        <p:nvSpPr>
          <p:cNvPr id="28" name="Text 18"/>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A6B85"/>
                </a:solidFill>
                <a:latin typeface="Arial" pitchFamily="34" charset="0"/>
                <a:ea typeface="Arial" pitchFamily="34" charset="-122"/>
                <a:cs typeface="Arial" pitchFamily="34" charset="-120"/>
              </a:rPr>
              <a:t>13</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8229600" cy="365760"/>
          </a:xfrm>
          <a:prstGeom prst="rect">
            <a:avLst/>
          </a:prstGeom>
          <a:noFill/>
          <a:ln/>
        </p:spPr>
        <p:txBody>
          <a:bodyPr wrap="square" rtlCol="0" anchor="ctr"/>
          <a:lstStyle/>
          <a:p>
            <a:pPr indent="0" marL="0">
              <a:buNone/>
            </a:pPr>
            <a:r>
              <a:rPr lang="en-US" sz="1300" b="1" spc="200" kern="0" dirty="0">
                <a:solidFill>
                  <a:srgbClr val="C77F1D"/>
                </a:solidFill>
                <a:latin typeface="Arial" pitchFamily="34" charset="0"/>
                <a:ea typeface="Arial" pitchFamily="34" charset="-122"/>
                <a:cs typeface="Arial" pitchFamily="34" charset="-120"/>
              </a:rPr>
              <a:t>UNDERSTANDING LEASE STRUCTURES</a:t>
            </a:r>
            <a:endParaRPr lang="en-US" sz="1300" dirty="0"/>
          </a:p>
        </p:txBody>
      </p:sp>
      <p:sp>
        <p:nvSpPr>
          <p:cNvPr id="3" name="Text 1"/>
          <p:cNvSpPr/>
          <p:nvPr/>
        </p:nvSpPr>
        <p:spPr>
          <a:xfrm>
            <a:off x="640080" y="841248"/>
            <a:ext cx="10515600" cy="640080"/>
          </a:xfrm>
          <a:prstGeom prst="rect">
            <a:avLst/>
          </a:prstGeom>
          <a:noFill/>
          <a:ln/>
        </p:spPr>
        <p:txBody>
          <a:bodyPr wrap="square" rtlCol="0" anchor="ctr"/>
          <a:lstStyle/>
          <a:p>
            <a:pPr indent="0" marL="0">
              <a:buNone/>
            </a:pPr>
            <a:r>
              <a:rPr lang="en-US" sz="2700" b="1" dirty="0">
                <a:solidFill>
                  <a:srgbClr val="12243F"/>
                </a:solidFill>
                <a:latin typeface="Cambria" pitchFamily="34" charset="0"/>
                <a:ea typeface="Cambria" pitchFamily="34" charset="-122"/>
                <a:cs typeface="Cambria" pitchFamily="34" charset="-120"/>
              </a:rPr>
              <a:t>Who pays utilities determines who we pitch - and how</a:t>
            </a:r>
            <a:endParaRPr lang="en-US" sz="2700" dirty="0"/>
          </a:p>
        </p:txBody>
      </p:sp>
      <p:sp>
        <p:nvSpPr>
          <p:cNvPr id="4" name="Shape 2"/>
          <p:cNvSpPr/>
          <p:nvPr/>
        </p:nvSpPr>
        <p:spPr>
          <a:xfrm>
            <a:off x="640080" y="1783080"/>
            <a:ext cx="10881360" cy="914400"/>
          </a:xfrm>
          <a:prstGeom prst="roundRect">
            <a:avLst>
              <a:gd name="adj" fmla="val 8000"/>
            </a:avLst>
          </a:prstGeom>
          <a:solidFill>
            <a:srgbClr val="F7F4ED"/>
          </a:solidFill>
          <a:ln/>
        </p:spPr>
      </p:sp>
      <p:pic>
        <p:nvPicPr>
          <p:cNvPr id="5" name="Image 0" descr="preencoded.png"/>
          <p:cNvPicPr>
            <a:picLocks noChangeAspect="1"/>
          </p:cNvPicPr>
          <p:nvPr/>
        </p:nvPicPr>
        <p:blipFill>
          <a:blip r:embed="rId1"/>
          <a:stretch>
            <a:fillRect/>
          </a:stretch>
        </p:blipFill>
        <p:spPr>
          <a:xfrm>
            <a:off x="868680" y="1984248"/>
            <a:ext cx="502920" cy="502920"/>
          </a:xfrm>
          <a:prstGeom prst="rect">
            <a:avLst/>
          </a:prstGeom>
        </p:spPr>
      </p:pic>
      <p:sp>
        <p:nvSpPr>
          <p:cNvPr id="6" name="Text 3"/>
          <p:cNvSpPr/>
          <p:nvPr/>
        </p:nvSpPr>
        <p:spPr>
          <a:xfrm>
            <a:off x="1508760" y="1874520"/>
            <a:ext cx="4114800" cy="731520"/>
          </a:xfrm>
          <a:prstGeom prst="rect">
            <a:avLst/>
          </a:prstGeom>
          <a:noFill/>
          <a:ln/>
        </p:spPr>
        <p:txBody>
          <a:bodyPr wrap="square" rtlCol="0" anchor="ctr"/>
          <a:lstStyle/>
          <a:p>
            <a:pPr indent="0" marL="0">
              <a:buNone/>
            </a:pPr>
            <a:r>
              <a:rPr lang="en-US" sz="1300" b="1" dirty="0">
                <a:solidFill>
                  <a:srgbClr val="12243F"/>
                </a:solidFill>
                <a:latin typeface="Arial" pitchFamily="34" charset="0"/>
                <a:ea typeface="Arial" pitchFamily="34" charset="-122"/>
                <a:cs typeface="Arial" pitchFamily="34" charset="-120"/>
              </a:rPr>
              <a:t>#1 PRIORITY - Full Service (Gross) Lease</a:t>
            </a:r>
            <a:endParaRPr lang="en-US" sz="1300" dirty="0"/>
          </a:p>
        </p:txBody>
      </p:sp>
      <p:sp>
        <p:nvSpPr>
          <p:cNvPr id="7" name="Shape 4"/>
          <p:cNvSpPr/>
          <p:nvPr/>
        </p:nvSpPr>
        <p:spPr>
          <a:xfrm>
            <a:off x="5806440" y="1920240"/>
            <a:ext cx="0" cy="640080"/>
          </a:xfrm>
          <a:prstGeom prst="line">
            <a:avLst/>
          </a:prstGeom>
          <a:noFill/>
          <a:ln w="12700">
            <a:solidFill>
              <a:srgbClr val="D9D0BB"/>
            </a:solidFill>
            <a:prstDash val="solid"/>
          </a:ln>
        </p:spPr>
      </p:sp>
      <p:pic>
        <p:nvPicPr>
          <p:cNvPr id="8" name="Image 1" descr="preencoded.png"/>
          <p:cNvPicPr>
            <a:picLocks noChangeAspect="1"/>
          </p:cNvPicPr>
          <p:nvPr/>
        </p:nvPicPr>
        <p:blipFill>
          <a:blip r:embed="rId2"/>
          <a:stretch>
            <a:fillRect/>
          </a:stretch>
        </p:blipFill>
        <p:spPr>
          <a:xfrm>
            <a:off x="6035040" y="2093976"/>
            <a:ext cx="292608" cy="292608"/>
          </a:xfrm>
          <a:prstGeom prst="rect">
            <a:avLst/>
          </a:prstGeom>
        </p:spPr>
      </p:pic>
      <p:sp>
        <p:nvSpPr>
          <p:cNvPr id="9" name="Text 5"/>
          <p:cNvSpPr/>
          <p:nvPr/>
        </p:nvSpPr>
        <p:spPr>
          <a:xfrm>
            <a:off x="6446520" y="1874520"/>
            <a:ext cx="4892040" cy="731520"/>
          </a:xfrm>
          <a:prstGeom prst="rect">
            <a:avLst/>
          </a:prstGeom>
          <a:noFill/>
          <a:ln/>
        </p:spPr>
        <p:txBody>
          <a:bodyPr wrap="square" rtlCol="0" anchor="ctr"/>
          <a:lstStyle/>
          <a:p>
            <a:pPr indent="0" marL="0">
              <a:buNone/>
            </a:pPr>
            <a:r>
              <a:rPr lang="en-US" sz="1250" dirty="0">
                <a:solidFill>
                  <a:srgbClr val="5A6B85"/>
                </a:solidFill>
                <a:latin typeface="Arial" pitchFamily="34" charset="0"/>
                <a:ea typeface="Arial" pitchFamily="34" charset="-122"/>
                <a:cs typeface="Arial" pitchFamily="34" charset="-120"/>
              </a:rPr>
              <a:t>Landlord pays utility bills directly. Every dollar of HVAC inefficiency hits their P&amp;L immediately. When bills exceed their lease estimates they absorb the loss with no way to pass it to tenants. Direct financial pain, direct pitch, fastest path to a signed contract.</a:t>
            </a:r>
            <a:endParaRPr lang="en-US" sz="1250" dirty="0"/>
          </a:p>
        </p:txBody>
      </p:sp>
      <p:sp>
        <p:nvSpPr>
          <p:cNvPr id="10" name="Shape 6"/>
          <p:cNvSpPr/>
          <p:nvPr/>
        </p:nvSpPr>
        <p:spPr>
          <a:xfrm>
            <a:off x="640080" y="2862072"/>
            <a:ext cx="10881360" cy="914400"/>
          </a:xfrm>
          <a:prstGeom prst="roundRect">
            <a:avLst>
              <a:gd name="adj" fmla="val 8000"/>
            </a:avLst>
          </a:prstGeom>
          <a:solidFill>
            <a:srgbClr val="F7F4ED"/>
          </a:solidFill>
          <a:ln/>
        </p:spPr>
      </p:sp>
      <p:pic>
        <p:nvPicPr>
          <p:cNvPr id="11" name="Image 2" descr="preencoded.png"/>
          <p:cNvPicPr>
            <a:picLocks noChangeAspect="1"/>
          </p:cNvPicPr>
          <p:nvPr/>
        </p:nvPicPr>
        <p:blipFill>
          <a:blip r:embed="rId3"/>
          <a:stretch>
            <a:fillRect/>
          </a:stretch>
        </p:blipFill>
        <p:spPr>
          <a:xfrm>
            <a:off x="868680" y="3063240"/>
            <a:ext cx="502920" cy="502920"/>
          </a:xfrm>
          <a:prstGeom prst="rect">
            <a:avLst/>
          </a:prstGeom>
        </p:spPr>
      </p:pic>
      <p:sp>
        <p:nvSpPr>
          <p:cNvPr id="12" name="Text 7"/>
          <p:cNvSpPr/>
          <p:nvPr/>
        </p:nvSpPr>
        <p:spPr>
          <a:xfrm>
            <a:off x="1508760" y="2953512"/>
            <a:ext cx="4114800" cy="731520"/>
          </a:xfrm>
          <a:prstGeom prst="rect">
            <a:avLst/>
          </a:prstGeom>
          <a:noFill/>
          <a:ln/>
        </p:spPr>
        <p:txBody>
          <a:bodyPr wrap="square" rtlCol="0" anchor="ctr"/>
          <a:lstStyle/>
          <a:p>
            <a:pPr indent="0" marL="0">
              <a:buNone/>
            </a:pPr>
            <a:r>
              <a:rPr lang="en-US" sz="1300" b="1" dirty="0">
                <a:solidFill>
                  <a:srgbClr val="12243F"/>
                </a:solidFill>
                <a:latin typeface="Arial" pitchFamily="34" charset="0"/>
                <a:ea typeface="Arial" pitchFamily="34" charset="-122"/>
                <a:cs typeface="Arial" pitchFamily="34" charset="-120"/>
              </a:rPr>
              <a:t>#2 PRIORITY - Modified Gross Lease</a:t>
            </a:r>
            <a:endParaRPr lang="en-US" sz="1300" dirty="0"/>
          </a:p>
        </p:txBody>
      </p:sp>
      <p:sp>
        <p:nvSpPr>
          <p:cNvPr id="13" name="Shape 8"/>
          <p:cNvSpPr/>
          <p:nvPr/>
        </p:nvSpPr>
        <p:spPr>
          <a:xfrm>
            <a:off x="5806440" y="2999232"/>
            <a:ext cx="0" cy="640080"/>
          </a:xfrm>
          <a:prstGeom prst="line">
            <a:avLst/>
          </a:prstGeom>
          <a:noFill/>
          <a:ln w="12700">
            <a:solidFill>
              <a:srgbClr val="D9D0BB"/>
            </a:solidFill>
            <a:prstDash val="solid"/>
          </a:ln>
        </p:spPr>
      </p:sp>
      <p:pic>
        <p:nvPicPr>
          <p:cNvPr id="14" name="Image 3" descr="preencoded.png"/>
          <p:cNvPicPr>
            <a:picLocks noChangeAspect="1"/>
          </p:cNvPicPr>
          <p:nvPr/>
        </p:nvPicPr>
        <p:blipFill>
          <a:blip r:embed="rId4"/>
          <a:stretch>
            <a:fillRect/>
          </a:stretch>
        </p:blipFill>
        <p:spPr>
          <a:xfrm>
            <a:off x="6035040" y="3172968"/>
            <a:ext cx="292608" cy="292608"/>
          </a:xfrm>
          <a:prstGeom prst="rect">
            <a:avLst/>
          </a:prstGeom>
        </p:spPr>
      </p:pic>
      <p:sp>
        <p:nvSpPr>
          <p:cNvPr id="15" name="Text 9"/>
          <p:cNvSpPr/>
          <p:nvPr/>
        </p:nvSpPr>
        <p:spPr>
          <a:xfrm>
            <a:off x="6446520" y="2953512"/>
            <a:ext cx="4892040" cy="731520"/>
          </a:xfrm>
          <a:prstGeom prst="rect">
            <a:avLst/>
          </a:prstGeom>
          <a:noFill/>
          <a:ln/>
        </p:spPr>
        <p:txBody>
          <a:bodyPr wrap="square" rtlCol="0" anchor="ctr"/>
          <a:lstStyle/>
          <a:p>
            <a:pPr indent="0" marL="0">
              <a:buNone/>
            </a:pPr>
            <a:r>
              <a:rPr lang="en-US" sz="1250" dirty="0">
                <a:solidFill>
                  <a:srgbClr val="5A6B85"/>
                </a:solidFill>
                <a:latin typeface="Arial" pitchFamily="34" charset="0"/>
                <a:ea typeface="Arial" pitchFamily="34" charset="-122"/>
                <a:cs typeface="Arial" pitchFamily="34" charset="-120"/>
              </a:rPr>
              <a:t>Costs split between landlord and tenant - utilities often remain on the landlord's side. Still a strong target. Confirm which side carries utilities before pitching, then proceed the same way as Full Service.</a:t>
            </a:r>
            <a:endParaRPr lang="en-US" sz="1250" dirty="0"/>
          </a:p>
        </p:txBody>
      </p:sp>
      <p:sp>
        <p:nvSpPr>
          <p:cNvPr id="16" name="Shape 10"/>
          <p:cNvSpPr/>
          <p:nvPr/>
        </p:nvSpPr>
        <p:spPr>
          <a:xfrm>
            <a:off x="640080" y="3941064"/>
            <a:ext cx="10881360" cy="914400"/>
          </a:xfrm>
          <a:prstGeom prst="roundRect">
            <a:avLst>
              <a:gd name="adj" fmla="val 8000"/>
            </a:avLst>
          </a:prstGeom>
          <a:solidFill>
            <a:srgbClr val="F7F4ED"/>
          </a:solidFill>
          <a:ln/>
        </p:spPr>
      </p:sp>
      <p:pic>
        <p:nvPicPr>
          <p:cNvPr id="17" name="Image 4" descr="preencoded.png"/>
          <p:cNvPicPr>
            <a:picLocks noChangeAspect="1"/>
          </p:cNvPicPr>
          <p:nvPr/>
        </p:nvPicPr>
        <p:blipFill>
          <a:blip r:embed="rId5"/>
          <a:stretch>
            <a:fillRect/>
          </a:stretch>
        </p:blipFill>
        <p:spPr>
          <a:xfrm>
            <a:off x="868680" y="4142232"/>
            <a:ext cx="502920" cy="502920"/>
          </a:xfrm>
          <a:prstGeom prst="rect">
            <a:avLst/>
          </a:prstGeom>
        </p:spPr>
      </p:pic>
      <p:sp>
        <p:nvSpPr>
          <p:cNvPr id="18" name="Text 11"/>
          <p:cNvSpPr/>
          <p:nvPr/>
        </p:nvSpPr>
        <p:spPr>
          <a:xfrm>
            <a:off x="1508760" y="4032504"/>
            <a:ext cx="4114800" cy="731520"/>
          </a:xfrm>
          <a:prstGeom prst="rect">
            <a:avLst/>
          </a:prstGeom>
          <a:noFill/>
          <a:ln/>
        </p:spPr>
        <p:txBody>
          <a:bodyPr wrap="square" rtlCol="0" anchor="ctr"/>
          <a:lstStyle/>
          <a:p>
            <a:pPr indent="0" marL="0">
              <a:buNone/>
            </a:pPr>
            <a:r>
              <a:rPr lang="en-US" sz="1300" b="1" dirty="0">
                <a:solidFill>
                  <a:srgbClr val="12243F"/>
                </a:solidFill>
                <a:latin typeface="Arial" pitchFamily="34" charset="0"/>
                <a:ea typeface="Arial" pitchFamily="34" charset="-122"/>
                <a:cs typeface="Arial" pitchFamily="34" charset="-120"/>
              </a:rPr>
              <a:t>#3 PRIORITY - Triple Net (NNN) Lease - Tenant</a:t>
            </a:r>
            <a:endParaRPr lang="en-US" sz="1300" dirty="0"/>
          </a:p>
        </p:txBody>
      </p:sp>
      <p:sp>
        <p:nvSpPr>
          <p:cNvPr id="19" name="Shape 12"/>
          <p:cNvSpPr/>
          <p:nvPr/>
        </p:nvSpPr>
        <p:spPr>
          <a:xfrm>
            <a:off x="5806440" y="4078224"/>
            <a:ext cx="0" cy="640080"/>
          </a:xfrm>
          <a:prstGeom prst="line">
            <a:avLst/>
          </a:prstGeom>
          <a:noFill/>
          <a:ln w="12700">
            <a:solidFill>
              <a:srgbClr val="D9D0BB"/>
            </a:solidFill>
            <a:prstDash val="solid"/>
          </a:ln>
        </p:spPr>
      </p:sp>
      <p:pic>
        <p:nvPicPr>
          <p:cNvPr id="20" name="Image 5" descr="preencoded.png"/>
          <p:cNvPicPr>
            <a:picLocks noChangeAspect="1"/>
          </p:cNvPicPr>
          <p:nvPr/>
        </p:nvPicPr>
        <p:blipFill>
          <a:blip r:embed="rId6"/>
          <a:stretch>
            <a:fillRect/>
          </a:stretch>
        </p:blipFill>
        <p:spPr>
          <a:xfrm>
            <a:off x="6035040" y="4251960"/>
            <a:ext cx="292608" cy="292608"/>
          </a:xfrm>
          <a:prstGeom prst="rect">
            <a:avLst/>
          </a:prstGeom>
        </p:spPr>
      </p:pic>
      <p:sp>
        <p:nvSpPr>
          <p:cNvPr id="21" name="Text 13"/>
          <p:cNvSpPr/>
          <p:nvPr/>
        </p:nvSpPr>
        <p:spPr>
          <a:xfrm>
            <a:off x="6446520" y="4032504"/>
            <a:ext cx="4892040" cy="731520"/>
          </a:xfrm>
          <a:prstGeom prst="rect">
            <a:avLst/>
          </a:prstGeom>
          <a:noFill/>
          <a:ln/>
        </p:spPr>
        <p:txBody>
          <a:bodyPr wrap="square" rtlCol="0" anchor="ctr"/>
          <a:lstStyle/>
          <a:p>
            <a:pPr indent="0" marL="0">
              <a:buNone/>
            </a:pPr>
            <a:r>
              <a:rPr lang="en-US" sz="1250" dirty="0">
                <a:solidFill>
                  <a:srgbClr val="5A6B85"/>
                </a:solidFill>
                <a:latin typeface="Arial" pitchFamily="34" charset="0"/>
                <a:ea typeface="Arial" pitchFamily="34" charset="-122"/>
                <a:cs typeface="Arial" pitchFamily="34" charset="-120"/>
              </a:rPr>
              <a:t>Tenant pays utilities directly and feels every dollar of waste. Restaurants, gyms, medical offices, and retailers with heavy HVAC loads are strong candidates. Pitch the tenant on reducing their overhead - then get landlord sign-off for system access. Two-step process but a real market.</a:t>
            </a:r>
            <a:endParaRPr lang="en-US" sz="1250" dirty="0"/>
          </a:p>
        </p:txBody>
      </p:sp>
      <p:sp>
        <p:nvSpPr>
          <p:cNvPr id="22" name="Shape 14"/>
          <p:cNvSpPr/>
          <p:nvPr/>
        </p:nvSpPr>
        <p:spPr>
          <a:xfrm>
            <a:off x="640080" y="5020056"/>
            <a:ext cx="10881360" cy="914400"/>
          </a:xfrm>
          <a:prstGeom prst="roundRect">
            <a:avLst>
              <a:gd name="adj" fmla="val 8000"/>
            </a:avLst>
          </a:prstGeom>
          <a:solidFill>
            <a:srgbClr val="F7F4ED"/>
          </a:solidFill>
          <a:ln/>
        </p:spPr>
      </p:sp>
      <p:pic>
        <p:nvPicPr>
          <p:cNvPr id="23" name="Image 6" descr="preencoded.png"/>
          <p:cNvPicPr>
            <a:picLocks noChangeAspect="1"/>
          </p:cNvPicPr>
          <p:nvPr/>
        </p:nvPicPr>
        <p:blipFill>
          <a:blip r:embed="rId7"/>
          <a:stretch>
            <a:fillRect/>
          </a:stretch>
        </p:blipFill>
        <p:spPr>
          <a:xfrm>
            <a:off x="868680" y="5221224"/>
            <a:ext cx="502920" cy="502920"/>
          </a:xfrm>
          <a:prstGeom prst="rect">
            <a:avLst/>
          </a:prstGeom>
        </p:spPr>
      </p:pic>
      <p:sp>
        <p:nvSpPr>
          <p:cNvPr id="24" name="Text 15"/>
          <p:cNvSpPr/>
          <p:nvPr/>
        </p:nvSpPr>
        <p:spPr>
          <a:xfrm>
            <a:off x="1508760" y="5111496"/>
            <a:ext cx="4114800" cy="731520"/>
          </a:xfrm>
          <a:prstGeom prst="rect">
            <a:avLst/>
          </a:prstGeom>
          <a:noFill/>
          <a:ln/>
        </p:spPr>
        <p:txBody>
          <a:bodyPr wrap="square" rtlCol="0" anchor="ctr"/>
          <a:lstStyle/>
          <a:p>
            <a:pPr indent="0" marL="0">
              <a:buNone/>
            </a:pPr>
            <a:r>
              <a:rPr lang="en-US" sz="1300" b="1" dirty="0">
                <a:solidFill>
                  <a:srgbClr val="12243F"/>
                </a:solidFill>
                <a:latin typeface="Arial" pitchFamily="34" charset="0"/>
                <a:ea typeface="Arial" pitchFamily="34" charset="-122"/>
                <a:cs typeface="Arial" pitchFamily="34" charset="-120"/>
              </a:rPr>
              <a:t>LOWEST PRIORITY - Triple Net (NNN) Lease - Landlord</a:t>
            </a:r>
            <a:endParaRPr lang="en-US" sz="1300" dirty="0"/>
          </a:p>
        </p:txBody>
      </p:sp>
      <p:sp>
        <p:nvSpPr>
          <p:cNvPr id="25" name="Shape 16"/>
          <p:cNvSpPr/>
          <p:nvPr/>
        </p:nvSpPr>
        <p:spPr>
          <a:xfrm>
            <a:off x="5806440" y="5157216"/>
            <a:ext cx="0" cy="640080"/>
          </a:xfrm>
          <a:prstGeom prst="line">
            <a:avLst/>
          </a:prstGeom>
          <a:noFill/>
          <a:ln w="12700">
            <a:solidFill>
              <a:srgbClr val="D9D0BB"/>
            </a:solidFill>
            <a:prstDash val="solid"/>
          </a:ln>
        </p:spPr>
      </p:sp>
      <p:pic>
        <p:nvPicPr>
          <p:cNvPr id="26" name="Image 7" descr="preencoded.png"/>
          <p:cNvPicPr>
            <a:picLocks noChangeAspect="1"/>
          </p:cNvPicPr>
          <p:nvPr/>
        </p:nvPicPr>
        <p:blipFill>
          <a:blip r:embed="rId8"/>
          <a:stretch>
            <a:fillRect/>
          </a:stretch>
        </p:blipFill>
        <p:spPr>
          <a:xfrm>
            <a:off x="6035040" y="5330952"/>
            <a:ext cx="292608" cy="292608"/>
          </a:xfrm>
          <a:prstGeom prst="rect">
            <a:avLst/>
          </a:prstGeom>
        </p:spPr>
      </p:pic>
      <p:sp>
        <p:nvSpPr>
          <p:cNvPr id="27" name="Text 17"/>
          <p:cNvSpPr/>
          <p:nvPr/>
        </p:nvSpPr>
        <p:spPr>
          <a:xfrm>
            <a:off x="6446520" y="5111496"/>
            <a:ext cx="4892040" cy="731520"/>
          </a:xfrm>
          <a:prstGeom prst="rect">
            <a:avLst/>
          </a:prstGeom>
          <a:noFill/>
          <a:ln/>
        </p:spPr>
        <p:txBody>
          <a:bodyPr wrap="square" rtlCol="0" anchor="ctr"/>
          <a:lstStyle/>
          <a:p>
            <a:pPr indent="0" marL="0">
              <a:buNone/>
            </a:pPr>
            <a:r>
              <a:rPr lang="en-US" sz="1250" dirty="0">
                <a:solidFill>
                  <a:srgbClr val="5A6B85"/>
                </a:solidFill>
                <a:latin typeface="Arial" pitchFamily="34" charset="0"/>
                <a:ea typeface="Arial" pitchFamily="34" charset="-122"/>
                <a:cs typeface="Arial" pitchFamily="34" charset="-120"/>
              </a:rPr>
              <a:t>Landlord collects rent only - no utility bills, no energy pain, no pitch. Do not lead with the landlord here. Only engage them when needed for equipment access on a tenant-initiated project.</a:t>
            </a:r>
            <a:endParaRPr lang="en-US" sz="1250" dirty="0"/>
          </a:p>
        </p:txBody>
      </p:sp>
      <p:sp>
        <p:nvSpPr>
          <p:cNvPr id="28" name="Text 18"/>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A6B85"/>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8229600" cy="365760"/>
          </a:xfrm>
          <a:prstGeom prst="rect">
            <a:avLst/>
          </a:prstGeom>
          <a:noFill/>
          <a:ln/>
        </p:spPr>
        <p:txBody>
          <a:bodyPr wrap="square" rtlCol="0" anchor="ctr"/>
          <a:lstStyle/>
          <a:p>
            <a:pPr indent="0" marL="0">
              <a:buNone/>
            </a:pPr>
            <a:r>
              <a:rPr lang="en-US" sz="1300" b="1" spc="200" kern="0" dirty="0">
                <a:solidFill>
                  <a:srgbClr val="C77F1D"/>
                </a:solidFill>
                <a:latin typeface="Arial" pitchFamily="34" charset="0"/>
                <a:ea typeface="Arial" pitchFamily="34" charset="-122"/>
                <a:cs typeface="Arial" pitchFamily="34" charset="-120"/>
              </a:rPr>
              <a:t>WHEN BAS IS THE RIGHT CALL</a:t>
            </a:r>
            <a:endParaRPr lang="en-US" sz="1300" dirty="0"/>
          </a:p>
        </p:txBody>
      </p:sp>
      <p:sp>
        <p:nvSpPr>
          <p:cNvPr id="3" name="Text 1"/>
          <p:cNvSpPr/>
          <p:nvPr/>
        </p:nvSpPr>
        <p:spPr>
          <a:xfrm>
            <a:off x="640080" y="841248"/>
            <a:ext cx="10515600" cy="640080"/>
          </a:xfrm>
          <a:prstGeom prst="rect">
            <a:avLst/>
          </a:prstGeom>
          <a:noFill/>
          <a:ln/>
        </p:spPr>
        <p:txBody>
          <a:bodyPr wrap="square" rtlCol="0" anchor="ctr"/>
          <a:lstStyle/>
          <a:p>
            <a:pPr indent="0" marL="0">
              <a:buNone/>
            </a:pPr>
            <a:r>
              <a:rPr lang="en-US" sz="2700" b="1" dirty="0">
                <a:solidFill>
                  <a:srgbClr val="12243F"/>
                </a:solidFill>
                <a:latin typeface="Cambria" pitchFamily="34" charset="0"/>
                <a:ea typeface="Cambria" pitchFamily="34" charset="-122"/>
                <a:cs typeface="Cambria" pitchFamily="34" charset="-120"/>
              </a:rPr>
              <a:t>A publicly listed multi-tenant office building with shared HVAC</a:t>
            </a:r>
            <a:endParaRPr lang="en-US" sz="2700" dirty="0"/>
          </a:p>
        </p:txBody>
      </p:sp>
      <p:sp>
        <p:nvSpPr>
          <p:cNvPr id="4" name="Shape 2"/>
          <p:cNvSpPr/>
          <p:nvPr/>
        </p:nvSpPr>
        <p:spPr>
          <a:xfrm>
            <a:off x="640080" y="1691640"/>
            <a:ext cx="3657600" cy="4526280"/>
          </a:xfrm>
          <a:prstGeom prst="roundRect">
            <a:avLst>
              <a:gd name="adj" fmla="val 3000"/>
            </a:avLst>
          </a:prstGeom>
          <a:solidFill>
            <a:srgbClr val="12243F"/>
          </a:solidFill>
          <a:ln/>
        </p:spPr>
      </p:sp>
      <p:pic>
        <p:nvPicPr>
          <p:cNvPr id="5" name="Image 0" descr="preencoded.png"/>
          <p:cNvPicPr>
            <a:picLocks noChangeAspect="1"/>
          </p:cNvPicPr>
          <p:nvPr/>
        </p:nvPicPr>
        <p:blipFill>
          <a:blip r:embed="rId1"/>
          <a:stretch>
            <a:fillRect/>
          </a:stretch>
        </p:blipFill>
        <p:spPr>
          <a:xfrm>
            <a:off x="2103120" y="1965960"/>
            <a:ext cx="731520" cy="731520"/>
          </a:xfrm>
          <a:prstGeom prst="rect">
            <a:avLst/>
          </a:prstGeom>
        </p:spPr>
      </p:pic>
      <p:sp>
        <p:nvSpPr>
          <p:cNvPr id="6" name="Text 3"/>
          <p:cNvSpPr/>
          <p:nvPr/>
        </p:nvSpPr>
        <p:spPr>
          <a:xfrm>
            <a:off x="822960" y="2834640"/>
            <a:ext cx="3291840" cy="411480"/>
          </a:xfrm>
          <a:prstGeom prst="rect">
            <a:avLst/>
          </a:prstGeom>
          <a:noFill/>
          <a:ln/>
        </p:spPr>
        <p:txBody>
          <a:bodyPr wrap="square"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Raintree Office Center</a:t>
            </a:r>
            <a:endParaRPr lang="en-US" sz="1900" dirty="0"/>
          </a:p>
        </p:txBody>
      </p:sp>
      <p:sp>
        <p:nvSpPr>
          <p:cNvPr id="7" name="Text 4"/>
          <p:cNvSpPr/>
          <p:nvPr/>
        </p:nvSpPr>
        <p:spPr>
          <a:xfrm>
            <a:off x="822960" y="3246120"/>
            <a:ext cx="3291840" cy="548640"/>
          </a:xfrm>
          <a:prstGeom prst="rect">
            <a:avLst/>
          </a:prstGeom>
          <a:noFill/>
          <a:ln/>
        </p:spPr>
        <p:txBody>
          <a:bodyPr wrap="square" rtlCol="0" anchor="ctr"/>
          <a:lstStyle/>
          <a:p>
            <a:pPr algn="ctr" indent="0" marL="0">
              <a:buNone/>
            </a:pPr>
            <a:r>
              <a:rPr lang="en-US" sz="1250" dirty="0">
                <a:solidFill>
                  <a:srgbClr val="C9D2E0"/>
                </a:solidFill>
                <a:latin typeface="Arial" pitchFamily="34" charset="0"/>
                <a:ea typeface="Arial" pitchFamily="34" charset="-122"/>
                <a:cs typeface="Arial" pitchFamily="34" charset="-120"/>
              </a:rPr>
              <a:t>8801 E Raintree Dr</a:t>
            </a:r>
            <a:endParaRPr lang="en-US" sz="1250" dirty="0"/>
          </a:p>
          <a:p>
            <a:pPr algn="ctr" indent="0" marL="0">
              <a:buNone/>
            </a:pPr>
            <a:r>
              <a:rPr lang="en-US" sz="1250" dirty="0">
                <a:solidFill>
                  <a:srgbClr val="C9D2E0"/>
                </a:solidFill>
                <a:latin typeface="Arial" pitchFamily="34" charset="0"/>
                <a:ea typeface="Arial" pitchFamily="34" charset="-122"/>
                <a:cs typeface="Arial" pitchFamily="34" charset="-120"/>
              </a:rPr>
              <a:t>Scottsdale, AZ</a:t>
            </a:r>
            <a:endParaRPr lang="en-US" sz="1250" dirty="0"/>
          </a:p>
        </p:txBody>
      </p:sp>
      <p:sp>
        <p:nvSpPr>
          <p:cNvPr id="8" name="Text 5"/>
          <p:cNvSpPr/>
          <p:nvPr/>
        </p:nvSpPr>
        <p:spPr>
          <a:xfrm>
            <a:off x="822960" y="3886200"/>
            <a:ext cx="3291840" cy="256032"/>
          </a:xfrm>
          <a:prstGeom prst="rect">
            <a:avLst/>
          </a:prstGeom>
          <a:noFill/>
          <a:ln/>
        </p:spPr>
        <p:txBody>
          <a:bodyPr wrap="square" rtlCol="0" anchor="ctr"/>
          <a:lstStyle/>
          <a:p>
            <a:pPr algn="ctr" indent="0" marL="0">
              <a:buNone/>
            </a:pPr>
            <a:r>
              <a:rPr lang="en-US" sz="1050" b="1" spc="100" kern="0" dirty="0">
                <a:solidFill>
                  <a:srgbClr val="E8A33D"/>
                </a:solidFill>
                <a:latin typeface="Arial" pitchFamily="34" charset="0"/>
                <a:ea typeface="Arial" pitchFamily="34" charset="-122"/>
                <a:cs typeface="Arial" pitchFamily="34" charset="-120"/>
              </a:rPr>
              <a:t>BUILDING PROFILE</a:t>
            </a:r>
            <a:endParaRPr lang="en-US" sz="1050" dirty="0"/>
          </a:p>
        </p:txBody>
      </p:sp>
      <p:sp>
        <p:nvSpPr>
          <p:cNvPr id="9" name="Text 6"/>
          <p:cNvSpPr/>
          <p:nvPr/>
        </p:nvSpPr>
        <p:spPr>
          <a:xfrm>
            <a:off x="822960" y="4142232"/>
            <a:ext cx="3291840" cy="457200"/>
          </a:xfrm>
          <a:prstGeom prst="rect">
            <a:avLst/>
          </a:prstGeom>
          <a:noFill/>
          <a:ln/>
        </p:spPr>
        <p:txBody>
          <a:bodyPr wrap="square" rtlCol="0" anchor="ctr"/>
          <a:lstStyle/>
          <a:p>
            <a:pPr algn="ctr" indent="0" marL="0">
              <a:buNone/>
            </a:pPr>
            <a:r>
              <a:rPr lang="en-US" sz="1250" dirty="0">
                <a:solidFill>
                  <a:srgbClr val="FFFFFF"/>
                </a:solidFill>
                <a:latin typeface="Arial" pitchFamily="34" charset="0"/>
                <a:ea typeface="Arial" pitchFamily="34" charset="-122"/>
                <a:cs typeface="Arial" pitchFamily="34" charset="-120"/>
              </a:rPr>
              <a:t>52,420 sq ft - Class B multi-tenant office, built 2000</a:t>
            </a:r>
            <a:endParaRPr lang="en-US" sz="1250" dirty="0"/>
          </a:p>
        </p:txBody>
      </p:sp>
      <p:sp>
        <p:nvSpPr>
          <p:cNvPr id="10" name="Text 7"/>
          <p:cNvSpPr/>
          <p:nvPr/>
        </p:nvSpPr>
        <p:spPr>
          <a:xfrm>
            <a:off x="822960" y="4599432"/>
            <a:ext cx="3291840" cy="256032"/>
          </a:xfrm>
          <a:prstGeom prst="rect">
            <a:avLst/>
          </a:prstGeom>
          <a:noFill/>
          <a:ln/>
        </p:spPr>
        <p:txBody>
          <a:bodyPr wrap="square" rtlCol="0" anchor="ctr"/>
          <a:lstStyle/>
          <a:p>
            <a:pPr algn="ctr" indent="0" marL="0">
              <a:buNone/>
            </a:pPr>
            <a:r>
              <a:rPr lang="en-US" sz="1050" b="1" spc="100" kern="0" dirty="0">
                <a:solidFill>
                  <a:srgbClr val="E8A33D"/>
                </a:solidFill>
                <a:latin typeface="Arial" pitchFamily="34" charset="0"/>
                <a:ea typeface="Arial" pitchFamily="34" charset="-122"/>
                <a:cs typeface="Arial" pitchFamily="34" charset="-120"/>
              </a:rPr>
              <a:t>HISTORY</a:t>
            </a:r>
            <a:endParaRPr lang="en-US" sz="1050" dirty="0"/>
          </a:p>
        </p:txBody>
      </p:sp>
      <p:sp>
        <p:nvSpPr>
          <p:cNvPr id="11" name="Text 8"/>
          <p:cNvSpPr/>
          <p:nvPr/>
        </p:nvSpPr>
        <p:spPr>
          <a:xfrm>
            <a:off x="822960" y="4855464"/>
            <a:ext cx="3291840" cy="457200"/>
          </a:xfrm>
          <a:prstGeom prst="rect">
            <a:avLst/>
          </a:prstGeom>
          <a:noFill/>
          <a:ln/>
        </p:spPr>
        <p:txBody>
          <a:bodyPr wrap="square" rtlCol="0" anchor="ctr"/>
          <a:lstStyle/>
          <a:p>
            <a:pPr algn="ctr" indent="0" marL="0">
              <a:buNone/>
            </a:pPr>
            <a:r>
              <a:rPr lang="en-US" sz="1250" dirty="0">
                <a:solidFill>
                  <a:srgbClr val="FFFFFF"/>
                </a:solidFill>
                <a:latin typeface="Arial" pitchFamily="34" charset="0"/>
                <a:ea typeface="Arial" pitchFamily="34" charset="-122"/>
                <a:cs typeface="Arial" pitchFamily="34" charset="-120"/>
              </a:rPr>
              <a:t>Multi-tenant, 303 parking spaces</a:t>
            </a:r>
            <a:endParaRPr lang="en-US" sz="1250" dirty="0"/>
          </a:p>
        </p:txBody>
      </p:sp>
      <p:sp>
        <p:nvSpPr>
          <p:cNvPr id="12" name="Text 9"/>
          <p:cNvSpPr/>
          <p:nvPr/>
        </p:nvSpPr>
        <p:spPr>
          <a:xfrm>
            <a:off x="822960" y="5312664"/>
            <a:ext cx="3291840" cy="256032"/>
          </a:xfrm>
          <a:prstGeom prst="rect">
            <a:avLst/>
          </a:prstGeom>
          <a:noFill/>
          <a:ln/>
        </p:spPr>
        <p:txBody>
          <a:bodyPr wrap="square" rtlCol="0" anchor="ctr"/>
          <a:lstStyle/>
          <a:p>
            <a:pPr algn="ctr" indent="0" marL="0">
              <a:buNone/>
            </a:pPr>
            <a:r>
              <a:rPr lang="en-US" sz="1050" b="1" spc="100" kern="0" dirty="0">
                <a:solidFill>
                  <a:srgbClr val="E8A33D"/>
                </a:solidFill>
                <a:latin typeface="Arial" pitchFamily="34" charset="0"/>
                <a:ea typeface="Arial" pitchFamily="34" charset="-122"/>
                <a:cs typeface="Arial" pitchFamily="34" charset="-120"/>
              </a:rPr>
              <a:t>LEASE TYPE</a:t>
            </a:r>
            <a:endParaRPr lang="en-US" sz="1050" dirty="0"/>
          </a:p>
        </p:txBody>
      </p:sp>
      <p:sp>
        <p:nvSpPr>
          <p:cNvPr id="13" name="Text 10"/>
          <p:cNvSpPr/>
          <p:nvPr/>
        </p:nvSpPr>
        <p:spPr>
          <a:xfrm>
            <a:off x="822960" y="5568696"/>
            <a:ext cx="3291840" cy="457200"/>
          </a:xfrm>
          <a:prstGeom prst="rect">
            <a:avLst/>
          </a:prstGeom>
          <a:noFill/>
          <a:ln/>
        </p:spPr>
        <p:txBody>
          <a:bodyPr wrap="square" rtlCol="0" anchor="ctr"/>
          <a:lstStyle/>
          <a:p>
            <a:pPr algn="ctr" indent="0" marL="0">
              <a:buNone/>
            </a:pPr>
            <a:r>
              <a:rPr lang="en-US" sz="1250" dirty="0">
                <a:solidFill>
                  <a:srgbClr val="FFFFFF"/>
                </a:solidFill>
                <a:latin typeface="Arial" pitchFamily="34" charset="0"/>
                <a:ea typeface="Arial" pitchFamily="34" charset="-122"/>
                <a:cs typeface="Arial" pitchFamily="34" charset="-120"/>
              </a:rPr>
              <a:t>Class B office -</a:t>
            </a:r>
            <a:endParaRPr lang="en-US" sz="1250" dirty="0"/>
          </a:p>
          <a:p>
            <a:pPr algn="ctr" indent="0" marL="0">
              <a:buNone/>
            </a:pPr>
            <a:r>
              <a:rPr lang="en-US" sz="1250" dirty="0">
                <a:solidFill>
                  <a:srgbClr val="FFFFFF"/>
                </a:solidFill>
                <a:latin typeface="Arial" pitchFamily="34" charset="0"/>
                <a:ea typeface="Arial" pitchFamily="34" charset="-122"/>
                <a:cs typeface="Arial" pitchFamily="34" charset="-120"/>
              </a:rPr>
              <a:t>full service leases, landlord pays utilities</a:t>
            </a:r>
            <a:endParaRPr lang="en-US" sz="1250" dirty="0"/>
          </a:p>
        </p:txBody>
      </p:sp>
      <p:sp>
        <p:nvSpPr>
          <p:cNvPr id="14" name="Text 11"/>
          <p:cNvSpPr/>
          <p:nvPr/>
        </p:nvSpPr>
        <p:spPr>
          <a:xfrm>
            <a:off x="4663440" y="1691640"/>
            <a:ext cx="6858000" cy="320040"/>
          </a:xfrm>
          <a:prstGeom prst="rect">
            <a:avLst/>
          </a:prstGeom>
          <a:noFill/>
          <a:ln/>
        </p:spPr>
        <p:txBody>
          <a:bodyPr wrap="square" rtlCol="0" anchor="ctr"/>
          <a:lstStyle/>
          <a:p>
            <a:pPr indent="0" marL="0">
              <a:buNone/>
            </a:pPr>
            <a:r>
              <a:rPr lang="en-US" sz="1250" b="1" spc="50" kern="0" dirty="0">
                <a:solidFill>
                  <a:srgbClr val="5A6B85"/>
                </a:solidFill>
                <a:latin typeface="Arial" pitchFamily="34" charset="0"/>
                <a:ea typeface="Arial" pitchFamily="34" charset="-122"/>
                <a:cs typeface="Arial" pitchFamily="34" charset="-120"/>
              </a:rPr>
              <a:t>HOW I VERIFIED THIS BEFORE EVER CONTACTING THE OWNER</a:t>
            </a:r>
            <a:endParaRPr lang="en-US" sz="1250" dirty="0"/>
          </a:p>
        </p:txBody>
      </p:sp>
      <p:sp>
        <p:nvSpPr>
          <p:cNvPr id="15" name="Shape 12"/>
          <p:cNvSpPr/>
          <p:nvPr/>
        </p:nvSpPr>
        <p:spPr>
          <a:xfrm>
            <a:off x="4663440" y="2103120"/>
            <a:ext cx="457200" cy="457200"/>
          </a:xfrm>
          <a:prstGeom prst="oval">
            <a:avLst/>
          </a:prstGeom>
          <a:solidFill>
            <a:srgbClr val="E8A33D"/>
          </a:solidFill>
          <a:ln/>
        </p:spPr>
      </p:sp>
      <p:sp>
        <p:nvSpPr>
          <p:cNvPr id="16" name="Text 13"/>
          <p:cNvSpPr/>
          <p:nvPr/>
        </p:nvSpPr>
        <p:spPr>
          <a:xfrm>
            <a:off x="4663440" y="2103120"/>
            <a:ext cx="457200" cy="457200"/>
          </a:xfrm>
          <a:prstGeom prst="rect">
            <a:avLst/>
          </a:prstGeom>
          <a:noFill/>
          <a:ln/>
        </p:spPr>
        <p:txBody>
          <a:bodyPr wrap="square" rtlCol="0" anchor="ctr"/>
          <a:lstStyle/>
          <a:p>
            <a:pPr algn="ctr" indent="0" marL="0">
              <a:buNone/>
            </a:pPr>
            <a:r>
              <a:rPr lang="en-US" sz="1600" b="1" dirty="0">
                <a:solidFill>
                  <a:srgbClr val="12243F"/>
                </a:solidFill>
                <a:latin typeface="Arial" pitchFamily="34" charset="0"/>
                <a:ea typeface="Arial" pitchFamily="34" charset="-122"/>
                <a:cs typeface="Arial" pitchFamily="34" charset="-120"/>
              </a:rPr>
              <a:t>1</a:t>
            </a:r>
            <a:endParaRPr lang="en-US" sz="1600" dirty="0"/>
          </a:p>
        </p:txBody>
      </p:sp>
      <p:sp>
        <p:nvSpPr>
          <p:cNvPr id="17" name="Text 14"/>
          <p:cNvSpPr/>
          <p:nvPr/>
        </p:nvSpPr>
        <p:spPr>
          <a:xfrm>
            <a:off x="5303520" y="2057400"/>
            <a:ext cx="6217920" cy="594360"/>
          </a:xfrm>
          <a:prstGeom prst="rect">
            <a:avLst/>
          </a:prstGeom>
          <a:noFill/>
          <a:ln/>
        </p:spPr>
        <p:txBody>
          <a:bodyPr wrap="square" rtlCol="0" anchor="ctr"/>
          <a:lstStyle/>
          <a:p>
            <a:pPr indent="0" marL="0">
              <a:buNone/>
            </a:pPr>
            <a:r>
              <a:rPr lang="en-US" sz="1350" dirty="0">
                <a:solidFill>
                  <a:srgbClr val="12243F"/>
                </a:solidFill>
                <a:latin typeface="Arial" pitchFamily="34" charset="0"/>
                <a:ea typeface="Arial" pitchFamily="34" charset="-122"/>
                <a:cs typeface="Arial" pitchFamily="34" charset="-120"/>
              </a:rPr>
              <a:t>Public listing confirms 52,420 sq ft Class B office, built 2000, multi-tenant layout with shared lobbies, corridors, and restrooms</a:t>
            </a:r>
            <a:endParaRPr lang="en-US" sz="1350" dirty="0"/>
          </a:p>
        </p:txBody>
      </p:sp>
      <p:sp>
        <p:nvSpPr>
          <p:cNvPr id="18" name="Shape 15"/>
          <p:cNvSpPr/>
          <p:nvPr/>
        </p:nvSpPr>
        <p:spPr>
          <a:xfrm>
            <a:off x="4663440" y="2880360"/>
            <a:ext cx="457200" cy="457200"/>
          </a:xfrm>
          <a:prstGeom prst="oval">
            <a:avLst/>
          </a:prstGeom>
          <a:solidFill>
            <a:srgbClr val="E8A33D"/>
          </a:solidFill>
          <a:ln/>
        </p:spPr>
      </p:sp>
      <p:sp>
        <p:nvSpPr>
          <p:cNvPr id="19" name="Text 16"/>
          <p:cNvSpPr/>
          <p:nvPr/>
        </p:nvSpPr>
        <p:spPr>
          <a:xfrm>
            <a:off x="4663440" y="2880360"/>
            <a:ext cx="457200" cy="457200"/>
          </a:xfrm>
          <a:prstGeom prst="rect">
            <a:avLst/>
          </a:prstGeom>
          <a:noFill/>
          <a:ln/>
        </p:spPr>
        <p:txBody>
          <a:bodyPr wrap="square" rtlCol="0" anchor="ctr"/>
          <a:lstStyle/>
          <a:p>
            <a:pPr algn="ctr" indent="0" marL="0">
              <a:buNone/>
            </a:pPr>
            <a:r>
              <a:rPr lang="en-US" sz="1600" b="1" dirty="0">
                <a:solidFill>
                  <a:srgbClr val="12243F"/>
                </a:solidFill>
                <a:latin typeface="Arial" pitchFamily="34" charset="0"/>
                <a:ea typeface="Arial" pitchFamily="34" charset="-122"/>
                <a:cs typeface="Arial" pitchFamily="34" charset="-120"/>
              </a:rPr>
              <a:t>2</a:t>
            </a:r>
            <a:endParaRPr lang="en-US" sz="1600" dirty="0"/>
          </a:p>
        </p:txBody>
      </p:sp>
      <p:sp>
        <p:nvSpPr>
          <p:cNvPr id="20" name="Text 17"/>
          <p:cNvSpPr/>
          <p:nvPr/>
        </p:nvSpPr>
        <p:spPr>
          <a:xfrm>
            <a:off x="5303520" y="2834640"/>
            <a:ext cx="6217920" cy="594360"/>
          </a:xfrm>
          <a:prstGeom prst="rect">
            <a:avLst/>
          </a:prstGeom>
          <a:noFill/>
          <a:ln/>
        </p:spPr>
        <p:txBody>
          <a:bodyPr wrap="square" rtlCol="0" anchor="ctr"/>
          <a:lstStyle/>
          <a:p>
            <a:pPr indent="0" marL="0">
              <a:buNone/>
            </a:pPr>
            <a:r>
              <a:rPr lang="en-US" sz="1350" dirty="0">
                <a:solidFill>
                  <a:srgbClr val="12243F"/>
                </a:solidFill>
                <a:latin typeface="Arial" pitchFamily="34" charset="0"/>
                <a:ea typeface="Arial" pitchFamily="34" charset="-122"/>
                <a:cs typeface="Arial" pitchFamily="34" charset="-120"/>
              </a:rPr>
              <a:t>Full service lease structure confirmed via LoopNet listing - landlord absorbs all HVAC costs across shared mechanical zones serving multiple tenants</a:t>
            </a:r>
            <a:endParaRPr lang="en-US" sz="1350" dirty="0"/>
          </a:p>
        </p:txBody>
      </p:sp>
      <p:sp>
        <p:nvSpPr>
          <p:cNvPr id="21" name="Shape 18"/>
          <p:cNvSpPr/>
          <p:nvPr/>
        </p:nvSpPr>
        <p:spPr>
          <a:xfrm>
            <a:off x="4663440" y="3657600"/>
            <a:ext cx="457200" cy="457200"/>
          </a:xfrm>
          <a:prstGeom prst="oval">
            <a:avLst/>
          </a:prstGeom>
          <a:solidFill>
            <a:srgbClr val="E8A33D"/>
          </a:solidFill>
          <a:ln/>
        </p:spPr>
      </p:sp>
      <p:sp>
        <p:nvSpPr>
          <p:cNvPr id="22" name="Text 19"/>
          <p:cNvSpPr/>
          <p:nvPr/>
        </p:nvSpPr>
        <p:spPr>
          <a:xfrm>
            <a:off x="4663440" y="3657600"/>
            <a:ext cx="457200" cy="457200"/>
          </a:xfrm>
          <a:prstGeom prst="rect">
            <a:avLst/>
          </a:prstGeom>
          <a:noFill/>
          <a:ln/>
        </p:spPr>
        <p:txBody>
          <a:bodyPr wrap="square" rtlCol="0" anchor="ctr"/>
          <a:lstStyle/>
          <a:p>
            <a:pPr algn="ctr" indent="0" marL="0">
              <a:buNone/>
            </a:pPr>
            <a:r>
              <a:rPr lang="en-US" sz="1600" b="1" dirty="0">
                <a:solidFill>
                  <a:srgbClr val="12243F"/>
                </a:solidFill>
                <a:latin typeface="Arial" pitchFamily="34" charset="0"/>
                <a:ea typeface="Arial" pitchFamily="34" charset="-122"/>
                <a:cs typeface="Arial" pitchFamily="34" charset="-120"/>
              </a:rPr>
              <a:t>3</a:t>
            </a:r>
            <a:endParaRPr lang="en-US" sz="1600" dirty="0"/>
          </a:p>
        </p:txBody>
      </p:sp>
      <p:sp>
        <p:nvSpPr>
          <p:cNvPr id="23" name="Text 20"/>
          <p:cNvSpPr/>
          <p:nvPr/>
        </p:nvSpPr>
        <p:spPr>
          <a:xfrm>
            <a:off x="5303520" y="3611880"/>
            <a:ext cx="6217920" cy="594360"/>
          </a:xfrm>
          <a:prstGeom prst="rect">
            <a:avLst/>
          </a:prstGeom>
          <a:noFill/>
          <a:ln/>
        </p:spPr>
        <p:txBody>
          <a:bodyPr wrap="square" rtlCol="0" anchor="ctr"/>
          <a:lstStyle/>
          <a:p>
            <a:pPr indent="0" marL="0">
              <a:buNone/>
            </a:pPr>
            <a:r>
              <a:rPr lang="en-US" sz="1350" dirty="0">
                <a:solidFill>
                  <a:srgbClr val="12243F"/>
                </a:solidFill>
                <a:latin typeface="Arial" pitchFamily="34" charset="0"/>
                <a:ea typeface="Arial" pitchFamily="34" charset="-122"/>
                <a:cs typeface="Arial" pitchFamily="34" charset="-120"/>
              </a:rPr>
              <a:t>Building type determines HVAC: a 52,420 sq ft multi-tenant office built in 2000 uses central AHUs with VAV boxes serving shared zones across multiple floors and suites. Smart tstats cannot coordinate across VAV zones - BAS is the correct path.</a:t>
            </a:r>
            <a:endParaRPr lang="en-US" sz="1350" dirty="0"/>
          </a:p>
        </p:txBody>
      </p:sp>
      <p:sp>
        <p:nvSpPr>
          <p:cNvPr id="24" name="Shape 21"/>
          <p:cNvSpPr/>
          <p:nvPr/>
        </p:nvSpPr>
        <p:spPr>
          <a:xfrm>
            <a:off x="4663440" y="4480560"/>
            <a:ext cx="6858000" cy="0"/>
          </a:xfrm>
          <a:prstGeom prst="line">
            <a:avLst/>
          </a:prstGeom>
          <a:noFill/>
          <a:ln w="12700">
            <a:solidFill>
              <a:srgbClr val="E0E0E0"/>
            </a:solidFill>
            <a:prstDash val="solid"/>
          </a:ln>
        </p:spPr>
      </p:sp>
      <p:sp>
        <p:nvSpPr>
          <p:cNvPr id="25" name="Text 22"/>
          <p:cNvSpPr/>
          <p:nvPr/>
        </p:nvSpPr>
        <p:spPr>
          <a:xfrm>
            <a:off x="4663440" y="4709160"/>
            <a:ext cx="6858000" cy="274320"/>
          </a:xfrm>
          <a:prstGeom prst="rect">
            <a:avLst/>
          </a:prstGeom>
          <a:noFill/>
          <a:ln/>
        </p:spPr>
        <p:txBody>
          <a:bodyPr wrap="square" rtlCol="0" anchor="ctr"/>
          <a:lstStyle/>
          <a:p>
            <a:pPr indent="0" marL="0">
              <a:buNone/>
            </a:pPr>
            <a:r>
              <a:rPr lang="en-US" sz="1250" b="1" spc="50" kern="0" dirty="0">
                <a:solidFill>
                  <a:srgbClr val="5A6B85"/>
                </a:solidFill>
                <a:latin typeface="Arial" pitchFamily="34" charset="0"/>
                <a:ea typeface="Arial" pitchFamily="34" charset="-122"/>
                <a:cs typeface="Arial" pitchFamily="34" charset="-120"/>
              </a:rPr>
              <a:t>WHY THIS MATTERS</a:t>
            </a:r>
            <a:endParaRPr lang="en-US" sz="1250" dirty="0"/>
          </a:p>
        </p:txBody>
      </p:sp>
      <p:sp>
        <p:nvSpPr>
          <p:cNvPr id="26" name="Text 23"/>
          <p:cNvSpPr/>
          <p:nvPr/>
        </p:nvSpPr>
        <p:spPr>
          <a:xfrm>
            <a:off x="4663440" y="5074920"/>
            <a:ext cx="6858000" cy="1188720"/>
          </a:xfrm>
          <a:prstGeom prst="rect">
            <a:avLst/>
          </a:prstGeom>
          <a:noFill/>
          <a:ln/>
        </p:spPr>
        <p:txBody>
          <a:bodyPr wrap="square" rtlCol="0" anchor="ctr"/>
          <a:lstStyle/>
          <a:p>
            <a:pPr indent="0" marL="0">
              <a:buNone/>
            </a:pPr>
            <a:r>
              <a:rPr lang="en-US" sz="1350" dirty="0">
                <a:solidFill>
                  <a:srgbClr val="12243F"/>
                </a:solidFill>
                <a:latin typeface="Arial" pitchFamily="34" charset="0"/>
                <a:ea typeface="Arial" pitchFamily="34" charset="-122"/>
                <a:cs typeface="Arial" pitchFamily="34" charset="-120"/>
              </a:rPr>
              <a:t>A 52,420 sq ft Class B office building with shared mechanical equipment is exactly where BAS pays off. Multiple VAV zones need coordinated sequence logic - scheduling, supply air temperature reset, demand control ventilation, and optimal start across the whole building. A smart thermostat on one zone cannot see or respond to what the other zones are doing. Only a BAS can.</a:t>
            </a:r>
            <a:endParaRPr lang="en-US" sz="1350" dirty="0"/>
          </a:p>
        </p:txBody>
      </p:sp>
      <p:sp>
        <p:nvSpPr>
          <p:cNvPr id="27" name="Text 24"/>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A6B85"/>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6">
    <p:bg>
      <p:bgPr>
        <a:solidFill>
          <a:srgbClr val="12243F"/>
        </a:solidFill>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rtlCol="0" anchor="ctr"/>
          <a:lstStyle/>
          <a:p>
            <a:pPr indent="0" marL="0">
              <a:buNone/>
            </a:pPr>
            <a:r>
              <a:rPr lang="en-US" sz="1300" b="1" spc="200" kern="0" dirty="0">
                <a:solidFill>
                  <a:srgbClr val="E8A33D"/>
                </a:solidFill>
                <a:latin typeface="Arial" pitchFamily="34" charset="0"/>
                <a:ea typeface="Arial" pitchFamily="34" charset="-122"/>
                <a:cs typeface="Arial" pitchFamily="34" charset="-120"/>
              </a:rPr>
              <a:t>RAINTREE OFFICE CENTER - BAS SAVINGS</a:t>
            </a:r>
            <a:endParaRPr lang="en-US" sz="1300" dirty="0"/>
          </a:p>
        </p:txBody>
      </p:sp>
      <p:sp>
        <p:nvSpPr>
          <p:cNvPr id="3" name="Text 1"/>
          <p:cNvSpPr/>
          <p:nvPr/>
        </p:nvSpPr>
        <p:spPr>
          <a:xfrm>
            <a:off x="640080" y="841248"/>
            <a:ext cx="10698480" cy="6400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Conservative BAS estimates: 52,420 sq ft, Scottsdale AZ</a:t>
            </a:r>
            <a:endParaRPr lang="en-US" sz="2600" dirty="0"/>
          </a:p>
        </p:txBody>
      </p:sp>
      <p:sp>
        <p:nvSpPr>
          <p:cNvPr id="4" name="Shape 2"/>
          <p:cNvSpPr/>
          <p:nvPr/>
        </p:nvSpPr>
        <p:spPr>
          <a:xfrm>
            <a:off x="640080" y="1691640"/>
            <a:ext cx="3246120" cy="2286000"/>
          </a:xfrm>
          <a:prstGeom prst="roundRect">
            <a:avLst>
              <a:gd name="adj" fmla="val 4000"/>
            </a:avLst>
          </a:prstGeom>
          <a:solidFill>
            <a:srgbClr val="1B3358"/>
          </a:solidFill>
          <a:ln/>
        </p:spPr>
      </p:sp>
      <p:sp>
        <p:nvSpPr>
          <p:cNvPr id="5" name="Text 3"/>
          <p:cNvSpPr/>
          <p:nvPr/>
        </p:nvSpPr>
        <p:spPr>
          <a:xfrm>
            <a:off x="640080" y="1874520"/>
            <a:ext cx="3246120" cy="274320"/>
          </a:xfrm>
          <a:prstGeom prst="rect">
            <a:avLst/>
          </a:prstGeom>
          <a:noFill/>
          <a:ln/>
        </p:spPr>
        <p:txBody>
          <a:bodyPr wrap="square" rtlCol="0" anchor="ctr"/>
          <a:lstStyle/>
          <a:p>
            <a:pPr algn="ctr" indent="0" marL="0">
              <a:buNone/>
            </a:pPr>
            <a:r>
              <a:rPr lang="en-US" sz="1150" b="1" spc="100" kern="0" dirty="0">
                <a:solidFill>
                  <a:srgbClr val="8B9AB5"/>
                </a:solidFill>
                <a:latin typeface="Arial" pitchFamily="34" charset="0"/>
                <a:ea typeface="Arial" pitchFamily="34" charset="-122"/>
                <a:cs typeface="Arial" pitchFamily="34" charset="-120"/>
              </a:rPr>
              <a:t>CONSERVATIVE</a:t>
            </a:r>
            <a:endParaRPr lang="en-US" sz="1150" dirty="0"/>
          </a:p>
        </p:txBody>
      </p:sp>
      <p:sp>
        <p:nvSpPr>
          <p:cNvPr id="6" name="Text 4"/>
          <p:cNvSpPr/>
          <p:nvPr/>
        </p:nvSpPr>
        <p:spPr>
          <a:xfrm>
            <a:off x="640080" y="2167128"/>
            <a:ext cx="3246120" cy="320040"/>
          </a:xfrm>
          <a:prstGeom prst="rect">
            <a:avLst/>
          </a:prstGeom>
          <a:noFill/>
          <a:ln/>
        </p:spPr>
        <p:txBody>
          <a:bodyPr wrap="square" rtlCol="0" anchor="ctr"/>
          <a:lstStyle/>
          <a:p>
            <a:pPr algn="ctr" indent="0" marL="0">
              <a:buNone/>
            </a:pPr>
            <a:r>
              <a:rPr lang="en-US" sz="1300" dirty="0">
                <a:solidFill>
                  <a:srgbClr val="C9D2E0"/>
                </a:solidFill>
                <a:latin typeface="Arial" pitchFamily="34" charset="0"/>
                <a:ea typeface="Arial" pitchFamily="34" charset="-122"/>
                <a:cs typeface="Arial" pitchFamily="34" charset="-120"/>
              </a:rPr>
              <a:t>15% savings (BAS)</a:t>
            </a:r>
            <a:endParaRPr lang="en-US" sz="1300" dirty="0"/>
          </a:p>
        </p:txBody>
      </p:sp>
      <p:sp>
        <p:nvSpPr>
          <p:cNvPr id="7" name="Text 5"/>
          <p:cNvSpPr/>
          <p:nvPr/>
        </p:nvSpPr>
        <p:spPr>
          <a:xfrm>
            <a:off x="640080" y="2496312"/>
            <a:ext cx="3246120" cy="685800"/>
          </a:xfrm>
          <a:prstGeom prst="rect">
            <a:avLst/>
          </a:prstGeom>
          <a:noFill/>
          <a:ln/>
        </p:spPr>
        <p:txBody>
          <a:bodyPr wrap="square"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$3,445</a:t>
            </a:r>
            <a:endParaRPr lang="en-US" sz="3200" dirty="0"/>
          </a:p>
        </p:txBody>
      </p:sp>
      <p:sp>
        <p:nvSpPr>
          <p:cNvPr id="8" name="Text 6"/>
          <p:cNvSpPr/>
          <p:nvPr/>
        </p:nvSpPr>
        <p:spPr>
          <a:xfrm>
            <a:off x="640080" y="3154680"/>
            <a:ext cx="3246120" cy="274320"/>
          </a:xfrm>
          <a:prstGeom prst="rect">
            <a:avLst/>
          </a:prstGeom>
          <a:noFill/>
          <a:ln/>
        </p:spPr>
        <p:txBody>
          <a:bodyPr wrap="square" rtlCol="0" anchor="ctr"/>
          <a:lstStyle/>
          <a:p>
            <a:pPr algn="ctr" indent="0" marL="0">
              <a:buNone/>
            </a:pPr>
            <a:r>
              <a:rPr lang="en-US" sz="1100" dirty="0">
                <a:solidFill>
                  <a:srgbClr val="8B9AB5"/>
                </a:solidFill>
                <a:latin typeface="Arial" pitchFamily="34" charset="0"/>
                <a:ea typeface="Arial" pitchFamily="34" charset="-122"/>
                <a:cs typeface="Arial" pitchFamily="34" charset="-120"/>
              </a:rPr>
              <a:t>per year</a:t>
            </a:r>
            <a:endParaRPr lang="en-US" sz="1100" dirty="0"/>
          </a:p>
        </p:txBody>
      </p:sp>
      <p:sp>
        <p:nvSpPr>
          <p:cNvPr id="9" name="Text 7"/>
          <p:cNvSpPr/>
          <p:nvPr/>
        </p:nvSpPr>
        <p:spPr>
          <a:xfrm>
            <a:off x="640080" y="3520440"/>
            <a:ext cx="3246120" cy="320040"/>
          </a:xfrm>
          <a:prstGeom prst="rect">
            <a:avLst/>
          </a:prstGeom>
          <a:noFill/>
          <a:ln/>
        </p:spPr>
        <p:txBody>
          <a:bodyPr wrap="square" rtlCol="0" anchor="ctr"/>
          <a:lstStyle/>
          <a:p>
            <a:pPr algn="ctr" indent="0" marL="0">
              <a:buNone/>
            </a:pPr>
            <a:r>
              <a:rPr lang="en-US" sz="1200" dirty="0">
                <a:solidFill>
                  <a:srgbClr val="C9D2E0"/>
                </a:solidFill>
                <a:latin typeface="Arial" pitchFamily="34" charset="0"/>
                <a:ea typeface="Arial" pitchFamily="34" charset="-122"/>
                <a:cs typeface="Arial" pitchFamily="34" charset="-120"/>
              </a:rPr>
              <a:t>Payback: 4.4 years</a:t>
            </a:r>
            <a:endParaRPr lang="en-US" sz="1200" dirty="0"/>
          </a:p>
        </p:txBody>
      </p:sp>
      <p:sp>
        <p:nvSpPr>
          <p:cNvPr id="10" name="Shape 8"/>
          <p:cNvSpPr/>
          <p:nvPr/>
        </p:nvSpPr>
        <p:spPr>
          <a:xfrm>
            <a:off x="4160520" y="1691640"/>
            <a:ext cx="3246120" cy="2286000"/>
          </a:xfrm>
          <a:prstGeom prst="roundRect">
            <a:avLst>
              <a:gd name="adj" fmla="val 4000"/>
            </a:avLst>
          </a:prstGeom>
          <a:solidFill>
            <a:srgbClr val="E8A33D"/>
          </a:solidFill>
          <a:ln/>
        </p:spPr>
      </p:sp>
      <p:sp>
        <p:nvSpPr>
          <p:cNvPr id="11" name="Text 9"/>
          <p:cNvSpPr/>
          <p:nvPr/>
        </p:nvSpPr>
        <p:spPr>
          <a:xfrm>
            <a:off x="4160520" y="1874520"/>
            <a:ext cx="3246120" cy="274320"/>
          </a:xfrm>
          <a:prstGeom prst="rect">
            <a:avLst/>
          </a:prstGeom>
          <a:noFill/>
          <a:ln/>
        </p:spPr>
        <p:txBody>
          <a:bodyPr wrap="square" rtlCol="0" anchor="ctr"/>
          <a:lstStyle/>
          <a:p>
            <a:pPr algn="ctr" indent="0" marL="0">
              <a:buNone/>
            </a:pPr>
            <a:r>
              <a:rPr lang="en-US" sz="1150" b="1" spc="100" kern="0" dirty="0">
                <a:solidFill>
                  <a:srgbClr val="12243F"/>
                </a:solidFill>
                <a:latin typeface="Arial" pitchFamily="34" charset="0"/>
                <a:ea typeface="Arial" pitchFamily="34" charset="-122"/>
                <a:cs typeface="Arial" pitchFamily="34" charset="-120"/>
              </a:rPr>
              <a:t>REALISTIC</a:t>
            </a:r>
            <a:endParaRPr lang="en-US" sz="1150" dirty="0"/>
          </a:p>
        </p:txBody>
      </p:sp>
      <p:sp>
        <p:nvSpPr>
          <p:cNvPr id="12" name="Text 10"/>
          <p:cNvSpPr/>
          <p:nvPr/>
        </p:nvSpPr>
        <p:spPr>
          <a:xfrm>
            <a:off x="4160520" y="2167128"/>
            <a:ext cx="3246120" cy="320040"/>
          </a:xfrm>
          <a:prstGeom prst="rect">
            <a:avLst/>
          </a:prstGeom>
          <a:noFill/>
          <a:ln/>
        </p:spPr>
        <p:txBody>
          <a:bodyPr wrap="square" rtlCol="0" anchor="ctr"/>
          <a:lstStyle/>
          <a:p>
            <a:pPr algn="ctr" indent="0" marL="0">
              <a:buNone/>
            </a:pPr>
            <a:r>
              <a:rPr lang="en-US" sz="1300" dirty="0">
                <a:solidFill>
                  <a:srgbClr val="12243F"/>
                </a:solidFill>
                <a:latin typeface="Arial" pitchFamily="34" charset="0"/>
                <a:ea typeface="Arial" pitchFamily="34" charset="-122"/>
                <a:cs typeface="Arial" pitchFamily="34" charset="-120"/>
              </a:rPr>
              <a:t>20% savings (BAS)</a:t>
            </a:r>
            <a:endParaRPr lang="en-US" sz="1300" dirty="0"/>
          </a:p>
        </p:txBody>
      </p:sp>
      <p:sp>
        <p:nvSpPr>
          <p:cNvPr id="13" name="Text 11"/>
          <p:cNvSpPr/>
          <p:nvPr/>
        </p:nvSpPr>
        <p:spPr>
          <a:xfrm>
            <a:off x="4160520" y="2496312"/>
            <a:ext cx="3246120" cy="685800"/>
          </a:xfrm>
          <a:prstGeom prst="rect">
            <a:avLst/>
          </a:prstGeom>
          <a:noFill/>
          <a:ln/>
        </p:spPr>
        <p:txBody>
          <a:bodyPr wrap="square" rtlCol="0" anchor="ctr"/>
          <a:lstStyle/>
          <a:p>
            <a:pPr algn="ctr" indent="0" marL="0">
              <a:buNone/>
            </a:pPr>
            <a:r>
              <a:rPr lang="en-US" sz="3200" b="1" dirty="0">
                <a:solidFill>
                  <a:srgbClr val="12243F"/>
                </a:solidFill>
                <a:latin typeface="Cambria" pitchFamily="34" charset="0"/>
                <a:ea typeface="Cambria" pitchFamily="34" charset="-122"/>
                <a:cs typeface="Cambria" pitchFamily="34" charset="-120"/>
              </a:rPr>
              <a:t>$4,593</a:t>
            </a:r>
            <a:endParaRPr lang="en-US" sz="3200" dirty="0"/>
          </a:p>
        </p:txBody>
      </p:sp>
      <p:sp>
        <p:nvSpPr>
          <p:cNvPr id="14" name="Text 12"/>
          <p:cNvSpPr/>
          <p:nvPr/>
        </p:nvSpPr>
        <p:spPr>
          <a:xfrm>
            <a:off x="4160520" y="3154680"/>
            <a:ext cx="3246120" cy="274320"/>
          </a:xfrm>
          <a:prstGeom prst="rect">
            <a:avLst/>
          </a:prstGeom>
          <a:noFill/>
          <a:ln/>
        </p:spPr>
        <p:txBody>
          <a:bodyPr wrap="square" rtlCol="0" anchor="ctr"/>
          <a:lstStyle/>
          <a:p>
            <a:pPr algn="ctr" indent="0" marL="0">
              <a:buNone/>
            </a:pPr>
            <a:r>
              <a:rPr lang="en-US" sz="1100" dirty="0">
                <a:solidFill>
                  <a:srgbClr val="5A4A1F"/>
                </a:solidFill>
                <a:latin typeface="Arial" pitchFamily="34" charset="0"/>
                <a:ea typeface="Arial" pitchFamily="34" charset="-122"/>
                <a:cs typeface="Arial" pitchFamily="34" charset="-120"/>
              </a:rPr>
              <a:t>per year</a:t>
            </a:r>
            <a:endParaRPr lang="en-US" sz="1100" dirty="0"/>
          </a:p>
        </p:txBody>
      </p:sp>
      <p:sp>
        <p:nvSpPr>
          <p:cNvPr id="15" name="Text 13"/>
          <p:cNvSpPr/>
          <p:nvPr/>
        </p:nvSpPr>
        <p:spPr>
          <a:xfrm>
            <a:off x="4160520" y="3520440"/>
            <a:ext cx="3246120" cy="320040"/>
          </a:xfrm>
          <a:prstGeom prst="rect">
            <a:avLst/>
          </a:prstGeom>
          <a:noFill/>
          <a:ln/>
        </p:spPr>
        <p:txBody>
          <a:bodyPr wrap="square" rtlCol="0" anchor="ctr"/>
          <a:lstStyle/>
          <a:p>
            <a:pPr algn="ctr" indent="0" marL="0">
              <a:buNone/>
            </a:pPr>
            <a:r>
              <a:rPr lang="en-US" sz="1200" b="1" dirty="0">
                <a:solidFill>
                  <a:srgbClr val="12243F"/>
                </a:solidFill>
                <a:latin typeface="Arial" pitchFamily="34" charset="0"/>
                <a:ea typeface="Arial" pitchFamily="34" charset="-122"/>
                <a:cs typeface="Arial" pitchFamily="34" charset="-120"/>
              </a:rPr>
              <a:t>Payback: 3.3 years</a:t>
            </a:r>
            <a:endParaRPr lang="en-US" sz="1200" dirty="0"/>
          </a:p>
        </p:txBody>
      </p:sp>
      <p:sp>
        <p:nvSpPr>
          <p:cNvPr id="16" name="Shape 14"/>
          <p:cNvSpPr/>
          <p:nvPr/>
        </p:nvSpPr>
        <p:spPr>
          <a:xfrm>
            <a:off x="7680960" y="1691640"/>
            <a:ext cx="3246120" cy="2286000"/>
          </a:xfrm>
          <a:prstGeom prst="roundRect">
            <a:avLst>
              <a:gd name="adj" fmla="val 4000"/>
            </a:avLst>
          </a:prstGeom>
          <a:solidFill>
            <a:srgbClr val="1B3358"/>
          </a:solidFill>
          <a:ln/>
        </p:spPr>
      </p:sp>
      <p:sp>
        <p:nvSpPr>
          <p:cNvPr id="17" name="Text 15"/>
          <p:cNvSpPr/>
          <p:nvPr/>
        </p:nvSpPr>
        <p:spPr>
          <a:xfrm>
            <a:off x="7680960" y="1874520"/>
            <a:ext cx="3246120" cy="274320"/>
          </a:xfrm>
          <a:prstGeom prst="rect">
            <a:avLst/>
          </a:prstGeom>
          <a:noFill/>
          <a:ln/>
        </p:spPr>
        <p:txBody>
          <a:bodyPr wrap="square" rtlCol="0" anchor="ctr"/>
          <a:lstStyle/>
          <a:p>
            <a:pPr algn="ctr" indent="0" marL="0">
              <a:buNone/>
            </a:pPr>
            <a:r>
              <a:rPr lang="en-US" sz="1150" b="1" spc="100" kern="0" dirty="0">
                <a:solidFill>
                  <a:srgbClr val="8B9AB5"/>
                </a:solidFill>
                <a:latin typeface="Arial" pitchFamily="34" charset="0"/>
                <a:ea typeface="Arial" pitchFamily="34" charset="-122"/>
                <a:cs typeface="Arial" pitchFamily="34" charset="-120"/>
              </a:rPr>
              <a:t>OPTIMISTIC</a:t>
            </a:r>
            <a:endParaRPr lang="en-US" sz="1150" dirty="0"/>
          </a:p>
        </p:txBody>
      </p:sp>
      <p:sp>
        <p:nvSpPr>
          <p:cNvPr id="18" name="Text 16"/>
          <p:cNvSpPr/>
          <p:nvPr/>
        </p:nvSpPr>
        <p:spPr>
          <a:xfrm>
            <a:off x="7680960" y="2167128"/>
            <a:ext cx="3246120" cy="320040"/>
          </a:xfrm>
          <a:prstGeom prst="rect">
            <a:avLst/>
          </a:prstGeom>
          <a:noFill/>
          <a:ln/>
        </p:spPr>
        <p:txBody>
          <a:bodyPr wrap="square" rtlCol="0" anchor="ctr"/>
          <a:lstStyle/>
          <a:p>
            <a:pPr algn="ctr" indent="0" marL="0">
              <a:buNone/>
            </a:pPr>
            <a:r>
              <a:rPr lang="en-US" sz="1300" dirty="0">
                <a:solidFill>
                  <a:srgbClr val="C9D2E0"/>
                </a:solidFill>
                <a:latin typeface="Arial" pitchFamily="34" charset="0"/>
                <a:ea typeface="Arial" pitchFamily="34" charset="-122"/>
                <a:cs typeface="Arial" pitchFamily="34" charset="-120"/>
              </a:rPr>
              <a:t>OPTIMISTIC</a:t>
            </a:r>
            <a:endParaRPr lang="en-US" sz="1300" dirty="0"/>
          </a:p>
        </p:txBody>
      </p:sp>
      <p:sp>
        <p:nvSpPr>
          <p:cNvPr id="19" name="Text 17"/>
          <p:cNvSpPr/>
          <p:nvPr/>
        </p:nvSpPr>
        <p:spPr>
          <a:xfrm>
            <a:off x="7680960" y="2496312"/>
            <a:ext cx="3246120" cy="685800"/>
          </a:xfrm>
          <a:prstGeom prst="rect">
            <a:avLst/>
          </a:prstGeom>
          <a:noFill/>
          <a:ln/>
        </p:spPr>
        <p:txBody>
          <a:bodyPr wrap="square"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$5,741</a:t>
            </a:r>
            <a:endParaRPr lang="en-US" sz="3200" dirty="0"/>
          </a:p>
        </p:txBody>
      </p:sp>
      <p:sp>
        <p:nvSpPr>
          <p:cNvPr id="20" name="Text 18"/>
          <p:cNvSpPr/>
          <p:nvPr/>
        </p:nvSpPr>
        <p:spPr>
          <a:xfrm>
            <a:off x="7680960" y="3154680"/>
            <a:ext cx="3246120" cy="274320"/>
          </a:xfrm>
          <a:prstGeom prst="rect">
            <a:avLst/>
          </a:prstGeom>
          <a:noFill/>
          <a:ln/>
        </p:spPr>
        <p:txBody>
          <a:bodyPr wrap="square" rtlCol="0" anchor="ctr"/>
          <a:lstStyle/>
          <a:p>
            <a:pPr algn="ctr" indent="0" marL="0">
              <a:buNone/>
            </a:pPr>
            <a:r>
              <a:rPr lang="en-US" sz="1100" dirty="0">
                <a:solidFill>
                  <a:srgbClr val="8B9AB5"/>
                </a:solidFill>
                <a:latin typeface="Arial" pitchFamily="34" charset="0"/>
                <a:ea typeface="Arial" pitchFamily="34" charset="-122"/>
                <a:cs typeface="Arial" pitchFamily="34" charset="-120"/>
              </a:rPr>
              <a:t>per year</a:t>
            </a:r>
            <a:endParaRPr lang="en-US" sz="1100" dirty="0"/>
          </a:p>
        </p:txBody>
      </p:sp>
      <p:sp>
        <p:nvSpPr>
          <p:cNvPr id="21" name="Text 19"/>
          <p:cNvSpPr/>
          <p:nvPr/>
        </p:nvSpPr>
        <p:spPr>
          <a:xfrm>
            <a:off x="7680960" y="3520440"/>
            <a:ext cx="3246120" cy="320040"/>
          </a:xfrm>
          <a:prstGeom prst="rect">
            <a:avLst/>
          </a:prstGeom>
          <a:noFill/>
          <a:ln/>
        </p:spPr>
        <p:txBody>
          <a:bodyPr wrap="square" rtlCol="0" anchor="ctr"/>
          <a:lstStyle/>
          <a:p>
            <a:pPr algn="ctr" indent="0" marL="0">
              <a:buNone/>
            </a:pPr>
            <a:r>
              <a:rPr lang="en-US" sz="1200" dirty="0">
                <a:solidFill>
                  <a:srgbClr val="C9D2E0"/>
                </a:solidFill>
                <a:latin typeface="Arial" pitchFamily="34" charset="0"/>
                <a:ea typeface="Arial" pitchFamily="34" charset="-122"/>
                <a:cs typeface="Arial" pitchFamily="34" charset="-120"/>
              </a:rPr>
              <a:t>Payback: 2.6 years</a:t>
            </a:r>
            <a:endParaRPr lang="en-US" sz="1200" dirty="0"/>
          </a:p>
        </p:txBody>
      </p:sp>
      <p:sp>
        <p:nvSpPr>
          <p:cNvPr id="22" name="Shape 20"/>
          <p:cNvSpPr/>
          <p:nvPr/>
        </p:nvSpPr>
        <p:spPr>
          <a:xfrm>
            <a:off x="640080" y="4251960"/>
            <a:ext cx="10881360" cy="1783080"/>
          </a:xfrm>
          <a:prstGeom prst="roundRect">
            <a:avLst>
              <a:gd name="adj" fmla="val 6154"/>
            </a:avLst>
          </a:prstGeom>
          <a:solidFill>
            <a:srgbClr val="1B3358"/>
          </a:solidFill>
          <a:ln/>
        </p:spPr>
      </p:sp>
      <p:pic>
        <p:nvPicPr>
          <p:cNvPr id="23" name="Image 0" descr="preencoded.png"/>
          <p:cNvPicPr>
            <a:picLocks noChangeAspect="1"/>
          </p:cNvPicPr>
          <p:nvPr/>
        </p:nvPicPr>
        <p:blipFill>
          <a:blip r:embed="rId1"/>
          <a:stretch>
            <a:fillRect/>
          </a:stretch>
        </p:blipFill>
        <p:spPr>
          <a:xfrm>
            <a:off x="914400" y="4572000"/>
            <a:ext cx="1005840" cy="1005840"/>
          </a:xfrm>
          <a:prstGeom prst="rect">
            <a:avLst/>
          </a:prstGeom>
        </p:spPr>
      </p:pic>
      <p:sp>
        <p:nvSpPr>
          <p:cNvPr id="24" name="Text 21"/>
          <p:cNvSpPr/>
          <p:nvPr/>
        </p:nvSpPr>
        <p:spPr>
          <a:xfrm>
            <a:off x="2148840" y="4572000"/>
            <a:ext cx="9052560" cy="41148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Beyond the yearly savings: this also raises what the building is worth</a:t>
            </a:r>
            <a:endParaRPr lang="en-US" sz="1700" dirty="0"/>
          </a:p>
        </p:txBody>
      </p:sp>
      <p:sp>
        <p:nvSpPr>
          <p:cNvPr id="25" name="Text 22"/>
          <p:cNvSpPr/>
          <p:nvPr/>
        </p:nvSpPr>
        <p:spPr>
          <a:xfrm>
            <a:off x="2148840" y="4956048"/>
            <a:ext cx="6400800" cy="914400"/>
          </a:xfrm>
          <a:prstGeom prst="rect">
            <a:avLst/>
          </a:prstGeom>
          <a:noFill/>
          <a:ln/>
        </p:spPr>
        <p:txBody>
          <a:bodyPr wrap="square" rtlCol="0" anchor="t"/>
          <a:lstStyle/>
          <a:p>
            <a:pPr indent="0" marL="0">
              <a:buNone/>
            </a:pPr>
            <a:r>
              <a:rPr lang="en-US" sz="1250" dirty="0">
                <a:solidFill>
                  <a:srgbClr val="C9D2E0"/>
                </a:solidFill>
                <a:latin typeface="Arial" pitchFamily="34" charset="0"/>
                <a:ea typeface="Arial" pitchFamily="34" charset="-122"/>
                <a:cs typeface="Arial" pitchFamily="34" charset="-120"/>
              </a:rPr>
              <a:t>BAS optimization on a 52,420 sq ft office creates $62,600-$104,400 in property value on a $15,000-$18,000 project cost. Payback in 3-4 years, then pure savings every year after. This building has shared AHUs and VAV boxes serving multiple zones - coordination across zones is only possible with BAS, not smart thermostats.</a:t>
            </a:r>
            <a:endParaRPr lang="en-US" sz="1250" dirty="0"/>
          </a:p>
        </p:txBody>
      </p:sp>
      <p:sp>
        <p:nvSpPr>
          <p:cNvPr id="26" name="Text 23"/>
          <p:cNvSpPr/>
          <p:nvPr/>
        </p:nvSpPr>
        <p:spPr>
          <a:xfrm>
            <a:off x="8778240" y="4892040"/>
            <a:ext cx="2560320" cy="685800"/>
          </a:xfrm>
          <a:prstGeom prst="rect">
            <a:avLst/>
          </a:prstGeom>
          <a:noFill/>
          <a:ln/>
        </p:spPr>
        <p:txBody>
          <a:bodyPr wrap="square" rtlCol="0" anchor="ctr"/>
          <a:lstStyle/>
          <a:p>
            <a:pPr algn="ctr" indent="0" marL="0">
              <a:buNone/>
            </a:pPr>
            <a:r>
              <a:rPr lang="en-US" sz="3000" b="1" dirty="0">
                <a:solidFill>
                  <a:srgbClr val="E8A33D"/>
                </a:solidFill>
                <a:latin typeface="Cambria" pitchFamily="34" charset="0"/>
                <a:ea typeface="Cambria" pitchFamily="34" charset="-122"/>
                <a:cs typeface="Cambria" pitchFamily="34" charset="-120"/>
              </a:rPr>
              <a:t>$62,600-$104,400</a:t>
            </a:r>
            <a:endParaRPr lang="en-US" sz="3000" dirty="0"/>
          </a:p>
        </p:txBody>
      </p:sp>
      <p:sp>
        <p:nvSpPr>
          <p:cNvPr id="27" name="Text 24"/>
          <p:cNvSpPr/>
          <p:nvPr/>
        </p:nvSpPr>
        <p:spPr>
          <a:xfrm>
            <a:off x="8778240" y="5532120"/>
            <a:ext cx="2560320" cy="320040"/>
          </a:xfrm>
          <a:prstGeom prst="rect">
            <a:avLst/>
          </a:prstGeom>
          <a:noFill/>
          <a:ln/>
        </p:spPr>
        <p:txBody>
          <a:bodyPr wrap="square" rtlCol="0" anchor="ctr"/>
          <a:lstStyle/>
          <a:p>
            <a:pPr algn="ctr" indent="0" marL="0">
              <a:buNone/>
            </a:pPr>
            <a:r>
              <a:rPr lang="en-US" sz="1100" i="1" dirty="0">
                <a:solidFill>
                  <a:srgbClr val="8B9AB5"/>
                </a:solidFill>
                <a:latin typeface="Arial" pitchFamily="34" charset="0"/>
                <a:ea typeface="Arial" pitchFamily="34" charset="-122"/>
                <a:cs typeface="Arial" pitchFamily="34" charset="-120"/>
              </a:rPr>
              <a:t>property value increase vs. $15,000-$18,000 project cost</a:t>
            </a:r>
            <a:endParaRPr lang="en-US" sz="1100" dirty="0"/>
          </a:p>
        </p:txBody>
      </p:sp>
      <p:sp>
        <p:nvSpPr>
          <p:cNvPr id="28" name="Text 25"/>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A6B85"/>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 Energy Optimization — Business Overview</dc:title>
  <dc:subject>PptxGenJS Presentation</dc:subject>
  <dc:creator>Sequence Controls Consulting</dc:creator>
  <cp:lastModifiedBy>Sequence Controls Consulting</cp:lastModifiedBy>
  <cp:revision>1</cp:revision>
  <dcterms:created xsi:type="dcterms:W3CDTF">2026-06-20T20:12:56Z</dcterms:created>
  <dcterms:modified xsi:type="dcterms:W3CDTF">2026-06-20T20:12:56Z</dcterms:modified>
</cp:coreProperties>
</file>